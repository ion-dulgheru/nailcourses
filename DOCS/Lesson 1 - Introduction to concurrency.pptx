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8" r:id="rId3"/>
    <p:sldId id="257" r:id="rId4"/>
    <p:sldId id="259" r:id="rId5"/>
    <p:sldId id="269" r:id="rId6"/>
    <p:sldId id="270" r:id="rId7"/>
    <p:sldId id="271" r:id="rId8"/>
    <p:sldId id="280" r:id="rId9"/>
    <p:sldId id="272" r:id="rId10"/>
    <p:sldId id="273" r:id="rId11"/>
    <p:sldId id="268" r:id="rId12"/>
    <p:sldId id="274" r:id="rId13"/>
    <p:sldId id="276" r:id="rId14"/>
    <p:sldId id="277" r:id="rId15"/>
    <p:sldId id="278" r:id="rId16"/>
    <p:sldId id="279" r:id="rId17"/>
    <p:sldId id="275" r:id="rId18"/>
    <p:sldId id="288" r:id="rId19"/>
    <p:sldId id="283" r:id="rId20"/>
    <p:sldId id="281" r:id="rId21"/>
    <p:sldId id="282" r:id="rId22"/>
    <p:sldId id="289" r:id="rId23"/>
    <p:sldId id="290" r:id="rId24"/>
    <p:sldId id="284" r:id="rId25"/>
    <p:sldId id="285" r:id="rId26"/>
    <p:sldId id="286" r:id="rId27"/>
    <p:sldId id="287" r:id="rId28"/>
    <p:sldId id="291"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F2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p:restoredTop sz="94610"/>
  </p:normalViewPr>
  <p:slideViewPr>
    <p:cSldViewPr snapToGrid="0" snapToObjects="1">
      <p:cViewPr varScale="1">
        <p:scale>
          <a:sx n="167" d="100"/>
          <a:sy n="167" d="100"/>
        </p:scale>
        <p:origin x="2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4011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Course line, lecture title, lecture number. Keep the title to one line if you can — two lines maximum.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Use one before every major part of the lecture so students know where they 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Three to four numbered columns. One short phrase each — do not write sentences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FA716-0508-A8F9-DCC3-526330A8C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CA756-1DBD-A4FE-385A-EF3AE92E8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B0FC7-D6CB-F018-0AEE-3600C8C97A8F}"/>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1A738FA3-4EFF-C13C-D9B6-318A682AE90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041079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8AF09-4DE8-8546-DF66-8BA511B8AC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DB5DD-9722-0B90-550C-86E09BC37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2EBEA-FF9A-4E5C-9219-EF393E764165}"/>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9858A8CE-8AFA-5EAC-07EE-EA036F6A204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201538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8C7F9-9C28-A0DA-F1E1-B2038478FE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CB34B2-D150-AE7D-5C09-6E0D1BA66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135D97-7012-25F5-05DE-E8D4BB4A8CBA}"/>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5B0E424A-4AB1-95FC-7CB9-80506E4561F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1055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61807-D12C-3C05-049E-29612901F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C956A-278A-1621-CABF-13C5048D29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03A6D4-7248-3465-1AC3-BF570E509956}"/>
              </a:ext>
            </a:extLst>
          </p:cNvPr>
          <p:cNvSpPr>
            <a:spLocks noGrp="1"/>
          </p:cNvSpPr>
          <p:nvPr>
            <p:ph type="body" idx="1"/>
          </p:nvPr>
        </p:nvSpPr>
        <p:spPr/>
        <p:txBody>
          <a:bodyPr/>
          <a:lstStyle/>
          <a:p>
            <a:r>
              <a:rPr lang="en-US" dirty="0"/>
              <a:t>Section divider. Use one before every major part of the lecture so students know where they are.</a:t>
            </a:r>
          </a:p>
        </p:txBody>
      </p:sp>
      <p:sp>
        <p:nvSpPr>
          <p:cNvPr id="4" name="Slide Number Placeholder 3">
            <a:extLst>
              <a:ext uri="{FF2B5EF4-FFF2-40B4-BE49-F238E27FC236}">
                <a16:creationId xmlns:a16="http://schemas.microsoft.com/office/drawing/2014/main" id="{2677D926-722F-C4FC-DD56-9CC8E0A7ED7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943645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E8F37-1C33-C784-E30C-C32BFFBB0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DD0650-B968-18D2-615E-56C950B95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C5662-C91F-1B20-55D8-BC26E5F0BDD9}"/>
              </a:ext>
            </a:extLst>
          </p:cNvPr>
          <p:cNvSpPr>
            <a:spLocks noGrp="1"/>
          </p:cNvSpPr>
          <p:nvPr>
            <p:ph type="body" idx="1"/>
          </p:nvPr>
        </p:nvSpPr>
        <p:spPr/>
        <p:txBody>
          <a:bodyPr/>
          <a:lstStyle/>
          <a:p>
            <a:r>
              <a:rPr lang="en-US" dirty="0"/>
              <a:t>Section divider. Use one before every major part of the lecture so students know where they are.</a:t>
            </a:r>
          </a:p>
        </p:txBody>
      </p:sp>
      <p:sp>
        <p:nvSpPr>
          <p:cNvPr id="4" name="Slide Number Placeholder 3">
            <a:extLst>
              <a:ext uri="{FF2B5EF4-FFF2-40B4-BE49-F238E27FC236}">
                <a16:creationId xmlns:a16="http://schemas.microsoft.com/office/drawing/2014/main" id="{0D9E6067-2D89-9C40-3EA7-5C043206BB14}"/>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1836733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E6CCA-AA4E-8903-5FFB-52008939F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2FFEC-ECE7-196E-1EC5-FD1023D9C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D135F-4CA8-C886-E791-C154C8E0D2DB}"/>
              </a:ext>
            </a:extLst>
          </p:cNvPr>
          <p:cNvSpPr>
            <a:spLocks noGrp="1"/>
          </p:cNvSpPr>
          <p:nvPr>
            <p:ph type="body" idx="1"/>
          </p:nvPr>
        </p:nvSpPr>
        <p:spPr/>
        <p:txBody>
          <a:bodyPr/>
          <a:lstStyle/>
          <a:p>
            <a:r>
              <a:rPr lang="en-US" dirty="0"/>
              <a:t>Section divider. Use one before every major part of the lecture so students know where they are.</a:t>
            </a:r>
          </a:p>
        </p:txBody>
      </p:sp>
      <p:sp>
        <p:nvSpPr>
          <p:cNvPr id="4" name="Slide Number Placeholder 3">
            <a:extLst>
              <a:ext uri="{FF2B5EF4-FFF2-40B4-BE49-F238E27FC236}">
                <a16:creationId xmlns:a16="http://schemas.microsoft.com/office/drawing/2014/main" id="{1C8DE1D4-A56C-473F-AEAE-C3358E6579C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262574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D4D65-1407-3D07-B5FE-17D57F6F5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86B5B-0B35-9E87-A949-A5D001E8C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593EC-AA4E-3D09-C9A4-0E9B5AA5D6B9}"/>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F9EF038D-3FF2-3C4B-2703-0ACDE336BDD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33406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722A1-8567-5BD7-DA0F-FC77656BD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24F86-4649-735C-99F8-DD0D97448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FA6A6C-5F7F-A0E7-C928-A600B46D11AA}"/>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962536BC-46F4-6FDA-120E-F690C701D82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53013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43D7-2E66-8EF9-C0B9-59CDE6164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8720BD-A8FF-E716-1827-917D14DEB1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490D6-2638-D4BA-8E62-50E556F89064}"/>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DE3C33FF-7305-FE85-5C82-251E9C62681F}"/>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37874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7145A-7CB1-5656-18F5-D998081D2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6E280-32C7-DF26-7487-4978384F8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AD7EA1-44AE-F210-764C-FB0C1ECDDEB1}"/>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531D12C1-65C3-C4C4-6134-F2556D80981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39501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48B98-C95F-C35F-E069-725D3D96B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4528E-A5EF-83E5-3CF5-ACDB9FF86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47BCB7-EC18-EC9F-5810-A355B3C7B840}"/>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2F441785-786E-EAA4-5083-9EB65E904B5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269322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C00E9-CC90-D092-68E0-038B494A36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87342-2BBC-E302-B358-BDF5D8071B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347B8-F22D-F44A-F492-73B34CC86D12}"/>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A1D17D37-7EC8-8B7A-7D6B-7A232C5171F5}"/>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645458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7A997-FCD0-FB5A-33DC-790BE8698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1EFD7-1957-0EC4-B3C7-8A07B4449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5B79D-AA61-D7C3-49A5-CFD3D59CD3FE}"/>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24B29700-1C23-EC5E-03AC-AE0E9D47EAA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1200828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78B59-F36A-838F-09DF-FAEC8E973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9C127-48AE-C3DC-1712-792000D5B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9B6BCB-0781-6D94-D0B6-FAAADAEE0FA7}"/>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134C5003-0EA0-12DF-4983-C82E9F1F6DC5}"/>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254194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2DA20-FF5F-CDCA-64F3-61139A2571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964CA7-A2D7-4EA2-1483-48CF22DA3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49EB7-B08D-7CC5-F450-82D1FD4398CD}"/>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7AFCA1F1-0407-5549-E746-4910F4387DEE}"/>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22647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4DCEA-A49C-3ADF-1527-820F06AD9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E0E341-E8A1-4763-6543-6540E54A6E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569C38-FF87-744B-FF65-FB3B6B3486D1}"/>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C29F6C77-ECCE-AE68-B132-7B38B0CFFEC4}"/>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134636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B6E75-7A06-A75B-D358-F901EB81D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9D616-FEC6-2C5A-6A22-961B7C9B2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A469A2-9683-4C72-10F9-CEB331709767}"/>
              </a:ext>
            </a:extLst>
          </p:cNvPr>
          <p:cNvSpPr>
            <a:spLocks noGrp="1"/>
          </p:cNvSpPr>
          <p:nvPr>
            <p:ph type="body" idx="1"/>
          </p:nvPr>
        </p:nvSpPr>
        <p:spPr/>
        <p:txBody>
          <a:bodyPr/>
          <a:lstStyle/>
          <a:p>
            <a:r>
              <a:rPr lang="en-US" dirty="0"/>
              <a:t>Standard content slide: explanation left, diagram or screenshot right. Replace the placeholder box with a real image. Keep the left column under ~60 words.</a:t>
            </a:r>
          </a:p>
        </p:txBody>
      </p:sp>
      <p:sp>
        <p:nvSpPr>
          <p:cNvPr id="4" name="Slide Number Placeholder 3">
            <a:extLst>
              <a:ext uri="{FF2B5EF4-FFF2-40B4-BE49-F238E27FC236}">
                <a16:creationId xmlns:a16="http://schemas.microsoft.com/office/drawing/2014/main" id="{4D2E1FAA-6E29-28AF-FC59-FB21E453E851}"/>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921591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sp>
      <p:sp>
        <p:nvSpPr>
          <p:cNvPr id="16" name="Shape 13"/>
          <p:cNvSpPr/>
          <p:nvPr/>
        </p:nvSpPr>
        <p:spPr>
          <a:xfrm rot="5400000">
            <a:off x="1051560" y="256032"/>
            <a:ext cx="182880" cy="182880"/>
          </a:xfrm>
          <a:prstGeom prst="triangle">
            <a:avLst/>
          </a:prstGeom>
          <a:solidFill>
            <a:srgbClr val="D9F201"/>
          </a:solidFill>
          <a:ln w="12700">
            <a:solidFill>
              <a:srgbClr val="D9F201"/>
            </a:solidFill>
            <a:prstDash val="solid"/>
          </a:ln>
        </p:spPr>
      </p:sp>
      <p:sp>
        <p:nvSpPr>
          <p:cNvPr id="17" name="Shape 14"/>
          <p:cNvSpPr/>
          <p:nvPr/>
        </p:nvSpPr>
        <p:spPr>
          <a:xfrm rot="5400000">
            <a:off x="1316736" y="256032"/>
            <a:ext cx="182880" cy="182880"/>
          </a:xfrm>
          <a:prstGeom prst="triangle">
            <a:avLst/>
          </a:prstGeom>
          <a:solidFill>
            <a:srgbClr val="D9F201"/>
          </a:solidFill>
          <a:ln w="12700">
            <a:solidFill>
              <a:srgbClr val="D9F201"/>
            </a:solidFill>
            <a:prstDash val="solid"/>
          </a:ln>
        </p:spPr>
      </p:sp>
      <p:sp>
        <p:nvSpPr>
          <p:cNvPr id="18" name="Shape 15"/>
          <p:cNvSpPr/>
          <p:nvPr/>
        </p:nvSpPr>
        <p:spPr>
          <a:xfrm rot="5400000">
            <a:off x="1581912" y="256032"/>
            <a:ext cx="182880" cy="182880"/>
          </a:xfrm>
          <a:prstGeom prst="triangle">
            <a:avLst/>
          </a:prstGeom>
          <a:solidFill>
            <a:srgbClr val="D9F201"/>
          </a:solidFill>
          <a:ln w="12700">
            <a:solidFill>
              <a:srgbClr val="D9F201"/>
            </a:solidFill>
            <a:prstDash val="solid"/>
          </a:ln>
        </p:spPr>
      </p:sp>
      <p:sp>
        <p:nvSpPr>
          <p:cNvPr id="23" name="Shape 20"/>
          <p:cNvSpPr/>
          <p:nvPr/>
        </p:nvSpPr>
        <p:spPr>
          <a:xfrm>
            <a:off x="8366760" y="548640"/>
            <a:ext cx="50292" cy="50292"/>
          </a:xfrm>
          <a:prstGeom prst="ellipse">
            <a:avLst/>
          </a:prstGeom>
          <a:solidFill>
            <a:srgbClr val="D9F201"/>
          </a:solidFill>
          <a:ln w="12700">
            <a:solidFill>
              <a:srgbClr val="D9F201"/>
            </a:solidFill>
            <a:prstDash val="solid"/>
          </a:ln>
        </p:spPr>
      </p:sp>
      <p:sp>
        <p:nvSpPr>
          <p:cNvPr id="24" name="Shape 21"/>
          <p:cNvSpPr/>
          <p:nvPr/>
        </p:nvSpPr>
        <p:spPr>
          <a:xfrm>
            <a:off x="8499348" y="548640"/>
            <a:ext cx="50292" cy="50292"/>
          </a:xfrm>
          <a:prstGeom prst="ellipse">
            <a:avLst/>
          </a:prstGeom>
          <a:solidFill>
            <a:srgbClr val="D9F201"/>
          </a:solidFill>
          <a:ln w="12700">
            <a:solidFill>
              <a:srgbClr val="D9F201"/>
            </a:solidFill>
            <a:prstDash val="solid"/>
          </a:ln>
        </p:spPr>
      </p:sp>
      <p:sp>
        <p:nvSpPr>
          <p:cNvPr id="25" name="Shape 22"/>
          <p:cNvSpPr/>
          <p:nvPr/>
        </p:nvSpPr>
        <p:spPr>
          <a:xfrm>
            <a:off x="8631936" y="548640"/>
            <a:ext cx="50292" cy="50292"/>
          </a:xfrm>
          <a:prstGeom prst="ellipse">
            <a:avLst/>
          </a:prstGeom>
          <a:solidFill>
            <a:srgbClr val="D9F201"/>
          </a:solidFill>
          <a:ln w="12700">
            <a:solidFill>
              <a:srgbClr val="D9F201"/>
            </a:solidFill>
            <a:prstDash val="solid"/>
          </a:ln>
        </p:spPr>
      </p:sp>
      <p:sp>
        <p:nvSpPr>
          <p:cNvPr id="26" name="Shape 23"/>
          <p:cNvSpPr/>
          <p:nvPr/>
        </p:nvSpPr>
        <p:spPr>
          <a:xfrm>
            <a:off x="8366760" y="681228"/>
            <a:ext cx="50292" cy="50292"/>
          </a:xfrm>
          <a:prstGeom prst="ellipse">
            <a:avLst/>
          </a:prstGeom>
          <a:solidFill>
            <a:srgbClr val="D9F201"/>
          </a:solidFill>
          <a:ln w="12700">
            <a:solidFill>
              <a:srgbClr val="D9F201"/>
            </a:solidFill>
            <a:prstDash val="solid"/>
          </a:ln>
        </p:spPr>
      </p:sp>
      <p:sp>
        <p:nvSpPr>
          <p:cNvPr id="27" name="Shape 24"/>
          <p:cNvSpPr/>
          <p:nvPr/>
        </p:nvSpPr>
        <p:spPr>
          <a:xfrm>
            <a:off x="8499348" y="681228"/>
            <a:ext cx="50292" cy="50292"/>
          </a:xfrm>
          <a:prstGeom prst="ellipse">
            <a:avLst/>
          </a:prstGeom>
          <a:solidFill>
            <a:srgbClr val="D9F201"/>
          </a:solidFill>
          <a:ln w="12700">
            <a:solidFill>
              <a:srgbClr val="D9F201"/>
            </a:solidFill>
            <a:prstDash val="solid"/>
          </a:ln>
        </p:spPr>
      </p:sp>
      <p:sp>
        <p:nvSpPr>
          <p:cNvPr id="28" name="Shape 25"/>
          <p:cNvSpPr/>
          <p:nvPr/>
        </p:nvSpPr>
        <p:spPr>
          <a:xfrm>
            <a:off x="8631936" y="681228"/>
            <a:ext cx="50292" cy="50292"/>
          </a:xfrm>
          <a:prstGeom prst="ellipse">
            <a:avLst/>
          </a:prstGeom>
          <a:solidFill>
            <a:srgbClr val="D9F201"/>
          </a:solidFill>
          <a:ln w="12700">
            <a:solidFill>
              <a:srgbClr val="D9F201"/>
            </a:solidFill>
            <a:prstDash val="solid"/>
          </a:ln>
        </p:spPr>
      </p:sp>
      <p:sp>
        <p:nvSpPr>
          <p:cNvPr id="29" name="Shape 26"/>
          <p:cNvSpPr/>
          <p:nvPr/>
        </p:nvSpPr>
        <p:spPr>
          <a:xfrm>
            <a:off x="8366760" y="813816"/>
            <a:ext cx="50292" cy="50292"/>
          </a:xfrm>
          <a:prstGeom prst="ellipse">
            <a:avLst/>
          </a:prstGeom>
          <a:solidFill>
            <a:srgbClr val="D9F201"/>
          </a:solidFill>
          <a:ln w="12700">
            <a:solidFill>
              <a:srgbClr val="D9F201"/>
            </a:solidFill>
            <a:prstDash val="solid"/>
          </a:ln>
        </p:spPr>
      </p:sp>
      <p:sp>
        <p:nvSpPr>
          <p:cNvPr id="30" name="Shape 27"/>
          <p:cNvSpPr/>
          <p:nvPr/>
        </p:nvSpPr>
        <p:spPr>
          <a:xfrm>
            <a:off x="8499348" y="813816"/>
            <a:ext cx="50292" cy="50292"/>
          </a:xfrm>
          <a:prstGeom prst="ellipse">
            <a:avLst/>
          </a:prstGeom>
          <a:solidFill>
            <a:srgbClr val="D9F201"/>
          </a:solidFill>
          <a:ln w="12700">
            <a:solidFill>
              <a:srgbClr val="D9F201"/>
            </a:solidFill>
            <a:prstDash val="solid"/>
          </a:ln>
        </p:spPr>
      </p:sp>
      <p:sp>
        <p:nvSpPr>
          <p:cNvPr id="31" name="Shape 28"/>
          <p:cNvSpPr/>
          <p:nvPr/>
        </p:nvSpPr>
        <p:spPr>
          <a:xfrm>
            <a:off x="8631936" y="813816"/>
            <a:ext cx="50292" cy="50292"/>
          </a:xfrm>
          <a:prstGeom prst="ellipse">
            <a:avLst/>
          </a:prstGeom>
          <a:solidFill>
            <a:srgbClr val="D9F201"/>
          </a:solidFill>
          <a:ln w="12700">
            <a:solidFill>
              <a:srgbClr val="D9F201"/>
            </a:solidFill>
            <a:prstDash val="solid"/>
          </a:ln>
        </p:spPr>
      </p:sp>
      <p:sp>
        <p:nvSpPr>
          <p:cNvPr id="32" name="Shape 29"/>
          <p:cNvSpPr/>
          <p:nvPr/>
        </p:nvSpPr>
        <p:spPr>
          <a:xfrm>
            <a:off x="8366760" y="946404"/>
            <a:ext cx="50292" cy="50292"/>
          </a:xfrm>
          <a:prstGeom prst="ellipse">
            <a:avLst/>
          </a:prstGeom>
          <a:solidFill>
            <a:srgbClr val="D9F201"/>
          </a:solidFill>
          <a:ln w="12700">
            <a:solidFill>
              <a:srgbClr val="D9F201"/>
            </a:solidFill>
            <a:prstDash val="solid"/>
          </a:ln>
        </p:spPr>
      </p:sp>
      <p:sp>
        <p:nvSpPr>
          <p:cNvPr id="33" name="Shape 30"/>
          <p:cNvSpPr/>
          <p:nvPr/>
        </p:nvSpPr>
        <p:spPr>
          <a:xfrm>
            <a:off x="8499348" y="946404"/>
            <a:ext cx="50292" cy="50292"/>
          </a:xfrm>
          <a:prstGeom prst="ellipse">
            <a:avLst/>
          </a:prstGeom>
          <a:solidFill>
            <a:srgbClr val="D9F201"/>
          </a:solidFill>
          <a:ln w="12700">
            <a:solidFill>
              <a:srgbClr val="D9F201"/>
            </a:solidFill>
            <a:prstDash val="solid"/>
          </a:ln>
        </p:spPr>
      </p:sp>
      <p:sp>
        <p:nvSpPr>
          <p:cNvPr id="34" name="Shape 31"/>
          <p:cNvSpPr/>
          <p:nvPr/>
        </p:nvSpPr>
        <p:spPr>
          <a:xfrm>
            <a:off x="8631936" y="946404"/>
            <a:ext cx="50292" cy="50292"/>
          </a:xfrm>
          <a:prstGeom prst="ellipse">
            <a:avLst/>
          </a:prstGeom>
          <a:solidFill>
            <a:srgbClr val="D9F201"/>
          </a:solidFill>
          <a:ln w="12700">
            <a:solidFill>
              <a:srgbClr val="D9F201"/>
            </a:solidFill>
            <a:prstDash val="solid"/>
          </a:ln>
        </p:spPr>
      </p:sp>
      <p:sp>
        <p:nvSpPr>
          <p:cNvPr id="35" name="Shape 32"/>
          <p:cNvSpPr/>
          <p:nvPr/>
        </p:nvSpPr>
        <p:spPr>
          <a:xfrm>
            <a:off x="8366760" y="1078992"/>
            <a:ext cx="50292" cy="50292"/>
          </a:xfrm>
          <a:prstGeom prst="ellipse">
            <a:avLst/>
          </a:prstGeom>
          <a:solidFill>
            <a:srgbClr val="D9F201"/>
          </a:solidFill>
          <a:ln w="12700">
            <a:solidFill>
              <a:srgbClr val="D9F201"/>
            </a:solidFill>
            <a:prstDash val="solid"/>
          </a:ln>
        </p:spPr>
      </p:sp>
      <p:sp>
        <p:nvSpPr>
          <p:cNvPr id="36" name="Shape 33"/>
          <p:cNvSpPr/>
          <p:nvPr/>
        </p:nvSpPr>
        <p:spPr>
          <a:xfrm>
            <a:off x="8499348" y="1078992"/>
            <a:ext cx="50292" cy="50292"/>
          </a:xfrm>
          <a:prstGeom prst="ellipse">
            <a:avLst/>
          </a:prstGeom>
          <a:solidFill>
            <a:srgbClr val="D9F201"/>
          </a:solidFill>
          <a:ln w="12700">
            <a:solidFill>
              <a:srgbClr val="D9F201"/>
            </a:solidFill>
            <a:prstDash val="solid"/>
          </a:ln>
        </p:spPr>
      </p:sp>
      <p:sp>
        <p:nvSpPr>
          <p:cNvPr id="37" name="Shape 34"/>
          <p:cNvSpPr/>
          <p:nvPr/>
        </p:nvSpPr>
        <p:spPr>
          <a:xfrm>
            <a:off x="8631936" y="1078992"/>
            <a:ext cx="50292" cy="50292"/>
          </a:xfrm>
          <a:prstGeom prst="ellipse">
            <a:avLst/>
          </a:prstGeom>
          <a:solidFill>
            <a:srgbClr val="D9F201"/>
          </a:solidFill>
          <a:ln w="12700">
            <a:solidFill>
              <a:srgbClr val="D9F201"/>
            </a:solidFill>
            <a:prstDash val="solid"/>
          </a:ln>
        </p:spPr>
      </p:sp>
      <p:sp>
        <p:nvSpPr>
          <p:cNvPr id="38" name="Shape 35"/>
          <p:cNvSpPr/>
          <p:nvPr/>
        </p:nvSpPr>
        <p:spPr>
          <a:xfrm rot="10800000">
            <a:off x="8275320" y="4297680"/>
            <a:ext cx="365760" cy="365760"/>
          </a:xfrm>
          <a:prstGeom prst="triangle">
            <a:avLst/>
          </a:prstGeom>
          <a:solidFill>
            <a:srgbClr val="D9F201"/>
          </a:solidFill>
          <a:ln w="12700">
            <a:solidFill>
              <a:srgbClr val="D9F201"/>
            </a:solidFill>
            <a:prstDash val="solid"/>
          </a:ln>
        </p:spPr>
      </p:sp>
      <p:sp>
        <p:nvSpPr>
          <p:cNvPr id="39" name="Text 36"/>
          <p:cNvSpPr txBox="1"/>
          <p:nvPr/>
        </p:nvSpPr>
        <p:spPr>
          <a:xfrm>
            <a:off x="566928" y="1481328"/>
            <a:ext cx="7772400" cy="274320"/>
          </a:xfrm>
          <a:prstGeom prst="rect">
            <a:avLst/>
          </a:prstGeom>
          <a:noFill/>
          <a:ln/>
        </p:spPr>
        <p:txBody>
          <a:bodyPr wrap="square" lIns="0" tIns="0" rIns="0" bIns="0" rtlCol="0" anchor="ctr"/>
          <a:lstStyle/>
          <a:p>
            <a:pPr marL="0" indent="0">
              <a:buNone/>
            </a:pPr>
            <a:r>
              <a:rPr lang="en-US" sz="1200" b="1" kern="0" spc="300" dirty="0">
                <a:solidFill>
                  <a:srgbClr val="D9F201"/>
                </a:solidFill>
                <a:latin typeface="Arial" pitchFamily="34" charset="0"/>
                <a:ea typeface="Arial" pitchFamily="34" charset="-122"/>
                <a:cs typeface="Arial" pitchFamily="34" charset="-120"/>
              </a:rPr>
              <a:t>NETWORK PROGRAMMING · UTM</a:t>
            </a:r>
            <a:endParaRPr lang="en-US" sz="1200" dirty="0"/>
          </a:p>
        </p:txBody>
      </p:sp>
      <p:sp>
        <p:nvSpPr>
          <p:cNvPr id="40" name="Text 37"/>
          <p:cNvSpPr txBox="1"/>
          <p:nvPr/>
        </p:nvSpPr>
        <p:spPr>
          <a:xfrm>
            <a:off x="566928" y="1828800"/>
            <a:ext cx="7498080" cy="137160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Arial" pitchFamily="34" charset="0"/>
                <a:ea typeface="Arial" pitchFamily="34" charset="-122"/>
                <a:cs typeface="Arial" pitchFamily="34" charset="-120"/>
              </a:rPr>
              <a:t>Concurrent programming</a:t>
            </a:r>
            <a:endParaRPr lang="en-US" sz="4400" dirty="0"/>
          </a:p>
          <a:p>
            <a:pPr marL="0" indent="0">
              <a:lnSpc>
                <a:spcPts val="4600"/>
              </a:lnSpc>
              <a:buNone/>
            </a:pPr>
            <a:r>
              <a:rPr lang="en-US" sz="4400" b="1" dirty="0">
                <a:solidFill>
                  <a:srgbClr val="FFFFFF"/>
                </a:solidFill>
                <a:latin typeface="Arial" pitchFamily="34" charset="0"/>
                <a:ea typeface="Arial" pitchFamily="34" charset="-122"/>
                <a:cs typeface="Arial" pitchFamily="34" charset="-120"/>
              </a:rPr>
              <a:t>and multithreading</a:t>
            </a:r>
            <a:endParaRPr lang="en-US" sz="4400" dirty="0"/>
          </a:p>
        </p:txBody>
      </p:sp>
      <p:sp>
        <p:nvSpPr>
          <p:cNvPr id="41" name="Shape 38"/>
          <p:cNvSpPr/>
          <p:nvPr/>
        </p:nvSpPr>
        <p:spPr>
          <a:xfrm>
            <a:off x="566928" y="3310128"/>
            <a:ext cx="1005840" cy="25603"/>
          </a:xfrm>
          <a:prstGeom prst="rect">
            <a:avLst/>
          </a:prstGeom>
          <a:solidFill>
            <a:srgbClr val="D9F201"/>
          </a:solidFill>
          <a:ln w="12700">
            <a:solidFill>
              <a:srgbClr val="D9F201"/>
            </a:solidFill>
            <a:prstDash val="solid"/>
          </a:ln>
        </p:spPr>
      </p:sp>
      <p:sp>
        <p:nvSpPr>
          <p:cNvPr id="42" name="Text 39"/>
          <p:cNvSpPr txBox="1"/>
          <p:nvPr/>
        </p:nvSpPr>
        <p:spPr>
          <a:xfrm>
            <a:off x="566928" y="3520440"/>
            <a:ext cx="5486400" cy="274320"/>
          </a:xfrm>
          <a:prstGeom prst="rect">
            <a:avLst/>
          </a:prstGeom>
          <a:noFill/>
          <a:ln/>
        </p:spPr>
        <p:txBody>
          <a:bodyPr wrap="square" lIns="0" tIns="0" rIns="0" bIns="0" rtlCol="0" anchor="ctr"/>
          <a:lstStyle/>
          <a:p>
            <a:pPr marL="0" indent="0">
              <a:buNone/>
            </a:pPr>
            <a:r>
              <a:rPr lang="en-US" sz="1300" dirty="0">
                <a:solidFill>
                  <a:srgbClr val="9AA095"/>
                </a:solidFill>
                <a:latin typeface="Arial" pitchFamily="34" charset="0"/>
                <a:ea typeface="Arial" pitchFamily="34" charset="-122"/>
                <a:cs typeface="Arial" pitchFamily="34" charset="-120"/>
              </a:rPr>
              <a:t>Lecture #1  ·  Ernest Bîtca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3" name="Shape 0"/>
          <p:cNvSpPr/>
          <p:nvPr/>
        </p:nvSpPr>
        <p:spPr>
          <a:xfrm rot="2700000">
            <a:off x="-137160" y="-91440"/>
            <a:ext cx="23774" cy="502920"/>
          </a:xfrm>
          <a:prstGeom prst="rect">
            <a:avLst/>
          </a:prstGeom>
          <a:solidFill>
            <a:srgbClr val="FFFFFF"/>
          </a:solidFill>
          <a:ln w="12700">
            <a:solidFill>
              <a:srgbClr val="FFFFFF"/>
            </a:solidFill>
            <a:prstDash val="solid"/>
          </a:ln>
        </p:spPr>
      </p:sp>
      <p:sp>
        <p:nvSpPr>
          <p:cNvPr id="4" name="Shape 1"/>
          <p:cNvSpPr/>
          <p:nvPr/>
        </p:nvSpPr>
        <p:spPr>
          <a:xfrm rot="2700000">
            <a:off x="-68580" y="-91440"/>
            <a:ext cx="23774" cy="502920"/>
          </a:xfrm>
          <a:prstGeom prst="rect">
            <a:avLst/>
          </a:prstGeom>
          <a:solidFill>
            <a:srgbClr val="FFFFFF"/>
          </a:solidFill>
          <a:ln w="12700">
            <a:solidFill>
              <a:srgbClr val="FFFFFF"/>
            </a:solidFill>
            <a:prstDash val="solid"/>
          </a:ln>
        </p:spPr>
      </p:sp>
      <p:sp>
        <p:nvSpPr>
          <p:cNvPr id="5" name="Shape 2"/>
          <p:cNvSpPr/>
          <p:nvPr/>
        </p:nvSpPr>
        <p:spPr>
          <a:xfrm rot="2700000">
            <a:off x="0" y="-91440"/>
            <a:ext cx="23774" cy="502920"/>
          </a:xfrm>
          <a:prstGeom prst="rect">
            <a:avLst/>
          </a:prstGeom>
          <a:solidFill>
            <a:srgbClr val="FFFFFF"/>
          </a:solidFill>
          <a:ln w="12700">
            <a:solidFill>
              <a:srgbClr val="FFFFFF"/>
            </a:solidFill>
            <a:prstDash val="solid"/>
          </a:ln>
        </p:spPr>
      </p:sp>
      <p:sp>
        <p:nvSpPr>
          <p:cNvPr id="6" name="Shape 3"/>
          <p:cNvSpPr/>
          <p:nvPr/>
        </p:nvSpPr>
        <p:spPr>
          <a:xfrm rot="2700000">
            <a:off x="68580" y="-91440"/>
            <a:ext cx="23774" cy="502920"/>
          </a:xfrm>
          <a:prstGeom prst="rect">
            <a:avLst/>
          </a:prstGeom>
          <a:solidFill>
            <a:srgbClr val="FFFFFF"/>
          </a:solidFill>
          <a:ln w="12700">
            <a:solidFill>
              <a:srgbClr val="FFFFFF"/>
            </a:solidFill>
            <a:prstDash val="solid"/>
          </a:ln>
        </p:spPr>
      </p:sp>
      <p:sp>
        <p:nvSpPr>
          <p:cNvPr id="7" name="Shape 4"/>
          <p:cNvSpPr/>
          <p:nvPr/>
        </p:nvSpPr>
        <p:spPr>
          <a:xfrm rot="2700000">
            <a:off x="137160" y="-91440"/>
            <a:ext cx="23774" cy="502920"/>
          </a:xfrm>
          <a:prstGeom prst="rect">
            <a:avLst/>
          </a:prstGeom>
          <a:solidFill>
            <a:srgbClr val="FFFFFF"/>
          </a:solidFill>
          <a:ln w="12700">
            <a:solidFill>
              <a:srgbClr val="FFFFFF"/>
            </a:solidFill>
            <a:prstDash val="solid"/>
          </a:ln>
        </p:spPr>
      </p:sp>
      <p:sp>
        <p:nvSpPr>
          <p:cNvPr id="8" name="Shape 5"/>
          <p:cNvSpPr/>
          <p:nvPr/>
        </p:nvSpPr>
        <p:spPr>
          <a:xfrm rot="2700000">
            <a:off x="205740" y="-91440"/>
            <a:ext cx="23774" cy="502920"/>
          </a:xfrm>
          <a:prstGeom prst="rect">
            <a:avLst/>
          </a:prstGeom>
          <a:solidFill>
            <a:srgbClr val="FFFFFF"/>
          </a:solidFill>
          <a:ln w="12700">
            <a:solidFill>
              <a:srgbClr val="FFFFFF"/>
            </a:solidFill>
            <a:prstDash val="solid"/>
          </a:ln>
        </p:spPr>
      </p:sp>
      <p:sp>
        <p:nvSpPr>
          <p:cNvPr id="9" name="Shape 6"/>
          <p:cNvSpPr/>
          <p:nvPr/>
        </p:nvSpPr>
        <p:spPr>
          <a:xfrm rot="2700000">
            <a:off x="274320" y="-91440"/>
            <a:ext cx="23774" cy="502920"/>
          </a:xfrm>
          <a:prstGeom prst="rect">
            <a:avLst/>
          </a:prstGeom>
          <a:solidFill>
            <a:srgbClr val="FFFFFF"/>
          </a:solidFill>
          <a:ln w="12700">
            <a:solidFill>
              <a:srgbClr val="FFFFFF"/>
            </a:solidFill>
            <a:prstDash val="solid"/>
          </a:ln>
        </p:spPr>
      </p:sp>
      <p:sp>
        <p:nvSpPr>
          <p:cNvPr id="10" name="Shape 7"/>
          <p:cNvSpPr/>
          <p:nvPr/>
        </p:nvSpPr>
        <p:spPr>
          <a:xfrm rot="2700000">
            <a:off x="342900" y="-91440"/>
            <a:ext cx="23774" cy="502920"/>
          </a:xfrm>
          <a:prstGeom prst="rect">
            <a:avLst/>
          </a:prstGeom>
          <a:solidFill>
            <a:srgbClr val="FFFFFF"/>
          </a:solidFill>
          <a:ln w="12700">
            <a:solidFill>
              <a:srgbClr val="FFFFFF"/>
            </a:solidFill>
            <a:prstDash val="solid"/>
          </a:ln>
        </p:spPr>
      </p:sp>
      <p:sp>
        <p:nvSpPr>
          <p:cNvPr id="11" name="Shape 8"/>
          <p:cNvSpPr/>
          <p:nvPr/>
        </p:nvSpPr>
        <p:spPr>
          <a:xfrm rot="2700000">
            <a:off x="411480" y="-91440"/>
            <a:ext cx="23774" cy="502920"/>
          </a:xfrm>
          <a:prstGeom prst="rect">
            <a:avLst/>
          </a:prstGeom>
          <a:solidFill>
            <a:srgbClr val="FFFFFF"/>
          </a:solidFill>
          <a:ln w="12700">
            <a:solidFill>
              <a:srgbClr val="FFFFFF"/>
            </a:solidFill>
            <a:prstDash val="solid"/>
          </a:ln>
        </p:spPr>
      </p:sp>
      <p:sp>
        <p:nvSpPr>
          <p:cNvPr id="12" name="Shape 9"/>
          <p:cNvSpPr/>
          <p:nvPr/>
        </p:nvSpPr>
        <p:spPr>
          <a:xfrm rot="2700000">
            <a:off x="480060" y="-91440"/>
            <a:ext cx="23774" cy="502920"/>
          </a:xfrm>
          <a:prstGeom prst="rect">
            <a:avLst/>
          </a:prstGeom>
          <a:solidFill>
            <a:srgbClr val="FFFFFF"/>
          </a:solidFill>
          <a:ln w="12700">
            <a:solidFill>
              <a:srgbClr val="FFFFFF"/>
            </a:solidFill>
            <a:prstDash val="solid"/>
          </a:ln>
        </p:spPr>
      </p:sp>
      <p:sp>
        <p:nvSpPr>
          <p:cNvPr id="13" name="Shape 10"/>
          <p:cNvSpPr/>
          <p:nvPr/>
        </p:nvSpPr>
        <p:spPr>
          <a:xfrm rot="2700000">
            <a:off x="548640" y="-91440"/>
            <a:ext cx="23774" cy="502920"/>
          </a:xfrm>
          <a:prstGeom prst="rect">
            <a:avLst/>
          </a:prstGeom>
          <a:solidFill>
            <a:srgbClr val="FFFFFF"/>
          </a:solidFill>
          <a:ln w="12700">
            <a:solidFill>
              <a:srgbClr val="FFFFFF"/>
            </a:solidFill>
            <a:prstDash val="solid"/>
          </a:ln>
        </p:spPr>
      </p:sp>
      <p:sp>
        <p:nvSpPr>
          <p:cNvPr id="14" name="Shape 11"/>
          <p:cNvSpPr/>
          <p:nvPr/>
        </p:nvSpPr>
        <p:spPr>
          <a:xfrm rot="2700000">
            <a:off x="617220" y="-91440"/>
            <a:ext cx="23774" cy="502920"/>
          </a:xfrm>
          <a:prstGeom prst="rect">
            <a:avLst/>
          </a:prstGeom>
          <a:solidFill>
            <a:srgbClr val="FFFFFF"/>
          </a:solidFill>
          <a:ln w="12700">
            <a:solidFill>
              <a:srgbClr val="FFFFFF"/>
            </a:solidFill>
            <a:prstDash val="solid"/>
          </a:ln>
        </p:spPr>
      </p:sp>
      <p:sp>
        <p:nvSpPr>
          <p:cNvPr id="15" name="Shape 12"/>
          <p:cNvSpPr/>
          <p:nvPr/>
        </p:nvSpPr>
        <p:spPr>
          <a:xfrm rot="2700000">
            <a:off x="685800" y="-91440"/>
            <a:ext cx="23774" cy="502920"/>
          </a:xfrm>
          <a:prstGeom prst="rect">
            <a:avLst/>
          </a:prstGeom>
          <a:solidFill>
            <a:srgbClr val="FFFFFF"/>
          </a:solidFill>
          <a:ln w="12700">
            <a:solidFill>
              <a:srgbClr val="FFFFFF"/>
            </a:solidFill>
            <a:prstDash val="solid"/>
          </a:ln>
        </p:spPr>
      </p:sp>
      <p:sp>
        <p:nvSpPr>
          <p:cNvPr id="16" name="Shape 13"/>
          <p:cNvSpPr/>
          <p:nvPr/>
        </p:nvSpPr>
        <p:spPr>
          <a:xfrm>
            <a:off x="-1408768" y="3206537"/>
            <a:ext cx="3291840" cy="3291840"/>
          </a:xfrm>
          <a:prstGeom prst="ellipse">
            <a:avLst/>
          </a:prstGeom>
          <a:solidFill>
            <a:srgbClr val="000000">
              <a:alpha val="0"/>
            </a:srgbClr>
          </a:solidFill>
          <a:ln w="12700">
            <a:solidFill>
              <a:srgbClr val="5E6357"/>
            </a:solidFill>
            <a:prstDash val="solid"/>
          </a:ln>
        </p:spPr>
      </p:sp>
      <p:sp>
        <p:nvSpPr>
          <p:cNvPr id="17" name="Shape 14"/>
          <p:cNvSpPr/>
          <p:nvPr/>
        </p:nvSpPr>
        <p:spPr>
          <a:xfrm>
            <a:off x="-1051560" y="3611880"/>
            <a:ext cx="2468880" cy="2468880"/>
          </a:xfrm>
          <a:prstGeom prst="ellipse">
            <a:avLst/>
          </a:prstGeom>
          <a:solidFill>
            <a:srgbClr val="000000">
              <a:alpha val="0"/>
            </a:srgbClr>
          </a:solidFill>
          <a:ln w="12700">
            <a:solidFill>
              <a:srgbClr val="5E6357"/>
            </a:solidFill>
            <a:prstDash val="solid"/>
          </a:ln>
        </p:spPr>
      </p:sp>
      <p:sp>
        <p:nvSpPr>
          <p:cNvPr id="18" name="Shape 15"/>
          <p:cNvSpPr/>
          <p:nvPr/>
        </p:nvSpPr>
        <p:spPr>
          <a:xfrm>
            <a:off x="-640080" y="4023360"/>
            <a:ext cx="1645920" cy="1645920"/>
          </a:xfrm>
          <a:prstGeom prst="ellipse">
            <a:avLst/>
          </a:prstGeom>
          <a:solidFill>
            <a:srgbClr val="000000">
              <a:alpha val="0"/>
            </a:srgbClr>
          </a:solidFill>
          <a:ln w="12700">
            <a:solidFill>
              <a:srgbClr val="5E6357"/>
            </a:solidFill>
            <a:prstDash val="solid"/>
          </a:ln>
        </p:spPr>
      </p:sp>
      <p:sp>
        <p:nvSpPr>
          <p:cNvPr id="19" name="Shape 16"/>
          <p:cNvSpPr/>
          <p:nvPr/>
        </p:nvSpPr>
        <p:spPr>
          <a:xfrm>
            <a:off x="-228600" y="4434840"/>
            <a:ext cx="822960" cy="822960"/>
          </a:xfrm>
          <a:prstGeom prst="ellipse">
            <a:avLst/>
          </a:prstGeom>
          <a:solidFill>
            <a:srgbClr val="000000">
              <a:alpha val="0"/>
            </a:srgbClr>
          </a:solidFill>
          <a:ln w="12700">
            <a:solidFill>
              <a:srgbClr val="D9F201"/>
            </a:solidFill>
            <a:prstDash val="solid"/>
          </a:ln>
        </p:spPr>
      </p:sp>
      <p:sp>
        <p:nvSpPr>
          <p:cNvPr id="20" name="Shape 17"/>
          <p:cNvSpPr/>
          <p:nvPr/>
        </p:nvSpPr>
        <p:spPr>
          <a:xfrm rot="5400000">
            <a:off x="8321040" y="457200"/>
            <a:ext cx="411480" cy="411480"/>
          </a:xfrm>
          <a:prstGeom prst="triangle">
            <a:avLst/>
          </a:prstGeom>
          <a:solidFill>
            <a:srgbClr val="D9F201"/>
          </a:solidFill>
          <a:ln w="12700">
            <a:solidFill>
              <a:srgbClr val="D9F201"/>
            </a:solidFill>
            <a:prstDash val="solid"/>
          </a:ln>
        </p:spPr>
      </p:sp>
      <p:sp>
        <p:nvSpPr>
          <p:cNvPr id="21" name="Shape 18"/>
          <p:cNvSpPr/>
          <p:nvPr/>
        </p:nvSpPr>
        <p:spPr>
          <a:xfrm>
            <a:off x="8138160" y="4206240"/>
            <a:ext cx="50292" cy="50292"/>
          </a:xfrm>
          <a:prstGeom prst="ellipse">
            <a:avLst/>
          </a:prstGeom>
          <a:solidFill>
            <a:srgbClr val="5E6357"/>
          </a:solidFill>
          <a:ln w="12700">
            <a:solidFill>
              <a:srgbClr val="5E6357"/>
            </a:solidFill>
            <a:prstDash val="solid"/>
          </a:ln>
        </p:spPr>
      </p:sp>
      <p:sp>
        <p:nvSpPr>
          <p:cNvPr id="22" name="Shape 19"/>
          <p:cNvSpPr/>
          <p:nvPr/>
        </p:nvSpPr>
        <p:spPr>
          <a:xfrm>
            <a:off x="8270748" y="4206240"/>
            <a:ext cx="50292" cy="50292"/>
          </a:xfrm>
          <a:prstGeom prst="ellipse">
            <a:avLst/>
          </a:prstGeom>
          <a:solidFill>
            <a:srgbClr val="5E6357"/>
          </a:solidFill>
          <a:ln w="12700">
            <a:solidFill>
              <a:srgbClr val="5E6357"/>
            </a:solidFill>
            <a:prstDash val="solid"/>
          </a:ln>
        </p:spPr>
      </p:sp>
      <p:sp>
        <p:nvSpPr>
          <p:cNvPr id="23" name="Shape 20"/>
          <p:cNvSpPr/>
          <p:nvPr/>
        </p:nvSpPr>
        <p:spPr>
          <a:xfrm>
            <a:off x="8403336" y="4206240"/>
            <a:ext cx="50292" cy="50292"/>
          </a:xfrm>
          <a:prstGeom prst="ellipse">
            <a:avLst/>
          </a:prstGeom>
          <a:solidFill>
            <a:srgbClr val="5E6357"/>
          </a:solidFill>
          <a:ln w="12700">
            <a:solidFill>
              <a:srgbClr val="5E6357"/>
            </a:solidFill>
            <a:prstDash val="solid"/>
          </a:ln>
        </p:spPr>
      </p:sp>
      <p:sp>
        <p:nvSpPr>
          <p:cNvPr id="24" name="Shape 21"/>
          <p:cNvSpPr/>
          <p:nvPr/>
        </p:nvSpPr>
        <p:spPr>
          <a:xfrm>
            <a:off x="8535924" y="4206240"/>
            <a:ext cx="50292" cy="50292"/>
          </a:xfrm>
          <a:prstGeom prst="ellipse">
            <a:avLst/>
          </a:prstGeom>
          <a:solidFill>
            <a:srgbClr val="5E6357"/>
          </a:solidFill>
          <a:ln w="12700">
            <a:solidFill>
              <a:srgbClr val="5E6357"/>
            </a:solidFill>
            <a:prstDash val="solid"/>
          </a:ln>
        </p:spPr>
      </p:sp>
      <p:sp>
        <p:nvSpPr>
          <p:cNvPr id="25" name="Shape 22"/>
          <p:cNvSpPr/>
          <p:nvPr/>
        </p:nvSpPr>
        <p:spPr>
          <a:xfrm>
            <a:off x="8138160" y="4338828"/>
            <a:ext cx="50292" cy="50292"/>
          </a:xfrm>
          <a:prstGeom prst="ellipse">
            <a:avLst/>
          </a:prstGeom>
          <a:solidFill>
            <a:srgbClr val="5E6357"/>
          </a:solidFill>
          <a:ln w="12700">
            <a:solidFill>
              <a:srgbClr val="5E6357"/>
            </a:solidFill>
            <a:prstDash val="solid"/>
          </a:ln>
        </p:spPr>
      </p:sp>
      <p:sp>
        <p:nvSpPr>
          <p:cNvPr id="26" name="Shape 23"/>
          <p:cNvSpPr/>
          <p:nvPr/>
        </p:nvSpPr>
        <p:spPr>
          <a:xfrm>
            <a:off x="8270748" y="4338828"/>
            <a:ext cx="50292" cy="50292"/>
          </a:xfrm>
          <a:prstGeom prst="ellipse">
            <a:avLst/>
          </a:prstGeom>
          <a:solidFill>
            <a:srgbClr val="5E6357"/>
          </a:solidFill>
          <a:ln w="12700">
            <a:solidFill>
              <a:srgbClr val="5E6357"/>
            </a:solidFill>
            <a:prstDash val="solid"/>
          </a:ln>
        </p:spPr>
      </p:sp>
      <p:sp>
        <p:nvSpPr>
          <p:cNvPr id="27" name="Shape 24"/>
          <p:cNvSpPr/>
          <p:nvPr/>
        </p:nvSpPr>
        <p:spPr>
          <a:xfrm>
            <a:off x="8403336" y="4338828"/>
            <a:ext cx="50292" cy="50292"/>
          </a:xfrm>
          <a:prstGeom prst="ellipse">
            <a:avLst/>
          </a:prstGeom>
          <a:solidFill>
            <a:srgbClr val="5E6357"/>
          </a:solidFill>
          <a:ln w="12700">
            <a:solidFill>
              <a:srgbClr val="5E6357"/>
            </a:solidFill>
            <a:prstDash val="solid"/>
          </a:ln>
        </p:spPr>
      </p:sp>
      <p:sp>
        <p:nvSpPr>
          <p:cNvPr id="28" name="Shape 25"/>
          <p:cNvSpPr/>
          <p:nvPr/>
        </p:nvSpPr>
        <p:spPr>
          <a:xfrm>
            <a:off x="8535924" y="4338828"/>
            <a:ext cx="50292" cy="50292"/>
          </a:xfrm>
          <a:prstGeom prst="ellipse">
            <a:avLst/>
          </a:prstGeom>
          <a:solidFill>
            <a:srgbClr val="5E6357"/>
          </a:solidFill>
          <a:ln w="12700">
            <a:solidFill>
              <a:srgbClr val="5E6357"/>
            </a:solidFill>
            <a:prstDash val="solid"/>
          </a:ln>
        </p:spPr>
      </p:sp>
      <p:sp>
        <p:nvSpPr>
          <p:cNvPr id="29" name="Shape 26"/>
          <p:cNvSpPr/>
          <p:nvPr/>
        </p:nvSpPr>
        <p:spPr>
          <a:xfrm>
            <a:off x="8138160" y="4471416"/>
            <a:ext cx="50292" cy="50292"/>
          </a:xfrm>
          <a:prstGeom prst="ellipse">
            <a:avLst/>
          </a:prstGeom>
          <a:solidFill>
            <a:srgbClr val="5E6357"/>
          </a:solidFill>
          <a:ln w="12700">
            <a:solidFill>
              <a:srgbClr val="5E6357"/>
            </a:solidFill>
            <a:prstDash val="solid"/>
          </a:ln>
        </p:spPr>
      </p:sp>
      <p:sp>
        <p:nvSpPr>
          <p:cNvPr id="30" name="Shape 27"/>
          <p:cNvSpPr/>
          <p:nvPr/>
        </p:nvSpPr>
        <p:spPr>
          <a:xfrm>
            <a:off x="8270748" y="4471416"/>
            <a:ext cx="50292" cy="50292"/>
          </a:xfrm>
          <a:prstGeom prst="ellipse">
            <a:avLst/>
          </a:prstGeom>
          <a:solidFill>
            <a:srgbClr val="5E6357"/>
          </a:solidFill>
          <a:ln w="12700">
            <a:solidFill>
              <a:srgbClr val="5E6357"/>
            </a:solidFill>
            <a:prstDash val="solid"/>
          </a:ln>
        </p:spPr>
      </p:sp>
      <p:sp>
        <p:nvSpPr>
          <p:cNvPr id="31" name="Shape 28"/>
          <p:cNvSpPr/>
          <p:nvPr/>
        </p:nvSpPr>
        <p:spPr>
          <a:xfrm>
            <a:off x="8403336" y="4471416"/>
            <a:ext cx="50292" cy="50292"/>
          </a:xfrm>
          <a:prstGeom prst="ellipse">
            <a:avLst/>
          </a:prstGeom>
          <a:solidFill>
            <a:srgbClr val="5E6357"/>
          </a:solidFill>
          <a:ln w="12700">
            <a:solidFill>
              <a:srgbClr val="5E6357"/>
            </a:solidFill>
            <a:prstDash val="solid"/>
          </a:ln>
        </p:spPr>
      </p:sp>
      <p:sp>
        <p:nvSpPr>
          <p:cNvPr id="32" name="Shape 29"/>
          <p:cNvSpPr/>
          <p:nvPr/>
        </p:nvSpPr>
        <p:spPr>
          <a:xfrm>
            <a:off x="8535924" y="4471416"/>
            <a:ext cx="50292" cy="50292"/>
          </a:xfrm>
          <a:prstGeom prst="ellipse">
            <a:avLst/>
          </a:prstGeom>
          <a:solidFill>
            <a:srgbClr val="5E6357"/>
          </a:solidFill>
          <a:ln w="12700">
            <a:solidFill>
              <a:srgbClr val="5E6357"/>
            </a:solidFill>
            <a:prstDash val="solid"/>
          </a:ln>
        </p:spPr>
      </p:sp>
      <p:sp>
        <p:nvSpPr>
          <p:cNvPr id="34" name="Text 31"/>
          <p:cNvSpPr txBox="1"/>
          <p:nvPr/>
        </p:nvSpPr>
        <p:spPr>
          <a:xfrm>
            <a:off x="2196550" y="492140"/>
            <a:ext cx="5760720" cy="3531220"/>
          </a:xfrm>
          <a:prstGeom prst="rect">
            <a:avLst/>
          </a:prstGeom>
          <a:noFill/>
          <a:ln/>
        </p:spPr>
        <p:txBody>
          <a:bodyPr wrap="square" lIns="0" tIns="0" rIns="0" bIns="0" rtlCol="0" anchor="ctr"/>
          <a:lstStyle/>
          <a:p>
            <a:r>
              <a:rPr lang="en-US" sz="3600" b="1" dirty="0">
                <a:solidFill>
                  <a:schemeClr val="bg1"/>
                </a:solidFill>
                <a:latin typeface="Arial" pitchFamily="34" charset="0"/>
                <a:ea typeface="Arial" pitchFamily="34" charset="-122"/>
                <a:cs typeface="Arial" pitchFamily="34" charset="-120"/>
              </a:rPr>
              <a:t>"Some people, when confronted with a problem, think 'I know, I'll use </a:t>
            </a:r>
            <a:r>
              <a:rPr lang="en-US" sz="3600" b="1" dirty="0">
                <a:solidFill>
                  <a:srgbClr val="D9F200"/>
                </a:solidFill>
                <a:latin typeface="Arial" pitchFamily="34" charset="0"/>
                <a:ea typeface="Arial" pitchFamily="34" charset="-122"/>
                <a:cs typeface="Arial" pitchFamily="34" charset="-120"/>
              </a:rPr>
              <a:t>multithreading</a:t>
            </a:r>
            <a:r>
              <a:rPr lang="en-US" sz="3600" b="1" dirty="0">
                <a:solidFill>
                  <a:schemeClr val="bg1"/>
                </a:solidFill>
                <a:latin typeface="Arial" pitchFamily="34" charset="0"/>
                <a:ea typeface="Arial" pitchFamily="34" charset="-122"/>
                <a:cs typeface="Arial" pitchFamily="34" charset="-120"/>
              </a:rPr>
              <a:t>.' Now they have </a:t>
            </a:r>
            <a:r>
              <a:rPr lang="en-US" sz="3600" b="1" dirty="0">
                <a:solidFill>
                  <a:srgbClr val="D9F200"/>
                </a:solidFill>
                <a:latin typeface="Arial" pitchFamily="34" charset="0"/>
                <a:ea typeface="Arial" pitchFamily="34" charset="-122"/>
                <a:cs typeface="Arial" pitchFamily="34" charset="-120"/>
              </a:rPr>
              <a:t>two problems</a:t>
            </a:r>
            <a:r>
              <a:rPr lang="en-US" sz="3600" b="1" dirty="0">
                <a:solidFill>
                  <a:schemeClr val="bg1"/>
                </a:solidFill>
                <a:latin typeface="Arial" pitchFamily="34" charset="0"/>
                <a:ea typeface="Arial" pitchFamily="34" charset="-122"/>
                <a:cs typeface="Arial" pitchFamily="34" charset="-120"/>
              </a:rPr>
              <a:t>."</a:t>
            </a:r>
            <a:endParaRPr lang="en-US" sz="36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3" name="Text 0"/>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AGENDA</a:t>
            </a:r>
            <a:endParaRPr lang="en-US" sz="1050" dirty="0"/>
          </a:p>
        </p:txBody>
      </p:sp>
      <p:sp>
        <p:nvSpPr>
          <p:cNvPr id="4" name="Text 1"/>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 we'll cover</a:t>
            </a:r>
            <a:endParaRPr lang="en-US" sz="3200" dirty="0"/>
          </a:p>
        </p:txBody>
      </p:sp>
      <p:sp>
        <p:nvSpPr>
          <p:cNvPr id="5" name="Shape 2"/>
          <p:cNvSpPr/>
          <p:nvPr/>
        </p:nvSpPr>
        <p:spPr>
          <a:xfrm>
            <a:off x="8321040" y="502920"/>
            <a:ext cx="50292" cy="50292"/>
          </a:xfrm>
          <a:prstGeom prst="ellipse">
            <a:avLst/>
          </a:prstGeom>
          <a:solidFill>
            <a:srgbClr val="D9F201"/>
          </a:solidFill>
          <a:ln w="12700">
            <a:solidFill>
              <a:srgbClr val="D9F201"/>
            </a:solidFill>
            <a:prstDash val="solid"/>
          </a:ln>
        </p:spPr>
      </p:sp>
      <p:sp>
        <p:nvSpPr>
          <p:cNvPr id="6" name="Shape 3"/>
          <p:cNvSpPr/>
          <p:nvPr/>
        </p:nvSpPr>
        <p:spPr>
          <a:xfrm>
            <a:off x="8453628" y="502920"/>
            <a:ext cx="50292" cy="50292"/>
          </a:xfrm>
          <a:prstGeom prst="ellipse">
            <a:avLst/>
          </a:prstGeom>
          <a:solidFill>
            <a:srgbClr val="D9F201"/>
          </a:solidFill>
          <a:ln w="12700">
            <a:solidFill>
              <a:srgbClr val="D9F201"/>
            </a:solidFill>
            <a:prstDash val="solid"/>
          </a:ln>
        </p:spPr>
      </p:sp>
      <p:sp>
        <p:nvSpPr>
          <p:cNvPr id="7" name="Shape 4"/>
          <p:cNvSpPr/>
          <p:nvPr/>
        </p:nvSpPr>
        <p:spPr>
          <a:xfrm>
            <a:off x="8586216" y="502920"/>
            <a:ext cx="50292" cy="50292"/>
          </a:xfrm>
          <a:prstGeom prst="ellipse">
            <a:avLst/>
          </a:prstGeom>
          <a:solidFill>
            <a:srgbClr val="D9F201"/>
          </a:solidFill>
          <a:ln w="12700">
            <a:solidFill>
              <a:srgbClr val="D9F201"/>
            </a:solidFill>
            <a:prstDash val="solid"/>
          </a:ln>
        </p:spPr>
      </p:sp>
      <p:sp>
        <p:nvSpPr>
          <p:cNvPr id="8" name="Shape 5"/>
          <p:cNvSpPr/>
          <p:nvPr/>
        </p:nvSpPr>
        <p:spPr>
          <a:xfrm>
            <a:off x="8321040" y="635508"/>
            <a:ext cx="50292" cy="50292"/>
          </a:xfrm>
          <a:prstGeom prst="ellipse">
            <a:avLst/>
          </a:prstGeom>
          <a:solidFill>
            <a:srgbClr val="D9F201"/>
          </a:solidFill>
          <a:ln w="12700">
            <a:solidFill>
              <a:srgbClr val="D9F201"/>
            </a:solidFill>
            <a:prstDash val="solid"/>
          </a:ln>
        </p:spPr>
      </p:sp>
      <p:sp>
        <p:nvSpPr>
          <p:cNvPr id="9" name="Shape 6"/>
          <p:cNvSpPr/>
          <p:nvPr/>
        </p:nvSpPr>
        <p:spPr>
          <a:xfrm>
            <a:off x="8453628" y="635508"/>
            <a:ext cx="50292" cy="50292"/>
          </a:xfrm>
          <a:prstGeom prst="ellipse">
            <a:avLst/>
          </a:prstGeom>
          <a:solidFill>
            <a:srgbClr val="D9F201"/>
          </a:solidFill>
          <a:ln w="12700">
            <a:solidFill>
              <a:srgbClr val="D9F201"/>
            </a:solidFill>
            <a:prstDash val="solid"/>
          </a:ln>
        </p:spPr>
      </p:sp>
      <p:sp>
        <p:nvSpPr>
          <p:cNvPr id="10" name="Shape 7"/>
          <p:cNvSpPr/>
          <p:nvPr/>
        </p:nvSpPr>
        <p:spPr>
          <a:xfrm>
            <a:off x="8586216" y="635508"/>
            <a:ext cx="50292" cy="50292"/>
          </a:xfrm>
          <a:prstGeom prst="ellipse">
            <a:avLst/>
          </a:prstGeom>
          <a:solidFill>
            <a:srgbClr val="D9F201"/>
          </a:solidFill>
          <a:ln w="12700">
            <a:solidFill>
              <a:srgbClr val="D9F201"/>
            </a:solidFill>
            <a:prstDash val="solid"/>
          </a:ln>
        </p:spPr>
      </p:sp>
      <p:sp>
        <p:nvSpPr>
          <p:cNvPr id="11" name="Shape 8"/>
          <p:cNvSpPr/>
          <p:nvPr/>
        </p:nvSpPr>
        <p:spPr>
          <a:xfrm>
            <a:off x="8321040" y="768096"/>
            <a:ext cx="50292" cy="50292"/>
          </a:xfrm>
          <a:prstGeom prst="ellipse">
            <a:avLst/>
          </a:prstGeom>
          <a:solidFill>
            <a:srgbClr val="D9F201"/>
          </a:solidFill>
          <a:ln w="12700">
            <a:solidFill>
              <a:srgbClr val="D9F201"/>
            </a:solidFill>
            <a:prstDash val="solid"/>
          </a:ln>
        </p:spPr>
      </p:sp>
      <p:sp>
        <p:nvSpPr>
          <p:cNvPr id="12" name="Shape 9"/>
          <p:cNvSpPr/>
          <p:nvPr/>
        </p:nvSpPr>
        <p:spPr>
          <a:xfrm>
            <a:off x="8453628" y="768096"/>
            <a:ext cx="50292" cy="50292"/>
          </a:xfrm>
          <a:prstGeom prst="ellipse">
            <a:avLst/>
          </a:prstGeom>
          <a:solidFill>
            <a:srgbClr val="D9F201"/>
          </a:solidFill>
          <a:ln w="12700">
            <a:solidFill>
              <a:srgbClr val="D9F201"/>
            </a:solidFill>
            <a:prstDash val="solid"/>
          </a:ln>
        </p:spPr>
      </p:sp>
      <p:sp>
        <p:nvSpPr>
          <p:cNvPr id="13" name="Shape 10"/>
          <p:cNvSpPr/>
          <p:nvPr/>
        </p:nvSpPr>
        <p:spPr>
          <a:xfrm>
            <a:off x="8586216" y="768096"/>
            <a:ext cx="50292" cy="50292"/>
          </a:xfrm>
          <a:prstGeom prst="ellipse">
            <a:avLst/>
          </a:prstGeom>
          <a:solidFill>
            <a:srgbClr val="D9F201"/>
          </a:solidFill>
          <a:ln w="12700">
            <a:solidFill>
              <a:srgbClr val="D9F201"/>
            </a:solidFill>
            <a:prstDash val="solid"/>
          </a:ln>
        </p:spPr>
      </p:sp>
      <p:sp>
        <p:nvSpPr>
          <p:cNvPr id="14" name="Shape 11"/>
          <p:cNvSpPr/>
          <p:nvPr/>
        </p:nvSpPr>
        <p:spPr>
          <a:xfrm>
            <a:off x="8321040" y="900684"/>
            <a:ext cx="50292" cy="50292"/>
          </a:xfrm>
          <a:prstGeom prst="ellipse">
            <a:avLst/>
          </a:prstGeom>
          <a:solidFill>
            <a:srgbClr val="D9F201"/>
          </a:solidFill>
          <a:ln w="12700">
            <a:solidFill>
              <a:srgbClr val="D9F201"/>
            </a:solidFill>
            <a:prstDash val="solid"/>
          </a:ln>
        </p:spPr>
      </p:sp>
      <p:sp>
        <p:nvSpPr>
          <p:cNvPr id="15" name="Shape 12"/>
          <p:cNvSpPr/>
          <p:nvPr/>
        </p:nvSpPr>
        <p:spPr>
          <a:xfrm>
            <a:off x="8453628" y="900684"/>
            <a:ext cx="50292" cy="50292"/>
          </a:xfrm>
          <a:prstGeom prst="ellipse">
            <a:avLst/>
          </a:prstGeom>
          <a:solidFill>
            <a:srgbClr val="D9F201"/>
          </a:solidFill>
          <a:ln w="12700">
            <a:solidFill>
              <a:srgbClr val="D9F201"/>
            </a:solidFill>
            <a:prstDash val="solid"/>
          </a:ln>
        </p:spPr>
      </p:sp>
      <p:sp>
        <p:nvSpPr>
          <p:cNvPr id="16" name="Shape 13"/>
          <p:cNvSpPr/>
          <p:nvPr/>
        </p:nvSpPr>
        <p:spPr>
          <a:xfrm>
            <a:off x="8586216" y="900684"/>
            <a:ext cx="50292" cy="50292"/>
          </a:xfrm>
          <a:prstGeom prst="ellipse">
            <a:avLst/>
          </a:prstGeom>
          <a:solidFill>
            <a:srgbClr val="D9F201"/>
          </a:solidFill>
          <a:ln w="12700">
            <a:solidFill>
              <a:srgbClr val="D9F201"/>
            </a:solidFill>
            <a:prstDash val="solid"/>
          </a:ln>
        </p:spPr>
      </p:sp>
      <p:sp>
        <p:nvSpPr>
          <p:cNvPr id="17" name="Text 14"/>
          <p:cNvSpPr txBox="1"/>
          <p:nvPr/>
        </p:nvSpPr>
        <p:spPr>
          <a:xfrm>
            <a:off x="566928" y="1783080"/>
            <a:ext cx="914400" cy="457200"/>
          </a:xfrm>
          <a:prstGeom prst="rect">
            <a:avLst/>
          </a:prstGeom>
          <a:noFill/>
          <a:ln/>
        </p:spPr>
        <p:txBody>
          <a:bodyPr wrap="square" lIns="0" tIns="0" rIns="0" bIns="0" rtlCol="0" anchor="ctr"/>
          <a:lstStyle/>
          <a:p>
            <a:pPr marL="0" indent="0">
              <a:buNone/>
            </a:pPr>
            <a:r>
              <a:rPr lang="en-US" sz="3400" b="1" dirty="0">
                <a:solidFill>
                  <a:srgbClr val="D9F201"/>
                </a:solidFill>
                <a:latin typeface="Arial" pitchFamily="34" charset="0"/>
                <a:ea typeface="Arial" pitchFamily="34" charset="-122"/>
                <a:cs typeface="Arial" pitchFamily="34" charset="-120"/>
              </a:rPr>
              <a:t>00</a:t>
            </a:r>
            <a:endParaRPr lang="en-US" sz="3400" dirty="0"/>
          </a:p>
        </p:txBody>
      </p:sp>
      <p:sp>
        <p:nvSpPr>
          <p:cNvPr id="18" name="Shape 15"/>
          <p:cNvSpPr/>
          <p:nvPr/>
        </p:nvSpPr>
        <p:spPr>
          <a:xfrm>
            <a:off x="566928" y="2340864"/>
            <a:ext cx="2286000" cy="18288"/>
          </a:xfrm>
          <a:prstGeom prst="rect">
            <a:avLst/>
          </a:prstGeom>
          <a:solidFill>
            <a:srgbClr val="1F231B"/>
          </a:solidFill>
          <a:ln w="12700">
            <a:solidFill>
              <a:srgbClr val="1F231B"/>
            </a:solidFill>
            <a:prstDash val="solid"/>
          </a:ln>
        </p:spPr>
      </p:sp>
      <p:sp>
        <p:nvSpPr>
          <p:cNvPr id="19" name="Text 16"/>
          <p:cNvSpPr txBox="1"/>
          <p:nvPr/>
        </p:nvSpPr>
        <p:spPr>
          <a:xfrm>
            <a:off x="566928" y="2487168"/>
            <a:ext cx="2286000" cy="914400"/>
          </a:xfrm>
          <a:prstGeom prst="rect">
            <a:avLst/>
          </a:prstGeom>
          <a:noFill/>
          <a:ln/>
        </p:spPr>
        <p:txBody>
          <a:bodyPr wrap="square" lIns="0" tIns="0" rIns="0" bIns="0" rtlCol="0" anchor="ctr"/>
          <a:lstStyle/>
          <a:p>
            <a:pPr marL="0" indent="0">
              <a:lnSpc>
                <a:spcPts val="2200"/>
              </a:lnSpc>
              <a:buNone/>
            </a:pPr>
            <a:r>
              <a:rPr lang="en-US" sz="1700" dirty="0">
                <a:solidFill>
                  <a:srgbClr val="FFFFFF"/>
                </a:solidFill>
                <a:latin typeface="Arial" pitchFamily="34" charset="0"/>
                <a:ea typeface="Arial" pitchFamily="34" charset="-122"/>
                <a:cs typeface="Arial" pitchFamily="34" charset="-120"/>
              </a:rPr>
              <a:t>From single to multi threading</a:t>
            </a:r>
            <a:endParaRPr lang="en-US" sz="1700" dirty="0"/>
          </a:p>
        </p:txBody>
      </p:sp>
      <p:sp>
        <p:nvSpPr>
          <p:cNvPr id="20" name="Text 17"/>
          <p:cNvSpPr txBox="1"/>
          <p:nvPr/>
        </p:nvSpPr>
        <p:spPr>
          <a:xfrm>
            <a:off x="3264408" y="1783080"/>
            <a:ext cx="914400" cy="457200"/>
          </a:xfrm>
          <a:prstGeom prst="rect">
            <a:avLst/>
          </a:prstGeom>
          <a:noFill/>
          <a:ln/>
        </p:spPr>
        <p:txBody>
          <a:bodyPr wrap="square" lIns="0" tIns="0" rIns="0" bIns="0" rtlCol="0" anchor="ctr"/>
          <a:lstStyle/>
          <a:p>
            <a:pPr marL="0" indent="0">
              <a:buNone/>
            </a:pPr>
            <a:r>
              <a:rPr lang="en-US" sz="3400" b="1" dirty="0">
                <a:solidFill>
                  <a:srgbClr val="D9F200"/>
                </a:solidFill>
                <a:latin typeface="Arial" pitchFamily="34" charset="0"/>
                <a:ea typeface="Arial" pitchFamily="34" charset="-122"/>
                <a:cs typeface="Arial" pitchFamily="34" charset="-120"/>
              </a:rPr>
              <a:t>01</a:t>
            </a:r>
            <a:endParaRPr lang="en-US" sz="3400" dirty="0">
              <a:solidFill>
                <a:srgbClr val="D9F200"/>
              </a:solidFill>
            </a:endParaRPr>
          </a:p>
        </p:txBody>
      </p:sp>
      <p:sp>
        <p:nvSpPr>
          <p:cNvPr id="21" name="Shape 18"/>
          <p:cNvSpPr/>
          <p:nvPr/>
        </p:nvSpPr>
        <p:spPr>
          <a:xfrm>
            <a:off x="3264408" y="2340864"/>
            <a:ext cx="2286000" cy="18288"/>
          </a:xfrm>
          <a:prstGeom prst="rect">
            <a:avLst/>
          </a:prstGeom>
          <a:solidFill>
            <a:srgbClr val="1F231B"/>
          </a:solidFill>
          <a:ln w="12700">
            <a:solidFill>
              <a:srgbClr val="1F231B"/>
            </a:solidFill>
            <a:prstDash val="solid"/>
          </a:ln>
        </p:spPr>
      </p:sp>
      <p:sp>
        <p:nvSpPr>
          <p:cNvPr id="22" name="Text 19"/>
          <p:cNvSpPr txBox="1"/>
          <p:nvPr/>
        </p:nvSpPr>
        <p:spPr>
          <a:xfrm>
            <a:off x="3264408" y="2487168"/>
            <a:ext cx="2286000" cy="914400"/>
          </a:xfrm>
          <a:prstGeom prst="rect">
            <a:avLst/>
          </a:prstGeom>
          <a:noFill/>
          <a:ln/>
        </p:spPr>
        <p:txBody>
          <a:bodyPr wrap="square" lIns="0" tIns="0" rIns="0" bIns="0" rtlCol="0" anchor="ctr"/>
          <a:lstStyle/>
          <a:p>
            <a:pPr marL="0" indent="0">
              <a:lnSpc>
                <a:spcPts val="2200"/>
              </a:lnSpc>
              <a:buNone/>
            </a:pPr>
            <a:r>
              <a:rPr lang="en-US" sz="1700" dirty="0">
                <a:solidFill>
                  <a:srgbClr val="FFFFFF"/>
                </a:solidFill>
                <a:latin typeface="Arial" pitchFamily="34" charset="0"/>
                <a:ea typeface="Arial" pitchFamily="34" charset="-122"/>
                <a:cs typeface="Arial" pitchFamily="34" charset="-120"/>
              </a:rPr>
              <a:t>Concurrency vs parallelism</a:t>
            </a:r>
            <a:endParaRPr lang="en-US" sz="1700" dirty="0"/>
          </a:p>
        </p:txBody>
      </p:sp>
      <p:sp>
        <p:nvSpPr>
          <p:cNvPr id="23" name="Text 20"/>
          <p:cNvSpPr txBox="1"/>
          <p:nvPr/>
        </p:nvSpPr>
        <p:spPr>
          <a:xfrm>
            <a:off x="5961888" y="1783080"/>
            <a:ext cx="914400" cy="457200"/>
          </a:xfrm>
          <a:prstGeom prst="rect">
            <a:avLst/>
          </a:prstGeom>
          <a:noFill/>
          <a:ln/>
        </p:spPr>
        <p:txBody>
          <a:bodyPr wrap="square" lIns="0" tIns="0" rIns="0" bIns="0" rtlCol="0" anchor="ctr"/>
          <a:lstStyle/>
          <a:p>
            <a:pPr marL="0" indent="0">
              <a:buNone/>
            </a:pPr>
            <a:r>
              <a:rPr lang="en-US" sz="3400" b="1" dirty="0">
                <a:solidFill>
                  <a:srgbClr val="D9F201"/>
                </a:solidFill>
                <a:latin typeface="Arial" pitchFamily="34" charset="0"/>
                <a:ea typeface="Arial" pitchFamily="34" charset="-122"/>
                <a:cs typeface="Arial" pitchFamily="34" charset="-120"/>
              </a:rPr>
              <a:t>02</a:t>
            </a:r>
            <a:endParaRPr lang="en-US" sz="3400" dirty="0"/>
          </a:p>
        </p:txBody>
      </p:sp>
      <p:sp>
        <p:nvSpPr>
          <p:cNvPr id="24" name="Shape 21"/>
          <p:cNvSpPr/>
          <p:nvPr/>
        </p:nvSpPr>
        <p:spPr>
          <a:xfrm>
            <a:off x="5961888" y="2340864"/>
            <a:ext cx="2286000" cy="18288"/>
          </a:xfrm>
          <a:prstGeom prst="rect">
            <a:avLst/>
          </a:prstGeom>
          <a:solidFill>
            <a:srgbClr val="1F231B"/>
          </a:solidFill>
          <a:ln w="12700">
            <a:solidFill>
              <a:srgbClr val="1F231B"/>
            </a:solidFill>
            <a:prstDash val="solid"/>
          </a:ln>
        </p:spPr>
      </p:sp>
      <p:sp>
        <p:nvSpPr>
          <p:cNvPr id="25" name="Text 22"/>
          <p:cNvSpPr txBox="1"/>
          <p:nvPr/>
        </p:nvSpPr>
        <p:spPr>
          <a:xfrm>
            <a:off x="5961888" y="2487168"/>
            <a:ext cx="2286000" cy="914400"/>
          </a:xfrm>
          <a:prstGeom prst="rect">
            <a:avLst/>
          </a:prstGeom>
          <a:noFill/>
          <a:ln/>
        </p:spPr>
        <p:txBody>
          <a:bodyPr wrap="square" lIns="0" tIns="0" rIns="0" bIns="0" rtlCol="0" anchor="ctr"/>
          <a:lstStyle/>
          <a:p>
            <a:pPr marL="0" indent="0">
              <a:lnSpc>
                <a:spcPts val="2200"/>
              </a:lnSpc>
              <a:buNone/>
            </a:pPr>
            <a:r>
              <a:rPr lang="en-US" sz="1700" dirty="0">
                <a:solidFill>
                  <a:srgbClr val="FFFFFF"/>
                </a:solidFill>
                <a:latin typeface="Arial" pitchFamily="34" charset="0"/>
                <a:ea typeface="Arial" pitchFamily="34" charset="-122"/>
                <a:cs typeface="Arial" pitchFamily="34" charset="-120"/>
              </a:rPr>
              <a:t>Threads. Code examples.</a:t>
            </a:r>
            <a:endParaRPr lang="en-US" sz="1700" dirty="0"/>
          </a:p>
        </p:txBody>
      </p:sp>
      <p:sp>
        <p:nvSpPr>
          <p:cNvPr id="26" name="Text 23"/>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3" name="Text 0"/>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INTRODUCTION</a:t>
            </a:r>
            <a:endParaRPr lang="en-US" sz="1050" dirty="0"/>
          </a:p>
        </p:txBody>
      </p:sp>
      <p:sp>
        <p:nvSpPr>
          <p:cNvPr id="4" name="Text 1"/>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cs typeface="Arial" pitchFamily="34" charset="-120"/>
              </a:rPr>
              <a:t>The free lunch</a:t>
            </a:r>
            <a:endParaRPr lang="en-US" sz="3200" dirty="0"/>
          </a:p>
        </p:txBody>
      </p:sp>
      <p:sp>
        <p:nvSpPr>
          <p:cNvPr id="5" name="Shape 2"/>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p:cNvSpPr txBox="1"/>
          <p:nvPr/>
        </p:nvSpPr>
        <p:spPr>
          <a:xfrm>
            <a:off x="566928" y="1600200"/>
            <a:ext cx="7315200" cy="1752600"/>
          </a:xfrm>
          <a:prstGeom prst="rect">
            <a:avLst/>
          </a:prstGeom>
          <a:noFill/>
          <a:ln/>
        </p:spPr>
        <p:txBody>
          <a:bodyPr wrap="square" lIns="0" tIns="0" rIns="0" bIns="0" rtlCol="0" anchor="t"/>
          <a:lstStyle/>
          <a:p>
            <a:pPr algn="just">
              <a:lnSpc>
                <a:spcPts val="2400"/>
              </a:lnSpc>
              <a:spcAft>
                <a:spcPts val="1000"/>
              </a:spcAft>
            </a:pPr>
            <a:r>
              <a:rPr lang="en-US" sz="1600" dirty="0">
                <a:solidFill>
                  <a:srgbClr val="FFFFFF"/>
                </a:solidFill>
                <a:latin typeface="Arial" pitchFamily="34" charset="0"/>
                <a:ea typeface="Arial" pitchFamily="34" charset="-122"/>
                <a:cs typeface="Arial" pitchFamily="34" charset="-120"/>
              </a:rPr>
              <a:t>From roughly 1975 to 2004, a programmer could make slow code fast by doing nothing at all. Clock frequencies rose from a few megahertz to nearly four gigahertz, and the same unmodified single-threaded binary ran faster on each new generation of hardware. This was </a:t>
            </a:r>
            <a:r>
              <a:rPr lang="en-US" sz="1600" dirty="0">
                <a:solidFill>
                  <a:srgbClr val="D9F200"/>
                </a:solidFill>
                <a:latin typeface="Arial" pitchFamily="34" charset="0"/>
                <a:ea typeface="Arial" pitchFamily="34" charset="-122"/>
                <a:cs typeface="Arial" pitchFamily="34" charset="-120"/>
              </a:rPr>
              <a:t>the free lunch</a:t>
            </a:r>
            <a:r>
              <a:rPr lang="en-US" sz="1600" dirty="0">
                <a:solidFill>
                  <a:srgbClr val="FFFFFF"/>
                </a:solidFill>
                <a:latin typeface="Arial" pitchFamily="34" charset="0"/>
                <a:ea typeface="Arial" pitchFamily="34" charset="-122"/>
                <a:cs typeface="Arial" pitchFamily="34" charset="-120"/>
              </a:rPr>
              <a:t>. </a:t>
            </a:r>
            <a:endParaRPr lang="en-US" sz="1600" dirty="0"/>
          </a:p>
        </p:txBody>
      </p:sp>
      <p:sp>
        <p:nvSpPr>
          <p:cNvPr id="17" name="Text 14"/>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F827B69-129A-0BAE-3B36-ECC8011D52A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D198DE4-D58F-F5B6-9386-9DC5D7268FAC}"/>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INTRODUCTION</a:t>
            </a:r>
            <a:endParaRPr lang="en-US" sz="1050" dirty="0"/>
          </a:p>
        </p:txBody>
      </p:sp>
      <p:sp>
        <p:nvSpPr>
          <p:cNvPr id="4" name="Text 1">
            <a:extLst>
              <a:ext uri="{FF2B5EF4-FFF2-40B4-BE49-F238E27FC236}">
                <a16:creationId xmlns:a16="http://schemas.microsoft.com/office/drawing/2014/main" id="{1793C0C5-99D9-CA56-5551-AD66FB26FF4A}"/>
              </a:ext>
            </a:extLst>
          </p:cNvPr>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cs typeface="Arial" pitchFamily="34" charset="-120"/>
              </a:rPr>
              <a:t>The problem</a:t>
            </a:r>
            <a:endParaRPr lang="en-US" sz="3200" dirty="0"/>
          </a:p>
        </p:txBody>
      </p:sp>
      <p:sp>
        <p:nvSpPr>
          <p:cNvPr id="5" name="Shape 2">
            <a:extLst>
              <a:ext uri="{FF2B5EF4-FFF2-40B4-BE49-F238E27FC236}">
                <a16:creationId xmlns:a16="http://schemas.microsoft.com/office/drawing/2014/main" id="{10F9C562-7D69-87BD-92F3-AE62E7B6EBFB}"/>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B294527B-87A3-B380-4D6C-AA58311CBDC0}"/>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31E5FB41-CAC7-0337-D893-B25C292C8B23}"/>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5DF93AAC-5A63-181D-369A-1E88DB3F2CAF}"/>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81D25E77-35E1-AF6C-65E4-11420423FB74}"/>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BA0F77D4-227A-5B26-4A61-0787ABA12A65}"/>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A7104CBA-1ACC-AE20-E283-773A1F0CAEE5}"/>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1AEEDC3E-A7E3-B367-74D1-339155FC3738}"/>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B193362E-5BA7-D0B5-DD41-CA6F23C941D6}"/>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EC5B9968-2F76-0C78-8584-6AA4D487A464}"/>
              </a:ext>
            </a:extLst>
          </p:cNvPr>
          <p:cNvSpPr txBox="1"/>
          <p:nvPr/>
        </p:nvSpPr>
        <p:spPr>
          <a:xfrm>
            <a:off x="566928" y="1600200"/>
            <a:ext cx="7315200" cy="1945888"/>
          </a:xfrm>
          <a:prstGeom prst="rect">
            <a:avLst/>
          </a:prstGeom>
          <a:noFill/>
          <a:ln/>
        </p:spPr>
        <p:txBody>
          <a:bodyPr wrap="square" lIns="0" tIns="0" rIns="0" bIns="0" rtlCol="0" anchor="t"/>
          <a:lstStyle/>
          <a:p>
            <a:pPr algn="just">
              <a:lnSpc>
                <a:spcPts val="2400"/>
              </a:lnSpc>
              <a:spcAft>
                <a:spcPts val="1000"/>
              </a:spcAft>
            </a:pPr>
            <a:r>
              <a:rPr lang="en-US" sz="1600" dirty="0">
                <a:solidFill>
                  <a:srgbClr val="D9F200"/>
                </a:solidFill>
                <a:latin typeface="Arial" pitchFamily="34" charset="0"/>
                <a:ea typeface="Arial" pitchFamily="34" charset="-122"/>
                <a:cs typeface="Arial" pitchFamily="34" charset="-120"/>
              </a:rPr>
              <a:t>Faster clock -&gt; more power -&gt; more heat.</a:t>
            </a:r>
          </a:p>
          <a:p>
            <a:pPr algn="just">
              <a:lnSpc>
                <a:spcPts val="2400"/>
              </a:lnSpc>
              <a:spcAft>
                <a:spcPts val="1000"/>
              </a:spcAft>
            </a:pPr>
            <a:r>
              <a:rPr lang="en-US" sz="1600" dirty="0">
                <a:solidFill>
                  <a:srgbClr val="FFFFFF"/>
                </a:solidFill>
                <a:latin typeface="Arial" pitchFamily="34" charset="0"/>
                <a:ea typeface="Arial" pitchFamily="34" charset="-122"/>
                <a:cs typeface="Arial" pitchFamily="34" charset="-120"/>
              </a:rPr>
              <a:t>Around 2004 the heat became impossible to remove. Intel cancelled its 4 GHz Pentium 4. Clocks stopped at about 4 GHz. Today: still ~5 GHz. New plan: not a faster CPU, but MORE CPUs (cores). Now the programmer must write concurrent code to get the speed.</a:t>
            </a:r>
            <a:endParaRPr lang="en-US" sz="1600" dirty="0"/>
          </a:p>
        </p:txBody>
      </p:sp>
      <p:sp>
        <p:nvSpPr>
          <p:cNvPr id="17" name="Text 14">
            <a:extLst>
              <a:ext uri="{FF2B5EF4-FFF2-40B4-BE49-F238E27FC236}">
                <a16:creationId xmlns:a16="http://schemas.microsoft.com/office/drawing/2014/main" id="{61364AE3-FEA3-B1A1-021A-43C5D82470F9}"/>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3426522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BDFC76C-ECF6-3CBB-D292-4C4C775A0864}"/>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52A560E-B5E0-84D2-FED0-8271111AD7E5}"/>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INTRODUCTION</a:t>
            </a:r>
            <a:endParaRPr lang="en-US" sz="1050" dirty="0"/>
          </a:p>
        </p:txBody>
      </p:sp>
      <p:sp>
        <p:nvSpPr>
          <p:cNvPr id="4" name="Text 1">
            <a:extLst>
              <a:ext uri="{FF2B5EF4-FFF2-40B4-BE49-F238E27FC236}">
                <a16:creationId xmlns:a16="http://schemas.microsoft.com/office/drawing/2014/main" id="{46E1ADE9-4132-3BC6-48D7-625C71E62F6C}"/>
              </a:ext>
            </a:extLst>
          </p:cNvPr>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cs typeface="Arial" pitchFamily="34" charset="-120"/>
              </a:rPr>
              <a:t>Hyper Threading</a:t>
            </a:r>
            <a:endParaRPr lang="en-US" sz="3200" dirty="0"/>
          </a:p>
        </p:txBody>
      </p:sp>
      <p:sp>
        <p:nvSpPr>
          <p:cNvPr id="5" name="Shape 2">
            <a:extLst>
              <a:ext uri="{FF2B5EF4-FFF2-40B4-BE49-F238E27FC236}">
                <a16:creationId xmlns:a16="http://schemas.microsoft.com/office/drawing/2014/main" id="{68FAD84F-F4AA-A2F0-4549-E48409E59CDC}"/>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1A5A231E-E48E-C390-624A-C601C22F26D1}"/>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28533F97-E754-6150-8348-EA491B015B3A}"/>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70516761-D110-4E22-189C-6C7ED7BD03F5}"/>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CA6D75CA-D127-0C68-F3FC-6FB56C48A712}"/>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03E499E7-1F55-032A-F38E-0A9C61127349}"/>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F16EBF10-9E2E-EEE6-1BE2-81DF59E70175}"/>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F29693F4-5C88-2BA9-6FFD-91791D872E03}"/>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A43F910B-6120-E110-36B0-9C967D46A1F8}"/>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818195E7-B174-F974-5A32-7433CB9CC290}"/>
              </a:ext>
            </a:extLst>
          </p:cNvPr>
          <p:cNvSpPr txBox="1"/>
          <p:nvPr/>
        </p:nvSpPr>
        <p:spPr>
          <a:xfrm>
            <a:off x="566928" y="1600200"/>
            <a:ext cx="7315200" cy="2689302"/>
          </a:xfrm>
          <a:prstGeom prst="rect">
            <a:avLst/>
          </a:prstGeom>
          <a:noFill/>
          <a:ln/>
        </p:spPr>
        <p:txBody>
          <a:bodyPr wrap="square" lIns="0" tIns="0" rIns="0" bIns="0" rtlCol="0" anchor="t"/>
          <a:lstStyle/>
          <a:p>
            <a:pPr algn="just">
              <a:lnSpc>
                <a:spcPts val="2400"/>
              </a:lnSpc>
              <a:spcAft>
                <a:spcPts val="1000"/>
              </a:spcAft>
            </a:pPr>
            <a:r>
              <a:rPr lang="en-US" sz="1600" dirty="0">
                <a:solidFill>
                  <a:srgbClr val="FFFFFF"/>
                </a:solidFill>
                <a:latin typeface="Arial" pitchFamily="34" charset="0"/>
                <a:ea typeface="Arial" pitchFamily="34" charset="-122"/>
                <a:cs typeface="Arial" pitchFamily="34" charset="-120"/>
              </a:rPr>
              <a:t>A CPU core is like a worker at a desk. Normally it handles one task at a time. But that worker often sits idle for tiny moments — waiting for data to arrive from memory, for example.</a:t>
            </a:r>
          </a:p>
          <a:p>
            <a:pPr algn="just">
              <a:lnSpc>
                <a:spcPts val="2400"/>
              </a:lnSpc>
              <a:spcAft>
                <a:spcPts val="1000"/>
              </a:spcAft>
            </a:pPr>
            <a:r>
              <a:rPr lang="en-US" sz="1600" dirty="0">
                <a:solidFill>
                  <a:srgbClr val="FFFFFF"/>
                </a:solidFill>
                <a:latin typeface="Arial" pitchFamily="34" charset="0"/>
                <a:ea typeface="Arial" pitchFamily="34" charset="-122"/>
                <a:cs typeface="Arial" pitchFamily="34" charset="-120"/>
              </a:rPr>
              <a:t>Hyperthreading gives that one worker two inboxes instead of one. When task A is stuck waiting, the core immediately switches to task B instead of doing nothing. In practice it's usually a 15–30% gain, and it helps most when you're running many things at once. If a single program is already keeping the core fully busy, hyperthreading adds almost nothing.</a:t>
            </a:r>
            <a:endParaRPr lang="en-US" sz="1600" dirty="0"/>
          </a:p>
        </p:txBody>
      </p:sp>
      <p:sp>
        <p:nvSpPr>
          <p:cNvPr id="17" name="Text 14">
            <a:extLst>
              <a:ext uri="{FF2B5EF4-FFF2-40B4-BE49-F238E27FC236}">
                <a16:creationId xmlns:a16="http://schemas.microsoft.com/office/drawing/2014/main" id="{A0978CE7-1987-D57E-EF37-63A68FE7CEEB}"/>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2736526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5C78026-48E0-8957-DC65-590868A52FF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82BB4EA9-0AE7-C591-BE14-A1D2B48AB470}"/>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INTRODUCTION</a:t>
            </a:r>
            <a:endParaRPr lang="en-US" sz="1050" dirty="0"/>
          </a:p>
        </p:txBody>
      </p:sp>
      <p:sp>
        <p:nvSpPr>
          <p:cNvPr id="4" name="Text 1">
            <a:extLst>
              <a:ext uri="{FF2B5EF4-FFF2-40B4-BE49-F238E27FC236}">
                <a16:creationId xmlns:a16="http://schemas.microsoft.com/office/drawing/2014/main" id="{4D964C28-2243-F1C3-03AA-5E96A4702AA2}"/>
              </a:ext>
            </a:extLst>
          </p:cNvPr>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cs typeface="Arial" pitchFamily="34" charset="-120"/>
              </a:rPr>
              <a:t>Multi core</a:t>
            </a:r>
            <a:endParaRPr lang="en-US" sz="3200" dirty="0"/>
          </a:p>
        </p:txBody>
      </p:sp>
      <p:sp>
        <p:nvSpPr>
          <p:cNvPr id="5" name="Shape 2">
            <a:extLst>
              <a:ext uri="{FF2B5EF4-FFF2-40B4-BE49-F238E27FC236}">
                <a16:creationId xmlns:a16="http://schemas.microsoft.com/office/drawing/2014/main" id="{50C4804C-45C5-C213-E680-6C6C17DB3182}"/>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2F76C1AD-2154-4040-AC09-6A01314EB727}"/>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3FF6CAD1-1A05-EC86-2CB8-368FCE67B9BB}"/>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6A644544-35C3-C73A-2AA1-860CC3D2D545}"/>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071E978E-81FF-DE1F-7332-E2492230D79D}"/>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ECE233EA-BED8-E9D3-25DC-07760672C569}"/>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F058840C-79C7-F793-DCE8-606A5E72E969}"/>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1F0FBADC-B99A-9583-4F47-AAC7B2C619C7}"/>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97DE821F-0EF3-68EB-C5F7-82353237D76A}"/>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A367FCD2-180D-C119-8C5E-F180EE18DC93}"/>
              </a:ext>
            </a:extLst>
          </p:cNvPr>
          <p:cNvSpPr txBox="1"/>
          <p:nvPr/>
        </p:nvSpPr>
        <p:spPr>
          <a:xfrm>
            <a:off x="566928" y="1600200"/>
            <a:ext cx="7315200" cy="2450162"/>
          </a:xfrm>
          <a:prstGeom prst="rect">
            <a:avLst/>
          </a:prstGeom>
          <a:noFill/>
          <a:ln/>
        </p:spPr>
        <p:txBody>
          <a:bodyPr wrap="square" lIns="0" tIns="0" rIns="0" bIns="0" rtlCol="0" anchor="t"/>
          <a:lstStyle/>
          <a:p>
            <a:pPr algn="just">
              <a:lnSpc>
                <a:spcPts val="2400"/>
              </a:lnSpc>
              <a:spcAft>
                <a:spcPts val="1000"/>
              </a:spcAft>
            </a:pPr>
            <a:r>
              <a:rPr lang="en-US" sz="1600" dirty="0">
                <a:solidFill>
                  <a:srgbClr val="FFFFFF"/>
                </a:solidFill>
                <a:latin typeface="Arial" pitchFamily="34" charset="0"/>
                <a:ea typeface="Arial" pitchFamily="34" charset="-122"/>
                <a:cs typeface="Arial" pitchFamily="34" charset="-120"/>
              </a:rPr>
              <a:t>If hyperthreading is one worker with two inboxes, multi-core is several real workers, each with their own desk.</a:t>
            </a:r>
          </a:p>
          <a:p>
            <a:pPr algn="just">
              <a:lnSpc>
                <a:spcPts val="2400"/>
              </a:lnSpc>
              <a:spcAft>
                <a:spcPts val="1000"/>
              </a:spcAft>
            </a:pPr>
            <a:r>
              <a:rPr lang="en-US" sz="1600" dirty="0">
                <a:solidFill>
                  <a:srgbClr val="FFFFFF"/>
                </a:solidFill>
                <a:latin typeface="Arial" pitchFamily="34" charset="0"/>
                <a:ea typeface="Arial" pitchFamily="34" charset="-122"/>
                <a:cs typeface="Arial" pitchFamily="34" charset="-120"/>
              </a:rPr>
              <a:t>A 4-core processor has literally four complete computing units. Each one can run a different program at the same moment - genuinely in parallel, not by switching back and forth quickly. This is where you can actually approach 4x the work done. The difference from hyperthreading: there, you were filling in the idle gaps of a single worker. Here, you're hiring more workers.</a:t>
            </a:r>
          </a:p>
          <a:p>
            <a:pPr algn="just">
              <a:lnSpc>
                <a:spcPts val="2400"/>
              </a:lnSpc>
              <a:spcAft>
                <a:spcPts val="1000"/>
              </a:spcAft>
            </a:pPr>
            <a:endParaRPr lang="en-US" sz="1600" dirty="0">
              <a:solidFill>
                <a:srgbClr val="FFFFFF"/>
              </a:solidFill>
              <a:latin typeface="Arial" pitchFamily="34" charset="0"/>
              <a:ea typeface="Arial" pitchFamily="34" charset="-122"/>
              <a:cs typeface="Arial" pitchFamily="34" charset="-120"/>
            </a:endParaRPr>
          </a:p>
        </p:txBody>
      </p:sp>
      <p:sp>
        <p:nvSpPr>
          <p:cNvPr id="17" name="Text 14">
            <a:extLst>
              <a:ext uri="{FF2B5EF4-FFF2-40B4-BE49-F238E27FC236}">
                <a16:creationId xmlns:a16="http://schemas.microsoft.com/office/drawing/2014/main" id="{17369FC6-E1D4-51BD-15CF-9423BE178B29}"/>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1708922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A819B7E-B377-942F-2E2A-3651628681C9}"/>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4C048E04-A99C-2CA6-EDAF-26B9FBE17162}"/>
              </a:ext>
            </a:extLst>
          </p:cNvPr>
          <p:cNvSpPr/>
          <p:nvPr/>
        </p:nvSpPr>
        <p:spPr>
          <a:xfrm rot="2700000">
            <a:off x="-137160" y="-91440"/>
            <a:ext cx="23774" cy="502920"/>
          </a:xfrm>
          <a:prstGeom prst="rect">
            <a:avLst/>
          </a:prstGeom>
          <a:solidFill>
            <a:srgbClr val="FFFFFF"/>
          </a:solidFill>
          <a:ln w="12700">
            <a:solidFill>
              <a:srgbClr val="FFFFFF"/>
            </a:solidFill>
            <a:prstDash val="solid"/>
          </a:ln>
        </p:spPr>
      </p:sp>
      <p:sp>
        <p:nvSpPr>
          <p:cNvPr id="4" name="Shape 1">
            <a:extLst>
              <a:ext uri="{FF2B5EF4-FFF2-40B4-BE49-F238E27FC236}">
                <a16:creationId xmlns:a16="http://schemas.microsoft.com/office/drawing/2014/main" id="{D9E05DF6-388C-5BFF-30A1-4F55C16C264F}"/>
              </a:ext>
            </a:extLst>
          </p:cNvPr>
          <p:cNvSpPr/>
          <p:nvPr/>
        </p:nvSpPr>
        <p:spPr>
          <a:xfrm rot="2700000">
            <a:off x="-68580" y="-91440"/>
            <a:ext cx="23774" cy="502920"/>
          </a:xfrm>
          <a:prstGeom prst="rect">
            <a:avLst/>
          </a:prstGeom>
          <a:solidFill>
            <a:srgbClr val="FFFFFF"/>
          </a:solidFill>
          <a:ln w="12700">
            <a:solidFill>
              <a:srgbClr val="FFFFFF"/>
            </a:solidFill>
            <a:prstDash val="solid"/>
          </a:ln>
        </p:spPr>
      </p:sp>
      <p:sp>
        <p:nvSpPr>
          <p:cNvPr id="5" name="Shape 2">
            <a:extLst>
              <a:ext uri="{FF2B5EF4-FFF2-40B4-BE49-F238E27FC236}">
                <a16:creationId xmlns:a16="http://schemas.microsoft.com/office/drawing/2014/main" id="{9596E4DB-3E18-10A7-EAEA-013C884988C2}"/>
              </a:ext>
            </a:extLst>
          </p:cNvPr>
          <p:cNvSpPr/>
          <p:nvPr/>
        </p:nvSpPr>
        <p:spPr>
          <a:xfrm rot="2700000">
            <a:off x="0" y="-91440"/>
            <a:ext cx="23774" cy="502920"/>
          </a:xfrm>
          <a:prstGeom prst="rect">
            <a:avLst/>
          </a:prstGeom>
          <a:solidFill>
            <a:srgbClr val="FFFFFF"/>
          </a:solidFill>
          <a:ln w="12700">
            <a:solidFill>
              <a:srgbClr val="FFFFFF"/>
            </a:solidFill>
            <a:prstDash val="solid"/>
          </a:ln>
        </p:spPr>
      </p:sp>
      <p:sp>
        <p:nvSpPr>
          <p:cNvPr id="6" name="Shape 3">
            <a:extLst>
              <a:ext uri="{FF2B5EF4-FFF2-40B4-BE49-F238E27FC236}">
                <a16:creationId xmlns:a16="http://schemas.microsoft.com/office/drawing/2014/main" id="{6010517C-08D3-0362-E50F-3E28F4A66479}"/>
              </a:ext>
            </a:extLst>
          </p:cNvPr>
          <p:cNvSpPr/>
          <p:nvPr/>
        </p:nvSpPr>
        <p:spPr>
          <a:xfrm rot="2700000">
            <a:off x="68580" y="-91440"/>
            <a:ext cx="23774" cy="502920"/>
          </a:xfrm>
          <a:prstGeom prst="rect">
            <a:avLst/>
          </a:prstGeom>
          <a:solidFill>
            <a:srgbClr val="FFFFFF"/>
          </a:solidFill>
          <a:ln w="12700">
            <a:solidFill>
              <a:srgbClr val="FFFFFF"/>
            </a:solidFill>
            <a:prstDash val="solid"/>
          </a:ln>
        </p:spPr>
      </p:sp>
      <p:sp>
        <p:nvSpPr>
          <p:cNvPr id="7" name="Shape 4">
            <a:extLst>
              <a:ext uri="{FF2B5EF4-FFF2-40B4-BE49-F238E27FC236}">
                <a16:creationId xmlns:a16="http://schemas.microsoft.com/office/drawing/2014/main" id="{032F2CA5-2842-B325-7E2A-E9CD17321BBE}"/>
              </a:ext>
            </a:extLst>
          </p:cNvPr>
          <p:cNvSpPr/>
          <p:nvPr/>
        </p:nvSpPr>
        <p:spPr>
          <a:xfrm rot="2700000">
            <a:off x="137160" y="-91440"/>
            <a:ext cx="23774" cy="502920"/>
          </a:xfrm>
          <a:prstGeom prst="rect">
            <a:avLst/>
          </a:prstGeom>
          <a:solidFill>
            <a:srgbClr val="FFFFFF"/>
          </a:solidFill>
          <a:ln w="12700">
            <a:solidFill>
              <a:srgbClr val="FFFFFF"/>
            </a:solidFill>
            <a:prstDash val="solid"/>
          </a:ln>
        </p:spPr>
      </p:sp>
      <p:sp>
        <p:nvSpPr>
          <p:cNvPr id="8" name="Shape 5">
            <a:extLst>
              <a:ext uri="{FF2B5EF4-FFF2-40B4-BE49-F238E27FC236}">
                <a16:creationId xmlns:a16="http://schemas.microsoft.com/office/drawing/2014/main" id="{68EF791B-49C8-6620-0922-CB6C4EE24C36}"/>
              </a:ext>
            </a:extLst>
          </p:cNvPr>
          <p:cNvSpPr/>
          <p:nvPr/>
        </p:nvSpPr>
        <p:spPr>
          <a:xfrm rot="2700000">
            <a:off x="205740" y="-91440"/>
            <a:ext cx="23774" cy="502920"/>
          </a:xfrm>
          <a:prstGeom prst="rect">
            <a:avLst/>
          </a:prstGeom>
          <a:solidFill>
            <a:srgbClr val="FFFFFF"/>
          </a:solidFill>
          <a:ln w="12700">
            <a:solidFill>
              <a:srgbClr val="FFFFFF"/>
            </a:solidFill>
            <a:prstDash val="solid"/>
          </a:ln>
        </p:spPr>
      </p:sp>
      <p:sp>
        <p:nvSpPr>
          <p:cNvPr id="9" name="Shape 6">
            <a:extLst>
              <a:ext uri="{FF2B5EF4-FFF2-40B4-BE49-F238E27FC236}">
                <a16:creationId xmlns:a16="http://schemas.microsoft.com/office/drawing/2014/main" id="{4DAF1D68-73F7-635E-836E-CFD1263940FA}"/>
              </a:ext>
            </a:extLst>
          </p:cNvPr>
          <p:cNvSpPr/>
          <p:nvPr/>
        </p:nvSpPr>
        <p:spPr>
          <a:xfrm rot="2700000">
            <a:off x="274320" y="-91440"/>
            <a:ext cx="23774" cy="502920"/>
          </a:xfrm>
          <a:prstGeom prst="rect">
            <a:avLst/>
          </a:prstGeom>
          <a:solidFill>
            <a:srgbClr val="FFFFFF"/>
          </a:solidFill>
          <a:ln w="12700">
            <a:solidFill>
              <a:srgbClr val="FFFFFF"/>
            </a:solidFill>
            <a:prstDash val="solid"/>
          </a:ln>
        </p:spPr>
      </p:sp>
      <p:sp>
        <p:nvSpPr>
          <p:cNvPr id="10" name="Shape 7">
            <a:extLst>
              <a:ext uri="{FF2B5EF4-FFF2-40B4-BE49-F238E27FC236}">
                <a16:creationId xmlns:a16="http://schemas.microsoft.com/office/drawing/2014/main" id="{A8310DF3-80D1-F79B-A6E8-441F468D7007}"/>
              </a:ext>
            </a:extLst>
          </p:cNvPr>
          <p:cNvSpPr/>
          <p:nvPr/>
        </p:nvSpPr>
        <p:spPr>
          <a:xfrm rot="2700000">
            <a:off x="342900" y="-91440"/>
            <a:ext cx="23774" cy="502920"/>
          </a:xfrm>
          <a:prstGeom prst="rect">
            <a:avLst/>
          </a:prstGeom>
          <a:solidFill>
            <a:srgbClr val="FFFFFF"/>
          </a:solidFill>
          <a:ln w="12700">
            <a:solidFill>
              <a:srgbClr val="FFFFFF"/>
            </a:solidFill>
            <a:prstDash val="solid"/>
          </a:ln>
        </p:spPr>
      </p:sp>
      <p:sp>
        <p:nvSpPr>
          <p:cNvPr id="11" name="Shape 8">
            <a:extLst>
              <a:ext uri="{FF2B5EF4-FFF2-40B4-BE49-F238E27FC236}">
                <a16:creationId xmlns:a16="http://schemas.microsoft.com/office/drawing/2014/main" id="{6DEB8A59-889F-D55B-0CE0-F32250D99A6E}"/>
              </a:ext>
            </a:extLst>
          </p:cNvPr>
          <p:cNvSpPr/>
          <p:nvPr/>
        </p:nvSpPr>
        <p:spPr>
          <a:xfrm rot="2700000">
            <a:off x="411480" y="-91440"/>
            <a:ext cx="23774" cy="502920"/>
          </a:xfrm>
          <a:prstGeom prst="rect">
            <a:avLst/>
          </a:prstGeom>
          <a:solidFill>
            <a:srgbClr val="FFFFFF"/>
          </a:solidFill>
          <a:ln w="12700">
            <a:solidFill>
              <a:srgbClr val="FFFFFF"/>
            </a:solidFill>
            <a:prstDash val="solid"/>
          </a:ln>
        </p:spPr>
      </p:sp>
      <p:sp>
        <p:nvSpPr>
          <p:cNvPr id="12" name="Shape 9">
            <a:extLst>
              <a:ext uri="{FF2B5EF4-FFF2-40B4-BE49-F238E27FC236}">
                <a16:creationId xmlns:a16="http://schemas.microsoft.com/office/drawing/2014/main" id="{8E9B09F0-CFEF-C663-14D4-CC787755181B}"/>
              </a:ext>
            </a:extLst>
          </p:cNvPr>
          <p:cNvSpPr/>
          <p:nvPr/>
        </p:nvSpPr>
        <p:spPr>
          <a:xfrm rot="2700000">
            <a:off x="480060" y="-91440"/>
            <a:ext cx="23774" cy="502920"/>
          </a:xfrm>
          <a:prstGeom prst="rect">
            <a:avLst/>
          </a:prstGeom>
          <a:solidFill>
            <a:srgbClr val="FFFFFF"/>
          </a:solidFill>
          <a:ln w="12700">
            <a:solidFill>
              <a:srgbClr val="FFFFFF"/>
            </a:solidFill>
            <a:prstDash val="solid"/>
          </a:ln>
        </p:spPr>
      </p:sp>
      <p:sp>
        <p:nvSpPr>
          <p:cNvPr id="13" name="Shape 10">
            <a:extLst>
              <a:ext uri="{FF2B5EF4-FFF2-40B4-BE49-F238E27FC236}">
                <a16:creationId xmlns:a16="http://schemas.microsoft.com/office/drawing/2014/main" id="{C7E5A2B3-8E10-46AF-9FFD-0125D8222B89}"/>
              </a:ext>
            </a:extLst>
          </p:cNvPr>
          <p:cNvSpPr/>
          <p:nvPr/>
        </p:nvSpPr>
        <p:spPr>
          <a:xfrm rot="2700000">
            <a:off x="548640" y="-91440"/>
            <a:ext cx="23774" cy="502920"/>
          </a:xfrm>
          <a:prstGeom prst="rect">
            <a:avLst/>
          </a:prstGeom>
          <a:solidFill>
            <a:srgbClr val="FFFFFF"/>
          </a:solidFill>
          <a:ln w="12700">
            <a:solidFill>
              <a:srgbClr val="FFFFFF"/>
            </a:solidFill>
            <a:prstDash val="solid"/>
          </a:ln>
        </p:spPr>
      </p:sp>
      <p:sp>
        <p:nvSpPr>
          <p:cNvPr id="14" name="Shape 11">
            <a:extLst>
              <a:ext uri="{FF2B5EF4-FFF2-40B4-BE49-F238E27FC236}">
                <a16:creationId xmlns:a16="http://schemas.microsoft.com/office/drawing/2014/main" id="{9E37F7B3-A9B0-87E0-6D08-BAAC959E444B}"/>
              </a:ext>
            </a:extLst>
          </p:cNvPr>
          <p:cNvSpPr/>
          <p:nvPr/>
        </p:nvSpPr>
        <p:spPr>
          <a:xfrm rot="2700000">
            <a:off x="617220" y="-91440"/>
            <a:ext cx="23774" cy="502920"/>
          </a:xfrm>
          <a:prstGeom prst="rect">
            <a:avLst/>
          </a:prstGeom>
          <a:solidFill>
            <a:srgbClr val="FFFFFF"/>
          </a:solidFill>
          <a:ln w="12700">
            <a:solidFill>
              <a:srgbClr val="FFFFFF"/>
            </a:solidFill>
            <a:prstDash val="solid"/>
          </a:ln>
        </p:spPr>
      </p:sp>
      <p:sp>
        <p:nvSpPr>
          <p:cNvPr id="15" name="Shape 12">
            <a:extLst>
              <a:ext uri="{FF2B5EF4-FFF2-40B4-BE49-F238E27FC236}">
                <a16:creationId xmlns:a16="http://schemas.microsoft.com/office/drawing/2014/main" id="{DD588ED7-5E43-A9F5-2287-A3ECCB6E2030}"/>
              </a:ext>
            </a:extLst>
          </p:cNvPr>
          <p:cNvSpPr/>
          <p:nvPr/>
        </p:nvSpPr>
        <p:spPr>
          <a:xfrm rot="2700000">
            <a:off x="685800" y="-91440"/>
            <a:ext cx="23774" cy="502920"/>
          </a:xfrm>
          <a:prstGeom prst="rect">
            <a:avLst/>
          </a:prstGeom>
          <a:solidFill>
            <a:srgbClr val="FFFFFF"/>
          </a:solidFill>
          <a:ln w="12700">
            <a:solidFill>
              <a:srgbClr val="FFFFFF"/>
            </a:solidFill>
            <a:prstDash val="solid"/>
          </a:ln>
        </p:spPr>
      </p:sp>
      <p:sp>
        <p:nvSpPr>
          <p:cNvPr id="16" name="Shape 13">
            <a:extLst>
              <a:ext uri="{FF2B5EF4-FFF2-40B4-BE49-F238E27FC236}">
                <a16:creationId xmlns:a16="http://schemas.microsoft.com/office/drawing/2014/main" id="{5DF6E713-61E3-D4FC-2E4F-6EC81EC316D6}"/>
              </a:ext>
            </a:extLst>
          </p:cNvPr>
          <p:cNvSpPr/>
          <p:nvPr/>
        </p:nvSpPr>
        <p:spPr>
          <a:xfrm>
            <a:off x="-1408768" y="3206537"/>
            <a:ext cx="3291840" cy="3291840"/>
          </a:xfrm>
          <a:prstGeom prst="ellipse">
            <a:avLst/>
          </a:prstGeom>
          <a:solidFill>
            <a:srgbClr val="000000">
              <a:alpha val="0"/>
            </a:srgbClr>
          </a:solidFill>
          <a:ln w="12700">
            <a:solidFill>
              <a:srgbClr val="5E6357"/>
            </a:solidFill>
            <a:prstDash val="solid"/>
          </a:ln>
        </p:spPr>
      </p:sp>
      <p:sp>
        <p:nvSpPr>
          <p:cNvPr id="17" name="Shape 14">
            <a:extLst>
              <a:ext uri="{FF2B5EF4-FFF2-40B4-BE49-F238E27FC236}">
                <a16:creationId xmlns:a16="http://schemas.microsoft.com/office/drawing/2014/main" id="{A1DF4186-1A68-D35D-2C80-5EE7EC7A4ABE}"/>
              </a:ext>
            </a:extLst>
          </p:cNvPr>
          <p:cNvSpPr/>
          <p:nvPr/>
        </p:nvSpPr>
        <p:spPr>
          <a:xfrm>
            <a:off x="-1051560" y="3611880"/>
            <a:ext cx="2468880" cy="2468880"/>
          </a:xfrm>
          <a:prstGeom prst="ellipse">
            <a:avLst/>
          </a:prstGeom>
          <a:solidFill>
            <a:srgbClr val="000000">
              <a:alpha val="0"/>
            </a:srgbClr>
          </a:solidFill>
          <a:ln w="12700">
            <a:solidFill>
              <a:srgbClr val="5E6357"/>
            </a:solidFill>
            <a:prstDash val="solid"/>
          </a:ln>
        </p:spPr>
      </p:sp>
      <p:sp>
        <p:nvSpPr>
          <p:cNvPr id="18" name="Shape 15">
            <a:extLst>
              <a:ext uri="{FF2B5EF4-FFF2-40B4-BE49-F238E27FC236}">
                <a16:creationId xmlns:a16="http://schemas.microsoft.com/office/drawing/2014/main" id="{3665C3FF-1730-3497-3A09-C26648437970}"/>
              </a:ext>
            </a:extLst>
          </p:cNvPr>
          <p:cNvSpPr/>
          <p:nvPr/>
        </p:nvSpPr>
        <p:spPr>
          <a:xfrm>
            <a:off x="-640080" y="4023360"/>
            <a:ext cx="1645920" cy="1645920"/>
          </a:xfrm>
          <a:prstGeom prst="ellipse">
            <a:avLst/>
          </a:prstGeom>
          <a:solidFill>
            <a:srgbClr val="000000">
              <a:alpha val="0"/>
            </a:srgbClr>
          </a:solidFill>
          <a:ln w="12700">
            <a:solidFill>
              <a:srgbClr val="5E6357"/>
            </a:solidFill>
            <a:prstDash val="solid"/>
          </a:ln>
        </p:spPr>
      </p:sp>
      <p:sp>
        <p:nvSpPr>
          <p:cNvPr id="19" name="Shape 16">
            <a:extLst>
              <a:ext uri="{FF2B5EF4-FFF2-40B4-BE49-F238E27FC236}">
                <a16:creationId xmlns:a16="http://schemas.microsoft.com/office/drawing/2014/main" id="{4B757CC2-BD2D-AF22-CDD6-6ECAFAEBCF1A}"/>
              </a:ext>
            </a:extLst>
          </p:cNvPr>
          <p:cNvSpPr/>
          <p:nvPr/>
        </p:nvSpPr>
        <p:spPr>
          <a:xfrm>
            <a:off x="-228600" y="4434840"/>
            <a:ext cx="822960" cy="822960"/>
          </a:xfrm>
          <a:prstGeom prst="ellipse">
            <a:avLst/>
          </a:prstGeom>
          <a:solidFill>
            <a:srgbClr val="000000">
              <a:alpha val="0"/>
            </a:srgbClr>
          </a:solidFill>
          <a:ln w="12700">
            <a:solidFill>
              <a:srgbClr val="D9F201"/>
            </a:solidFill>
            <a:prstDash val="solid"/>
          </a:ln>
        </p:spPr>
      </p:sp>
      <p:sp>
        <p:nvSpPr>
          <p:cNvPr id="20" name="Shape 17">
            <a:extLst>
              <a:ext uri="{FF2B5EF4-FFF2-40B4-BE49-F238E27FC236}">
                <a16:creationId xmlns:a16="http://schemas.microsoft.com/office/drawing/2014/main" id="{80B3DB13-65EE-51CB-221E-6FF1A54C955D}"/>
              </a:ext>
            </a:extLst>
          </p:cNvPr>
          <p:cNvSpPr/>
          <p:nvPr/>
        </p:nvSpPr>
        <p:spPr>
          <a:xfrm rot="5400000">
            <a:off x="8321040" y="457200"/>
            <a:ext cx="411480" cy="411480"/>
          </a:xfrm>
          <a:prstGeom prst="triangle">
            <a:avLst/>
          </a:prstGeom>
          <a:solidFill>
            <a:srgbClr val="D9F201"/>
          </a:solidFill>
          <a:ln w="12700">
            <a:solidFill>
              <a:srgbClr val="D9F201"/>
            </a:solidFill>
            <a:prstDash val="solid"/>
          </a:ln>
        </p:spPr>
      </p:sp>
      <p:sp>
        <p:nvSpPr>
          <p:cNvPr id="21" name="Shape 18">
            <a:extLst>
              <a:ext uri="{FF2B5EF4-FFF2-40B4-BE49-F238E27FC236}">
                <a16:creationId xmlns:a16="http://schemas.microsoft.com/office/drawing/2014/main" id="{628CDB10-21FA-ADD4-D2BD-1FB44377EF03}"/>
              </a:ext>
            </a:extLst>
          </p:cNvPr>
          <p:cNvSpPr/>
          <p:nvPr/>
        </p:nvSpPr>
        <p:spPr>
          <a:xfrm>
            <a:off x="8138160" y="4206240"/>
            <a:ext cx="50292" cy="50292"/>
          </a:xfrm>
          <a:prstGeom prst="ellipse">
            <a:avLst/>
          </a:prstGeom>
          <a:solidFill>
            <a:srgbClr val="5E6357"/>
          </a:solidFill>
          <a:ln w="12700">
            <a:solidFill>
              <a:srgbClr val="5E6357"/>
            </a:solidFill>
            <a:prstDash val="solid"/>
          </a:ln>
        </p:spPr>
      </p:sp>
      <p:sp>
        <p:nvSpPr>
          <p:cNvPr id="22" name="Shape 19">
            <a:extLst>
              <a:ext uri="{FF2B5EF4-FFF2-40B4-BE49-F238E27FC236}">
                <a16:creationId xmlns:a16="http://schemas.microsoft.com/office/drawing/2014/main" id="{62C15C3A-6651-3D47-1FE9-B8DA004AE35B}"/>
              </a:ext>
            </a:extLst>
          </p:cNvPr>
          <p:cNvSpPr/>
          <p:nvPr/>
        </p:nvSpPr>
        <p:spPr>
          <a:xfrm>
            <a:off x="8270748" y="4206240"/>
            <a:ext cx="50292" cy="50292"/>
          </a:xfrm>
          <a:prstGeom prst="ellipse">
            <a:avLst/>
          </a:prstGeom>
          <a:solidFill>
            <a:srgbClr val="5E6357"/>
          </a:solidFill>
          <a:ln w="12700">
            <a:solidFill>
              <a:srgbClr val="5E6357"/>
            </a:solidFill>
            <a:prstDash val="solid"/>
          </a:ln>
        </p:spPr>
      </p:sp>
      <p:sp>
        <p:nvSpPr>
          <p:cNvPr id="23" name="Shape 20">
            <a:extLst>
              <a:ext uri="{FF2B5EF4-FFF2-40B4-BE49-F238E27FC236}">
                <a16:creationId xmlns:a16="http://schemas.microsoft.com/office/drawing/2014/main" id="{CFFEB573-B102-BBC8-26BB-E3B8D6B33D21}"/>
              </a:ext>
            </a:extLst>
          </p:cNvPr>
          <p:cNvSpPr/>
          <p:nvPr/>
        </p:nvSpPr>
        <p:spPr>
          <a:xfrm>
            <a:off x="8403336" y="4206240"/>
            <a:ext cx="50292" cy="50292"/>
          </a:xfrm>
          <a:prstGeom prst="ellipse">
            <a:avLst/>
          </a:prstGeom>
          <a:solidFill>
            <a:srgbClr val="5E6357"/>
          </a:solidFill>
          <a:ln w="12700">
            <a:solidFill>
              <a:srgbClr val="5E6357"/>
            </a:solidFill>
            <a:prstDash val="solid"/>
          </a:ln>
        </p:spPr>
      </p:sp>
      <p:sp>
        <p:nvSpPr>
          <p:cNvPr id="24" name="Shape 21">
            <a:extLst>
              <a:ext uri="{FF2B5EF4-FFF2-40B4-BE49-F238E27FC236}">
                <a16:creationId xmlns:a16="http://schemas.microsoft.com/office/drawing/2014/main" id="{79DC7812-A5E7-D227-1513-F0E150C4A890}"/>
              </a:ext>
            </a:extLst>
          </p:cNvPr>
          <p:cNvSpPr/>
          <p:nvPr/>
        </p:nvSpPr>
        <p:spPr>
          <a:xfrm>
            <a:off x="8535924" y="4206240"/>
            <a:ext cx="50292" cy="50292"/>
          </a:xfrm>
          <a:prstGeom prst="ellipse">
            <a:avLst/>
          </a:prstGeom>
          <a:solidFill>
            <a:srgbClr val="5E6357"/>
          </a:solidFill>
          <a:ln w="12700">
            <a:solidFill>
              <a:srgbClr val="5E6357"/>
            </a:solidFill>
            <a:prstDash val="solid"/>
          </a:ln>
        </p:spPr>
      </p:sp>
      <p:sp>
        <p:nvSpPr>
          <p:cNvPr id="25" name="Shape 22">
            <a:extLst>
              <a:ext uri="{FF2B5EF4-FFF2-40B4-BE49-F238E27FC236}">
                <a16:creationId xmlns:a16="http://schemas.microsoft.com/office/drawing/2014/main" id="{99B36AE3-BF95-5DF7-34E8-C5080F6575B1}"/>
              </a:ext>
            </a:extLst>
          </p:cNvPr>
          <p:cNvSpPr/>
          <p:nvPr/>
        </p:nvSpPr>
        <p:spPr>
          <a:xfrm>
            <a:off x="8138160" y="4338828"/>
            <a:ext cx="50292" cy="50292"/>
          </a:xfrm>
          <a:prstGeom prst="ellipse">
            <a:avLst/>
          </a:prstGeom>
          <a:solidFill>
            <a:srgbClr val="5E6357"/>
          </a:solidFill>
          <a:ln w="12700">
            <a:solidFill>
              <a:srgbClr val="5E6357"/>
            </a:solidFill>
            <a:prstDash val="solid"/>
          </a:ln>
        </p:spPr>
      </p:sp>
      <p:sp>
        <p:nvSpPr>
          <p:cNvPr id="26" name="Shape 23">
            <a:extLst>
              <a:ext uri="{FF2B5EF4-FFF2-40B4-BE49-F238E27FC236}">
                <a16:creationId xmlns:a16="http://schemas.microsoft.com/office/drawing/2014/main" id="{8C050E9A-9709-76BE-40A5-66582A9759E5}"/>
              </a:ext>
            </a:extLst>
          </p:cNvPr>
          <p:cNvSpPr/>
          <p:nvPr/>
        </p:nvSpPr>
        <p:spPr>
          <a:xfrm>
            <a:off x="8270748" y="4338828"/>
            <a:ext cx="50292" cy="50292"/>
          </a:xfrm>
          <a:prstGeom prst="ellipse">
            <a:avLst/>
          </a:prstGeom>
          <a:solidFill>
            <a:srgbClr val="5E6357"/>
          </a:solidFill>
          <a:ln w="12700">
            <a:solidFill>
              <a:srgbClr val="5E6357"/>
            </a:solidFill>
            <a:prstDash val="solid"/>
          </a:ln>
        </p:spPr>
      </p:sp>
      <p:sp>
        <p:nvSpPr>
          <p:cNvPr id="27" name="Shape 24">
            <a:extLst>
              <a:ext uri="{FF2B5EF4-FFF2-40B4-BE49-F238E27FC236}">
                <a16:creationId xmlns:a16="http://schemas.microsoft.com/office/drawing/2014/main" id="{C0A42A0B-8EF6-5249-4A64-07A9A3B58A77}"/>
              </a:ext>
            </a:extLst>
          </p:cNvPr>
          <p:cNvSpPr/>
          <p:nvPr/>
        </p:nvSpPr>
        <p:spPr>
          <a:xfrm>
            <a:off x="8403336" y="4338828"/>
            <a:ext cx="50292" cy="50292"/>
          </a:xfrm>
          <a:prstGeom prst="ellipse">
            <a:avLst/>
          </a:prstGeom>
          <a:solidFill>
            <a:srgbClr val="5E6357"/>
          </a:solidFill>
          <a:ln w="12700">
            <a:solidFill>
              <a:srgbClr val="5E6357"/>
            </a:solidFill>
            <a:prstDash val="solid"/>
          </a:ln>
        </p:spPr>
      </p:sp>
      <p:sp>
        <p:nvSpPr>
          <p:cNvPr id="28" name="Shape 25">
            <a:extLst>
              <a:ext uri="{FF2B5EF4-FFF2-40B4-BE49-F238E27FC236}">
                <a16:creationId xmlns:a16="http://schemas.microsoft.com/office/drawing/2014/main" id="{6C1FE21E-E25F-8228-8049-63F2144EC4CE}"/>
              </a:ext>
            </a:extLst>
          </p:cNvPr>
          <p:cNvSpPr/>
          <p:nvPr/>
        </p:nvSpPr>
        <p:spPr>
          <a:xfrm>
            <a:off x="8535924" y="4338828"/>
            <a:ext cx="50292" cy="50292"/>
          </a:xfrm>
          <a:prstGeom prst="ellipse">
            <a:avLst/>
          </a:prstGeom>
          <a:solidFill>
            <a:srgbClr val="5E6357"/>
          </a:solidFill>
          <a:ln w="12700">
            <a:solidFill>
              <a:srgbClr val="5E6357"/>
            </a:solidFill>
            <a:prstDash val="solid"/>
          </a:ln>
        </p:spPr>
      </p:sp>
      <p:sp>
        <p:nvSpPr>
          <p:cNvPr id="29" name="Shape 26">
            <a:extLst>
              <a:ext uri="{FF2B5EF4-FFF2-40B4-BE49-F238E27FC236}">
                <a16:creationId xmlns:a16="http://schemas.microsoft.com/office/drawing/2014/main" id="{F10D1204-734C-58FA-A27A-386E418CC6B9}"/>
              </a:ext>
            </a:extLst>
          </p:cNvPr>
          <p:cNvSpPr/>
          <p:nvPr/>
        </p:nvSpPr>
        <p:spPr>
          <a:xfrm>
            <a:off x="8138160" y="4471416"/>
            <a:ext cx="50292" cy="50292"/>
          </a:xfrm>
          <a:prstGeom prst="ellipse">
            <a:avLst/>
          </a:prstGeom>
          <a:solidFill>
            <a:srgbClr val="5E6357"/>
          </a:solidFill>
          <a:ln w="12700">
            <a:solidFill>
              <a:srgbClr val="5E6357"/>
            </a:solidFill>
            <a:prstDash val="solid"/>
          </a:ln>
        </p:spPr>
      </p:sp>
      <p:sp>
        <p:nvSpPr>
          <p:cNvPr id="30" name="Shape 27">
            <a:extLst>
              <a:ext uri="{FF2B5EF4-FFF2-40B4-BE49-F238E27FC236}">
                <a16:creationId xmlns:a16="http://schemas.microsoft.com/office/drawing/2014/main" id="{7B011644-3C88-C34E-3085-7622E9F7829A}"/>
              </a:ext>
            </a:extLst>
          </p:cNvPr>
          <p:cNvSpPr/>
          <p:nvPr/>
        </p:nvSpPr>
        <p:spPr>
          <a:xfrm>
            <a:off x="8270748" y="4471416"/>
            <a:ext cx="50292" cy="50292"/>
          </a:xfrm>
          <a:prstGeom prst="ellipse">
            <a:avLst/>
          </a:prstGeom>
          <a:solidFill>
            <a:srgbClr val="5E6357"/>
          </a:solidFill>
          <a:ln w="12700">
            <a:solidFill>
              <a:srgbClr val="5E6357"/>
            </a:solidFill>
            <a:prstDash val="solid"/>
          </a:ln>
        </p:spPr>
      </p:sp>
      <p:sp>
        <p:nvSpPr>
          <p:cNvPr id="31" name="Shape 28">
            <a:extLst>
              <a:ext uri="{FF2B5EF4-FFF2-40B4-BE49-F238E27FC236}">
                <a16:creationId xmlns:a16="http://schemas.microsoft.com/office/drawing/2014/main" id="{8756AC87-6C4F-A511-66AF-29F729937ED9}"/>
              </a:ext>
            </a:extLst>
          </p:cNvPr>
          <p:cNvSpPr/>
          <p:nvPr/>
        </p:nvSpPr>
        <p:spPr>
          <a:xfrm>
            <a:off x="8403336" y="4471416"/>
            <a:ext cx="50292" cy="50292"/>
          </a:xfrm>
          <a:prstGeom prst="ellipse">
            <a:avLst/>
          </a:prstGeom>
          <a:solidFill>
            <a:srgbClr val="5E6357"/>
          </a:solidFill>
          <a:ln w="12700">
            <a:solidFill>
              <a:srgbClr val="5E6357"/>
            </a:solidFill>
            <a:prstDash val="solid"/>
          </a:ln>
        </p:spPr>
      </p:sp>
      <p:sp>
        <p:nvSpPr>
          <p:cNvPr id="32" name="Shape 29">
            <a:extLst>
              <a:ext uri="{FF2B5EF4-FFF2-40B4-BE49-F238E27FC236}">
                <a16:creationId xmlns:a16="http://schemas.microsoft.com/office/drawing/2014/main" id="{3D1BDB2E-E967-A6C7-EB80-234824263BB8}"/>
              </a:ext>
            </a:extLst>
          </p:cNvPr>
          <p:cNvSpPr/>
          <p:nvPr/>
        </p:nvSpPr>
        <p:spPr>
          <a:xfrm>
            <a:off x="8535924" y="4471416"/>
            <a:ext cx="50292" cy="50292"/>
          </a:xfrm>
          <a:prstGeom prst="ellipse">
            <a:avLst/>
          </a:prstGeom>
          <a:solidFill>
            <a:srgbClr val="5E6357"/>
          </a:solidFill>
          <a:ln w="12700">
            <a:solidFill>
              <a:srgbClr val="5E6357"/>
            </a:solidFill>
            <a:prstDash val="solid"/>
          </a:ln>
        </p:spPr>
      </p:sp>
      <p:sp>
        <p:nvSpPr>
          <p:cNvPr id="34" name="Text 31">
            <a:extLst>
              <a:ext uri="{FF2B5EF4-FFF2-40B4-BE49-F238E27FC236}">
                <a16:creationId xmlns:a16="http://schemas.microsoft.com/office/drawing/2014/main" id="{AEF3419A-6BED-2778-2EBC-500526A15F06}"/>
              </a:ext>
            </a:extLst>
          </p:cNvPr>
          <p:cNvSpPr txBox="1"/>
          <p:nvPr/>
        </p:nvSpPr>
        <p:spPr>
          <a:xfrm>
            <a:off x="2514600" y="1874520"/>
            <a:ext cx="5760720" cy="685800"/>
          </a:xfrm>
          <a:prstGeom prst="rect">
            <a:avLst/>
          </a:prstGeom>
          <a:noFill/>
          <a:ln/>
        </p:spPr>
        <p:txBody>
          <a:bodyPr wrap="square" lIns="0" tIns="0" rIns="0" bIns="0" rtlCol="0" anchor="ctr"/>
          <a:lstStyle/>
          <a:p>
            <a:pPr marL="0" indent="0">
              <a:buNone/>
            </a:pPr>
            <a:r>
              <a:rPr lang="en-US" sz="3600" b="1" dirty="0">
                <a:solidFill>
                  <a:srgbClr val="D9F200"/>
                </a:solidFill>
                <a:latin typeface="Arial" pitchFamily="34" charset="0"/>
                <a:ea typeface="Arial" pitchFamily="34" charset="-122"/>
                <a:cs typeface="Arial" pitchFamily="34" charset="-120"/>
              </a:rPr>
              <a:t>CONCURRENCY</a:t>
            </a:r>
            <a:endParaRPr lang="en-US" sz="3600" dirty="0">
              <a:solidFill>
                <a:srgbClr val="D9F200"/>
              </a:solidFill>
            </a:endParaRPr>
          </a:p>
        </p:txBody>
      </p:sp>
      <p:sp>
        <p:nvSpPr>
          <p:cNvPr id="35" name="Text 32">
            <a:extLst>
              <a:ext uri="{FF2B5EF4-FFF2-40B4-BE49-F238E27FC236}">
                <a16:creationId xmlns:a16="http://schemas.microsoft.com/office/drawing/2014/main" id="{564BEE8C-DE39-541A-FDBD-F30A4D0ADEA0}"/>
              </a:ext>
            </a:extLst>
          </p:cNvPr>
          <p:cNvSpPr txBox="1"/>
          <p:nvPr/>
        </p:nvSpPr>
        <p:spPr>
          <a:xfrm>
            <a:off x="2542032" y="2578608"/>
            <a:ext cx="5760720" cy="320040"/>
          </a:xfrm>
          <a:prstGeom prst="rect">
            <a:avLst/>
          </a:prstGeom>
          <a:noFill/>
          <a:ln/>
        </p:spPr>
        <p:txBody>
          <a:bodyPr wrap="square" lIns="0" tIns="0" rIns="0" bIns="0" rtlCol="0" anchor="ctr"/>
          <a:lstStyle/>
          <a:p>
            <a:r>
              <a:rPr lang="en-US" sz="1600" dirty="0">
                <a:solidFill>
                  <a:srgbClr val="9AA095"/>
                </a:solidFill>
                <a:latin typeface="Arial" pitchFamily="34" charset="0"/>
                <a:ea typeface="Arial" pitchFamily="34" charset="-122"/>
                <a:cs typeface="Arial" pitchFamily="34" charset="-120"/>
              </a:rPr>
              <a:t>Dealing with many things at once</a:t>
            </a:r>
            <a:endParaRPr lang="en-US" sz="1600" dirty="0"/>
          </a:p>
        </p:txBody>
      </p:sp>
    </p:spTree>
    <p:extLst>
      <p:ext uri="{BB962C8B-B14F-4D97-AF65-F5344CB8AC3E}">
        <p14:creationId xmlns:p14="http://schemas.microsoft.com/office/powerpoint/2010/main" val="437638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0DF14BE-98D9-D8B0-E471-122AE6D4FB54}"/>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CF7EEB3C-73D9-88DC-E32B-7DDAB2661A93}"/>
              </a:ext>
            </a:extLst>
          </p:cNvPr>
          <p:cNvSpPr/>
          <p:nvPr/>
        </p:nvSpPr>
        <p:spPr>
          <a:xfrm rot="2700000">
            <a:off x="-137160" y="-91440"/>
            <a:ext cx="23774" cy="502920"/>
          </a:xfrm>
          <a:prstGeom prst="rect">
            <a:avLst/>
          </a:prstGeom>
          <a:solidFill>
            <a:srgbClr val="FFFFFF"/>
          </a:solidFill>
          <a:ln w="12700">
            <a:solidFill>
              <a:srgbClr val="FFFFFF"/>
            </a:solidFill>
            <a:prstDash val="solid"/>
          </a:ln>
        </p:spPr>
      </p:sp>
      <p:sp>
        <p:nvSpPr>
          <p:cNvPr id="4" name="Shape 1">
            <a:extLst>
              <a:ext uri="{FF2B5EF4-FFF2-40B4-BE49-F238E27FC236}">
                <a16:creationId xmlns:a16="http://schemas.microsoft.com/office/drawing/2014/main" id="{7AECAB8A-D8AA-1324-5382-9E111F464456}"/>
              </a:ext>
            </a:extLst>
          </p:cNvPr>
          <p:cNvSpPr/>
          <p:nvPr/>
        </p:nvSpPr>
        <p:spPr>
          <a:xfrm rot="2700000">
            <a:off x="-68580" y="-91440"/>
            <a:ext cx="23774" cy="502920"/>
          </a:xfrm>
          <a:prstGeom prst="rect">
            <a:avLst/>
          </a:prstGeom>
          <a:solidFill>
            <a:srgbClr val="FFFFFF"/>
          </a:solidFill>
          <a:ln w="12700">
            <a:solidFill>
              <a:srgbClr val="FFFFFF"/>
            </a:solidFill>
            <a:prstDash val="solid"/>
          </a:ln>
        </p:spPr>
      </p:sp>
      <p:sp>
        <p:nvSpPr>
          <p:cNvPr id="5" name="Shape 2">
            <a:extLst>
              <a:ext uri="{FF2B5EF4-FFF2-40B4-BE49-F238E27FC236}">
                <a16:creationId xmlns:a16="http://schemas.microsoft.com/office/drawing/2014/main" id="{456DA67E-6884-1491-BD25-1A011D2DD5B8}"/>
              </a:ext>
            </a:extLst>
          </p:cNvPr>
          <p:cNvSpPr/>
          <p:nvPr/>
        </p:nvSpPr>
        <p:spPr>
          <a:xfrm rot="2700000">
            <a:off x="0" y="-91440"/>
            <a:ext cx="23774" cy="502920"/>
          </a:xfrm>
          <a:prstGeom prst="rect">
            <a:avLst/>
          </a:prstGeom>
          <a:solidFill>
            <a:srgbClr val="FFFFFF"/>
          </a:solidFill>
          <a:ln w="12700">
            <a:solidFill>
              <a:srgbClr val="FFFFFF"/>
            </a:solidFill>
            <a:prstDash val="solid"/>
          </a:ln>
        </p:spPr>
      </p:sp>
      <p:sp>
        <p:nvSpPr>
          <p:cNvPr id="6" name="Shape 3">
            <a:extLst>
              <a:ext uri="{FF2B5EF4-FFF2-40B4-BE49-F238E27FC236}">
                <a16:creationId xmlns:a16="http://schemas.microsoft.com/office/drawing/2014/main" id="{EF72112B-AB1B-3D3C-2AAC-02516FFA1CC1}"/>
              </a:ext>
            </a:extLst>
          </p:cNvPr>
          <p:cNvSpPr/>
          <p:nvPr/>
        </p:nvSpPr>
        <p:spPr>
          <a:xfrm rot="2700000">
            <a:off x="68580" y="-91440"/>
            <a:ext cx="23774" cy="502920"/>
          </a:xfrm>
          <a:prstGeom prst="rect">
            <a:avLst/>
          </a:prstGeom>
          <a:solidFill>
            <a:srgbClr val="FFFFFF"/>
          </a:solidFill>
          <a:ln w="12700">
            <a:solidFill>
              <a:srgbClr val="FFFFFF"/>
            </a:solidFill>
            <a:prstDash val="solid"/>
          </a:ln>
        </p:spPr>
      </p:sp>
      <p:sp>
        <p:nvSpPr>
          <p:cNvPr id="7" name="Shape 4">
            <a:extLst>
              <a:ext uri="{FF2B5EF4-FFF2-40B4-BE49-F238E27FC236}">
                <a16:creationId xmlns:a16="http://schemas.microsoft.com/office/drawing/2014/main" id="{580FED62-ACC5-E2E1-81F5-8E04D4BD21C3}"/>
              </a:ext>
            </a:extLst>
          </p:cNvPr>
          <p:cNvSpPr/>
          <p:nvPr/>
        </p:nvSpPr>
        <p:spPr>
          <a:xfrm rot="2700000">
            <a:off x="137160" y="-91440"/>
            <a:ext cx="23774" cy="502920"/>
          </a:xfrm>
          <a:prstGeom prst="rect">
            <a:avLst/>
          </a:prstGeom>
          <a:solidFill>
            <a:srgbClr val="FFFFFF"/>
          </a:solidFill>
          <a:ln w="12700">
            <a:solidFill>
              <a:srgbClr val="FFFFFF"/>
            </a:solidFill>
            <a:prstDash val="solid"/>
          </a:ln>
        </p:spPr>
      </p:sp>
      <p:sp>
        <p:nvSpPr>
          <p:cNvPr id="8" name="Shape 5">
            <a:extLst>
              <a:ext uri="{FF2B5EF4-FFF2-40B4-BE49-F238E27FC236}">
                <a16:creationId xmlns:a16="http://schemas.microsoft.com/office/drawing/2014/main" id="{2EFB1262-4188-1DFA-3D5E-B221BEA618FD}"/>
              </a:ext>
            </a:extLst>
          </p:cNvPr>
          <p:cNvSpPr/>
          <p:nvPr/>
        </p:nvSpPr>
        <p:spPr>
          <a:xfrm rot="2700000">
            <a:off x="205740" y="-91440"/>
            <a:ext cx="23774" cy="502920"/>
          </a:xfrm>
          <a:prstGeom prst="rect">
            <a:avLst/>
          </a:prstGeom>
          <a:solidFill>
            <a:srgbClr val="FFFFFF"/>
          </a:solidFill>
          <a:ln w="12700">
            <a:solidFill>
              <a:srgbClr val="FFFFFF"/>
            </a:solidFill>
            <a:prstDash val="solid"/>
          </a:ln>
        </p:spPr>
      </p:sp>
      <p:sp>
        <p:nvSpPr>
          <p:cNvPr id="9" name="Shape 6">
            <a:extLst>
              <a:ext uri="{FF2B5EF4-FFF2-40B4-BE49-F238E27FC236}">
                <a16:creationId xmlns:a16="http://schemas.microsoft.com/office/drawing/2014/main" id="{C9A4F39D-6FE8-E062-4884-0874AE211B82}"/>
              </a:ext>
            </a:extLst>
          </p:cNvPr>
          <p:cNvSpPr/>
          <p:nvPr/>
        </p:nvSpPr>
        <p:spPr>
          <a:xfrm rot="2700000">
            <a:off x="274320" y="-91440"/>
            <a:ext cx="23774" cy="502920"/>
          </a:xfrm>
          <a:prstGeom prst="rect">
            <a:avLst/>
          </a:prstGeom>
          <a:solidFill>
            <a:srgbClr val="FFFFFF"/>
          </a:solidFill>
          <a:ln w="12700">
            <a:solidFill>
              <a:srgbClr val="FFFFFF"/>
            </a:solidFill>
            <a:prstDash val="solid"/>
          </a:ln>
        </p:spPr>
      </p:sp>
      <p:sp>
        <p:nvSpPr>
          <p:cNvPr id="10" name="Shape 7">
            <a:extLst>
              <a:ext uri="{FF2B5EF4-FFF2-40B4-BE49-F238E27FC236}">
                <a16:creationId xmlns:a16="http://schemas.microsoft.com/office/drawing/2014/main" id="{51D3644D-AEB9-E8CF-BAEB-824F52D4D416}"/>
              </a:ext>
            </a:extLst>
          </p:cNvPr>
          <p:cNvSpPr/>
          <p:nvPr/>
        </p:nvSpPr>
        <p:spPr>
          <a:xfrm rot="2700000">
            <a:off x="342900" y="-91440"/>
            <a:ext cx="23774" cy="502920"/>
          </a:xfrm>
          <a:prstGeom prst="rect">
            <a:avLst/>
          </a:prstGeom>
          <a:solidFill>
            <a:srgbClr val="FFFFFF"/>
          </a:solidFill>
          <a:ln w="12700">
            <a:solidFill>
              <a:srgbClr val="FFFFFF"/>
            </a:solidFill>
            <a:prstDash val="solid"/>
          </a:ln>
        </p:spPr>
      </p:sp>
      <p:sp>
        <p:nvSpPr>
          <p:cNvPr id="11" name="Shape 8">
            <a:extLst>
              <a:ext uri="{FF2B5EF4-FFF2-40B4-BE49-F238E27FC236}">
                <a16:creationId xmlns:a16="http://schemas.microsoft.com/office/drawing/2014/main" id="{2D698967-FFC9-6381-A436-254C2B095669}"/>
              </a:ext>
            </a:extLst>
          </p:cNvPr>
          <p:cNvSpPr/>
          <p:nvPr/>
        </p:nvSpPr>
        <p:spPr>
          <a:xfrm rot="2700000">
            <a:off x="411480" y="-91440"/>
            <a:ext cx="23774" cy="502920"/>
          </a:xfrm>
          <a:prstGeom prst="rect">
            <a:avLst/>
          </a:prstGeom>
          <a:solidFill>
            <a:srgbClr val="FFFFFF"/>
          </a:solidFill>
          <a:ln w="12700">
            <a:solidFill>
              <a:srgbClr val="FFFFFF"/>
            </a:solidFill>
            <a:prstDash val="solid"/>
          </a:ln>
        </p:spPr>
      </p:sp>
      <p:sp>
        <p:nvSpPr>
          <p:cNvPr id="12" name="Shape 9">
            <a:extLst>
              <a:ext uri="{FF2B5EF4-FFF2-40B4-BE49-F238E27FC236}">
                <a16:creationId xmlns:a16="http://schemas.microsoft.com/office/drawing/2014/main" id="{CEF2A503-71C9-BF0C-82A2-401C26B22713}"/>
              </a:ext>
            </a:extLst>
          </p:cNvPr>
          <p:cNvSpPr/>
          <p:nvPr/>
        </p:nvSpPr>
        <p:spPr>
          <a:xfrm rot="2700000">
            <a:off x="480060" y="-91440"/>
            <a:ext cx="23774" cy="502920"/>
          </a:xfrm>
          <a:prstGeom prst="rect">
            <a:avLst/>
          </a:prstGeom>
          <a:solidFill>
            <a:srgbClr val="FFFFFF"/>
          </a:solidFill>
          <a:ln w="12700">
            <a:solidFill>
              <a:srgbClr val="FFFFFF"/>
            </a:solidFill>
            <a:prstDash val="solid"/>
          </a:ln>
        </p:spPr>
      </p:sp>
      <p:sp>
        <p:nvSpPr>
          <p:cNvPr id="13" name="Shape 10">
            <a:extLst>
              <a:ext uri="{FF2B5EF4-FFF2-40B4-BE49-F238E27FC236}">
                <a16:creationId xmlns:a16="http://schemas.microsoft.com/office/drawing/2014/main" id="{69EEC8CB-B330-9EC2-5DD5-81FD5BE57E94}"/>
              </a:ext>
            </a:extLst>
          </p:cNvPr>
          <p:cNvSpPr/>
          <p:nvPr/>
        </p:nvSpPr>
        <p:spPr>
          <a:xfrm rot="2700000">
            <a:off x="548640" y="-91440"/>
            <a:ext cx="23774" cy="502920"/>
          </a:xfrm>
          <a:prstGeom prst="rect">
            <a:avLst/>
          </a:prstGeom>
          <a:solidFill>
            <a:srgbClr val="FFFFFF"/>
          </a:solidFill>
          <a:ln w="12700">
            <a:solidFill>
              <a:srgbClr val="FFFFFF"/>
            </a:solidFill>
            <a:prstDash val="solid"/>
          </a:ln>
        </p:spPr>
      </p:sp>
      <p:sp>
        <p:nvSpPr>
          <p:cNvPr id="14" name="Shape 11">
            <a:extLst>
              <a:ext uri="{FF2B5EF4-FFF2-40B4-BE49-F238E27FC236}">
                <a16:creationId xmlns:a16="http://schemas.microsoft.com/office/drawing/2014/main" id="{44C2717D-F666-1186-CABD-9A458AC0879F}"/>
              </a:ext>
            </a:extLst>
          </p:cNvPr>
          <p:cNvSpPr/>
          <p:nvPr/>
        </p:nvSpPr>
        <p:spPr>
          <a:xfrm rot="2700000">
            <a:off x="617220" y="-91440"/>
            <a:ext cx="23774" cy="502920"/>
          </a:xfrm>
          <a:prstGeom prst="rect">
            <a:avLst/>
          </a:prstGeom>
          <a:solidFill>
            <a:srgbClr val="FFFFFF"/>
          </a:solidFill>
          <a:ln w="12700">
            <a:solidFill>
              <a:srgbClr val="FFFFFF"/>
            </a:solidFill>
            <a:prstDash val="solid"/>
          </a:ln>
        </p:spPr>
      </p:sp>
      <p:sp>
        <p:nvSpPr>
          <p:cNvPr id="15" name="Shape 12">
            <a:extLst>
              <a:ext uri="{FF2B5EF4-FFF2-40B4-BE49-F238E27FC236}">
                <a16:creationId xmlns:a16="http://schemas.microsoft.com/office/drawing/2014/main" id="{FD538616-330D-604E-08F2-98154568C3DB}"/>
              </a:ext>
            </a:extLst>
          </p:cNvPr>
          <p:cNvSpPr/>
          <p:nvPr/>
        </p:nvSpPr>
        <p:spPr>
          <a:xfrm rot="2700000">
            <a:off x="685800" y="-91440"/>
            <a:ext cx="23774" cy="502920"/>
          </a:xfrm>
          <a:prstGeom prst="rect">
            <a:avLst/>
          </a:prstGeom>
          <a:solidFill>
            <a:srgbClr val="FFFFFF"/>
          </a:solidFill>
          <a:ln w="12700">
            <a:solidFill>
              <a:srgbClr val="FFFFFF"/>
            </a:solidFill>
            <a:prstDash val="solid"/>
          </a:ln>
        </p:spPr>
      </p:sp>
      <p:sp>
        <p:nvSpPr>
          <p:cNvPr id="16" name="Shape 13">
            <a:extLst>
              <a:ext uri="{FF2B5EF4-FFF2-40B4-BE49-F238E27FC236}">
                <a16:creationId xmlns:a16="http://schemas.microsoft.com/office/drawing/2014/main" id="{14C40FD4-55A8-2872-A99B-F9C72A7FB65E}"/>
              </a:ext>
            </a:extLst>
          </p:cNvPr>
          <p:cNvSpPr/>
          <p:nvPr/>
        </p:nvSpPr>
        <p:spPr>
          <a:xfrm>
            <a:off x="-1408768" y="3206537"/>
            <a:ext cx="3291840" cy="3291840"/>
          </a:xfrm>
          <a:prstGeom prst="ellipse">
            <a:avLst/>
          </a:prstGeom>
          <a:solidFill>
            <a:srgbClr val="000000">
              <a:alpha val="0"/>
            </a:srgbClr>
          </a:solidFill>
          <a:ln w="12700">
            <a:solidFill>
              <a:srgbClr val="5E6357"/>
            </a:solidFill>
            <a:prstDash val="solid"/>
          </a:ln>
        </p:spPr>
      </p:sp>
      <p:sp>
        <p:nvSpPr>
          <p:cNvPr id="17" name="Shape 14">
            <a:extLst>
              <a:ext uri="{FF2B5EF4-FFF2-40B4-BE49-F238E27FC236}">
                <a16:creationId xmlns:a16="http://schemas.microsoft.com/office/drawing/2014/main" id="{103E0CC5-F620-1B5D-987D-F91C4C662A68}"/>
              </a:ext>
            </a:extLst>
          </p:cNvPr>
          <p:cNvSpPr/>
          <p:nvPr/>
        </p:nvSpPr>
        <p:spPr>
          <a:xfrm>
            <a:off x="-1051560" y="3611880"/>
            <a:ext cx="2468880" cy="2468880"/>
          </a:xfrm>
          <a:prstGeom prst="ellipse">
            <a:avLst/>
          </a:prstGeom>
          <a:solidFill>
            <a:srgbClr val="000000">
              <a:alpha val="0"/>
            </a:srgbClr>
          </a:solidFill>
          <a:ln w="12700">
            <a:solidFill>
              <a:srgbClr val="5E6357"/>
            </a:solidFill>
            <a:prstDash val="solid"/>
          </a:ln>
        </p:spPr>
      </p:sp>
      <p:sp>
        <p:nvSpPr>
          <p:cNvPr id="18" name="Shape 15">
            <a:extLst>
              <a:ext uri="{FF2B5EF4-FFF2-40B4-BE49-F238E27FC236}">
                <a16:creationId xmlns:a16="http://schemas.microsoft.com/office/drawing/2014/main" id="{7967BB42-0949-5DD8-1592-1050F4589C72}"/>
              </a:ext>
            </a:extLst>
          </p:cNvPr>
          <p:cNvSpPr/>
          <p:nvPr/>
        </p:nvSpPr>
        <p:spPr>
          <a:xfrm>
            <a:off x="-640080" y="4023360"/>
            <a:ext cx="1645920" cy="1645920"/>
          </a:xfrm>
          <a:prstGeom prst="ellipse">
            <a:avLst/>
          </a:prstGeom>
          <a:solidFill>
            <a:srgbClr val="000000">
              <a:alpha val="0"/>
            </a:srgbClr>
          </a:solidFill>
          <a:ln w="12700">
            <a:solidFill>
              <a:srgbClr val="5E6357"/>
            </a:solidFill>
            <a:prstDash val="solid"/>
          </a:ln>
        </p:spPr>
      </p:sp>
      <p:sp>
        <p:nvSpPr>
          <p:cNvPr id="19" name="Shape 16">
            <a:extLst>
              <a:ext uri="{FF2B5EF4-FFF2-40B4-BE49-F238E27FC236}">
                <a16:creationId xmlns:a16="http://schemas.microsoft.com/office/drawing/2014/main" id="{A595A064-03DC-408D-8830-4D12DBB41C05}"/>
              </a:ext>
            </a:extLst>
          </p:cNvPr>
          <p:cNvSpPr/>
          <p:nvPr/>
        </p:nvSpPr>
        <p:spPr>
          <a:xfrm>
            <a:off x="-228600" y="4434840"/>
            <a:ext cx="822960" cy="822960"/>
          </a:xfrm>
          <a:prstGeom prst="ellipse">
            <a:avLst/>
          </a:prstGeom>
          <a:solidFill>
            <a:srgbClr val="000000">
              <a:alpha val="0"/>
            </a:srgbClr>
          </a:solidFill>
          <a:ln w="12700">
            <a:solidFill>
              <a:srgbClr val="D9F201"/>
            </a:solidFill>
            <a:prstDash val="solid"/>
          </a:ln>
        </p:spPr>
      </p:sp>
      <p:sp>
        <p:nvSpPr>
          <p:cNvPr id="20" name="Shape 17">
            <a:extLst>
              <a:ext uri="{FF2B5EF4-FFF2-40B4-BE49-F238E27FC236}">
                <a16:creationId xmlns:a16="http://schemas.microsoft.com/office/drawing/2014/main" id="{F1347679-4A6B-14B3-B2DA-3D6CC023391E}"/>
              </a:ext>
            </a:extLst>
          </p:cNvPr>
          <p:cNvSpPr/>
          <p:nvPr/>
        </p:nvSpPr>
        <p:spPr>
          <a:xfrm rot="5400000">
            <a:off x="8321040" y="457200"/>
            <a:ext cx="411480" cy="411480"/>
          </a:xfrm>
          <a:prstGeom prst="triangle">
            <a:avLst/>
          </a:prstGeom>
          <a:solidFill>
            <a:srgbClr val="D9F201"/>
          </a:solidFill>
          <a:ln w="12700">
            <a:solidFill>
              <a:srgbClr val="D9F201"/>
            </a:solidFill>
            <a:prstDash val="solid"/>
          </a:ln>
        </p:spPr>
      </p:sp>
      <p:sp>
        <p:nvSpPr>
          <p:cNvPr id="21" name="Shape 18">
            <a:extLst>
              <a:ext uri="{FF2B5EF4-FFF2-40B4-BE49-F238E27FC236}">
                <a16:creationId xmlns:a16="http://schemas.microsoft.com/office/drawing/2014/main" id="{0BE76D25-4776-5F99-C1A3-36B77E71CD6C}"/>
              </a:ext>
            </a:extLst>
          </p:cNvPr>
          <p:cNvSpPr/>
          <p:nvPr/>
        </p:nvSpPr>
        <p:spPr>
          <a:xfrm>
            <a:off x="8138160" y="4206240"/>
            <a:ext cx="50292" cy="50292"/>
          </a:xfrm>
          <a:prstGeom prst="ellipse">
            <a:avLst/>
          </a:prstGeom>
          <a:solidFill>
            <a:srgbClr val="5E6357"/>
          </a:solidFill>
          <a:ln w="12700">
            <a:solidFill>
              <a:srgbClr val="5E6357"/>
            </a:solidFill>
            <a:prstDash val="solid"/>
          </a:ln>
        </p:spPr>
      </p:sp>
      <p:sp>
        <p:nvSpPr>
          <p:cNvPr id="22" name="Shape 19">
            <a:extLst>
              <a:ext uri="{FF2B5EF4-FFF2-40B4-BE49-F238E27FC236}">
                <a16:creationId xmlns:a16="http://schemas.microsoft.com/office/drawing/2014/main" id="{FBDFB569-43E0-C78B-5955-19A41641D725}"/>
              </a:ext>
            </a:extLst>
          </p:cNvPr>
          <p:cNvSpPr/>
          <p:nvPr/>
        </p:nvSpPr>
        <p:spPr>
          <a:xfrm>
            <a:off x="8270748" y="4206240"/>
            <a:ext cx="50292" cy="50292"/>
          </a:xfrm>
          <a:prstGeom prst="ellipse">
            <a:avLst/>
          </a:prstGeom>
          <a:solidFill>
            <a:srgbClr val="5E6357"/>
          </a:solidFill>
          <a:ln w="12700">
            <a:solidFill>
              <a:srgbClr val="5E6357"/>
            </a:solidFill>
            <a:prstDash val="solid"/>
          </a:ln>
        </p:spPr>
      </p:sp>
      <p:sp>
        <p:nvSpPr>
          <p:cNvPr id="23" name="Shape 20">
            <a:extLst>
              <a:ext uri="{FF2B5EF4-FFF2-40B4-BE49-F238E27FC236}">
                <a16:creationId xmlns:a16="http://schemas.microsoft.com/office/drawing/2014/main" id="{CC5EED7F-E190-0B40-EB35-B39B3C2013B5}"/>
              </a:ext>
            </a:extLst>
          </p:cNvPr>
          <p:cNvSpPr/>
          <p:nvPr/>
        </p:nvSpPr>
        <p:spPr>
          <a:xfrm>
            <a:off x="8403336" y="4206240"/>
            <a:ext cx="50292" cy="50292"/>
          </a:xfrm>
          <a:prstGeom prst="ellipse">
            <a:avLst/>
          </a:prstGeom>
          <a:solidFill>
            <a:srgbClr val="5E6357"/>
          </a:solidFill>
          <a:ln w="12700">
            <a:solidFill>
              <a:srgbClr val="5E6357"/>
            </a:solidFill>
            <a:prstDash val="solid"/>
          </a:ln>
        </p:spPr>
      </p:sp>
      <p:sp>
        <p:nvSpPr>
          <p:cNvPr id="24" name="Shape 21">
            <a:extLst>
              <a:ext uri="{FF2B5EF4-FFF2-40B4-BE49-F238E27FC236}">
                <a16:creationId xmlns:a16="http://schemas.microsoft.com/office/drawing/2014/main" id="{284D67EA-EA27-5ADA-7F6F-F4FCE0A1468B}"/>
              </a:ext>
            </a:extLst>
          </p:cNvPr>
          <p:cNvSpPr/>
          <p:nvPr/>
        </p:nvSpPr>
        <p:spPr>
          <a:xfrm>
            <a:off x="8535924" y="4206240"/>
            <a:ext cx="50292" cy="50292"/>
          </a:xfrm>
          <a:prstGeom prst="ellipse">
            <a:avLst/>
          </a:prstGeom>
          <a:solidFill>
            <a:srgbClr val="5E6357"/>
          </a:solidFill>
          <a:ln w="12700">
            <a:solidFill>
              <a:srgbClr val="5E6357"/>
            </a:solidFill>
            <a:prstDash val="solid"/>
          </a:ln>
        </p:spPr>
      </p:sp>
      <p:sp>
        <p:nvSpPr>
          <p:cNvPr id="25" name="Shape 22">
            <a:extLst>
              <a:ext uri="{FF2B5EF4-FFF2-40B4-BE49-F238E27FC236}">
                <a16:creationId xmlns:a16="http://schemas.microsoft.com/office/drawing/2014/main" id="{832EF701-3427-A72E-E1F2-8AF532D5594B}"/>
              </a:ext>
            </a:extLst>
          </p:cNvPr>
          <p:cNvSpPr/>
          <p:nvPr/>
        </p:nvSpPr>
        <p:spPr>
          <a:xfrm>
            <a:off x="8138160" y="4338828"/>
            <a:ext cx="50292" cy="50292"/>
          </a:xfrm>
          <a:prstGeom prst="ellipse">
            <a:avLst/>
          </a:prstGeom>
          <a:solidFill>
            <a:srgbClr val="5E6357"/>
          </a:solidFill>
          <a:ln w="12700">
            <a:solidFill>
              <a:srgbClr val="5E6357"/>
            </a:solidFill>
            <a:prstDash val="solid"/>
          </a:ln>
        </p:spPr>
      </p:sp>
      <p:sp>
        <p:nvSpPr>
          <p:cNvPr id="26" name="Shape 23">
            <a:extLst>
              <a:ext uri="{FF2B5EF4-FFF2-40B4-BE49-F238E27FC236}">
                <a16:creationId xmlns:a16="http://schemas.microsoft.com/office/drawing/2014/main" id="{09ED489E-E99C-9555-78B1-D4A0B9D8CD26}"/>
              </a:ext>
            </a:extLst>
          </p:cNvPr>
          <p:cNvSpPr/>
          <p:nvPr/>
        </p:nvSpPr>
        <p:spPr>
          <a:xfrm>
            <a:off x="8270748" y="4338828"/>
            <a:ext cx="50292" cy="50292"/>
          </a:xfrm>
          <a:prstGeom prst="ellipse">
            <a:avLst/>
          </a:prstGeom>
          <a:solidFill>
            <a:srgbClr val="5E6357"/>
          </a:solidFill>
          <a:ln w="12700">
            <a:solidFill>
              <a:srgbClr val="5E6357"/>
            </a:solidFill>
            <a:prstDash val="solid"/>
          </a:ln>
        </p:spPr>
      </p:sp>
      <p:sp>
        <p:nvSpPr>
          <p:cNvPr id="27" name="Shape 24">
            <a:extLst>
              <a:ext uri="{FF2B5EF4-FFF2-40B4-BE49-F238E27FC236}">
                <a16:creationId xmlns:a16="http://schemas.microsoft.com/office/drawing/2014/main" id="{CD4432BA-61A0-1815-A2F7-365A42E33EA6}"/>
              </a:ext>
            </a:extLst>
          </p:cNvPr>
          <p:cNvSpPr/>
          <p:nvPr/>
        </p:nvSpPr>
        <p:spPr>
          <a:xfrm>
            <a:off x="8403336" y="4338828"/>
            <a:ext cx="50292" cy="50292"/>
          </a:xfrm>
          <a:prstGeom prst="ellipse">
            <a:avLst/>
          </a:prstGeom>
          <a:solidFill>
            <a:srgbClr val="5E6357"/>
          </a:solidFill>
          <a:ln w="12700">
            <a:solidFill>
              <a:srgbClr val="5E6357"/>
            </a:solidFill>
            <a:prstDash val="solid"/>
          </a:ln>
        </p:spPr>
      </p:sp>
      <p:sp>
        <p:nvSpPr>
          <p:cNvPr id="28" name="Shape 25">
            <a:extLst>
              <a:ext uri="{FF2B5EF4-FFF2-40B4-BE49-F238E27FC236}">
                <a16:creationId xmlns:a16="http://schemas.microsoft.com/office/drawing/2014/main" id="{7E622A9E-C44D-FA23-F552-4E482661C645}"/>
              </a:ext>
            </a:extLst>
          </p:cNvPr>
          <p:cNvSpPr/>
          <p:nvPr/>
        </p:nvSpPr>
        <p:spPr>
          <a:xfrm>
            <a:off x="8535924" y="4338828"/>
            <a:ext cx="50292" cy="50292"/>
          </a:xfrm>
          <a:prstGeom prst="ellipse">
            <a:avLst/>
          </a:prstGeom>
          <a:solidFill>
            <a:srgbClr val="5E6357"/>
          </a:solidFill>
          <a:ln w="12700">
            <a:solidFill>
              <a:srgbClr val="5E6357"/>
            </a:solidFill>
            <a:prstDash val="solid"/>
          </a:ln>
        </p:spPr>
      </p:sp>
      <p:sp>
        <p:nvSpPr>
          <p:cNvPr id="29" name="Shape 26">
            <a:extLst>
              <a:ext uri="{FF2B5EF4-FFF2-40B4-BE49-F238E27FC236}">
                <a16:creationId xmlns:a16="http://schemas.microsoft.com/office/drawing/2014/main" id="{6FC6948D-FB43-FB28-9A6D-7D68A001B64B}"/>
              </a:ext>
            </a:extLst>
          </p:cNvPr>
          <p:cNvSpPr/>
          <p:nvPr/>
        </p:nvSpPr>
        <p:spPr>
          <a:xfrm>
            <a:off x="8138160" y="4471416"/>
            <a:ext cx="50292" cy="50292"/>
          </a:xfrm>
          <a:prstGeom prst="ellipse">
            <a:avLst/>
          </a:prstGeom>
          <a:solidFill>
            <a:srgbClr val="5E6357"/>
          </a:solidFill>
          <a:ln w="12700">
            <a:solidFill>
              <a:srgbClr val="5E6357"/>
            </a:solidFill>
            <a:prstDash val="solid"/>
          </a:ln>
        </p:spPr>
      </p:sp>
      <p:sp>
        <p:nvSpPr>
          <p:cNvPr id="30" name="Shape 27">
            <a:extLst>
              <a:ext uri="{FF2B5EF4-FFF2-40B4-BE49-F238E27FC236}">
                <a16:creationId xmlns:a16="http://schemas.microsoft.com/office/drawing/2014/main" id="{CA1EA169-C3D4-C9EF-B6F5-AF0AE504FB09}"/>
              </a:ext>
            </a:extLst>
          </p:cNvPr>
          <p:cNvSpPr/>
          <p:nvPr/>
        </p:nvSpPr>
        <p:spPr>
          <a:xfrm>
            <a:off x="8270748" y="4471416"/>
            <a:ext cx="50292" cy="50292"/>
          </a:xfrm>
          <a:prstGeom prst="ellipse">
            <a:avLst/>
          </a:prstGeom>
          <a:solidFill>
            <a:srgbClr val="5E6357"/>
          </a:solidFill>
          <a:ln w="12700">
            <a:solidFill>
              <a:srgbClr val="5E6357"/>
            </a:solidFill>
            <a:prstDash val="solid"/>
          </a:ln>
        </p:spPr>
      </p:sp>
      <p:sp>
        <p:nvSpPr>
          <p:cNvPr id="31" name="Shape 28">
            <a:extLst>
              <a:ext uri="{FF2B5EF4-FFF2-40B4-BE49-F238E27FC236}">
                <a16:creationId xmlns:a16="http://schemas.microsoft.com/office/drawing/2014/main" id="{4D97F911-6FCD-3201-0ED0-63677AA7E89D}"/>
              </a:ext>
            </a:extLst>
          </p:cNvPr>
          <p:cNvSpPr/>
          <p:nvPr/>
        </p:nvSpPr>
        <p:spPr>
          <a:xfrm>
            <a:off x="8403336" y="4471416"/>
            <a:ext cx="50292" cy="50292"/>
          </a:xfrm>
          <a:prstGeom prst="ellipse">
            <a:avLst/>
          </a:prstGeom>
          <a:solidFill>
            <a:srgbClr val="5E6357"/>
          </a:solidFill>
          <a:ln w="12700">
            <a:solidFill>
              <a:srgbClr val="5E6357"/>
            </a:solidFill>
            <a:prstDash val="solid"/>
          </a:ln>
        </p:spPr>
      </p:sp>
      <p:sp>
        <p:nvSpPr>
          <p:cNvPr id="32" name="Shape 29">
            <a:extLst>
              <a:ext uri="{FF2B5EF4-FFF2-40B4-BE49-F238E27FC236}">
                <a16:creationId xmlns:a16="http://schemas.microsoft.com/office/drawing/2014/main" id="{E4D4DEA6-6127-42CD-7858-BD026161CC58}"/>
              </a:ext>
            </a:extLst>
          </p:cNvPr>
          <p:cNvSpPr/>
          <p:nvPr/>
        </p:nvSpPr>
        <p:spPr>
          <a:xfrm>
            <a:off x="8535924" y="4471416"/>
            <a:ext cx="50292" cy="50292"/>
          </a:xfrm>
          <a:prstGeom prst="ellipse">
            <a:avLst/>
          </a:prstGeom>
          <a:solidFill>
            <a:srgbClr val="5E6357"/>
          </a:solidFill>
          <a:ln w="12700">
            <a:solidFill>
              <a:srgbClr val="5E6357"/>
            </a:solidFill>
            <a:prstDash val="solid"/>
          </a:ln>
        </p:spPr>
      </p:sp>
      <p:sp>
        <p:nvSpPr>
          <p:cNvPr id="34" name="Text 31">
            <a:extLst>
              <a:ext uri="{FF2B5EF4-FFF2-40B4-BE49-F238E27FC236}">
                <a16:creationId xmlns:a16="http://schemas.microsoft.com/office/drawing/2014/main" id="{AB2A624D-28B4-1515-E18E-FF1EDA584B31}"/>
              </a:ext>
            </a:extLst>
          </p:cNvPr>
          <p:cNvSpPr txBox="1"/>
          <p:nvPr/>
        </p:nvSpPr>
        <p:spPr>
          <a:xfrm>
            <a:off x="2514600" y="1874520"/>
            <a:ext cx="5760720" cy="685800"/>
          </a:xfrm>
          <a:prstGeom prst="rect">
            <a:avLst/>
          </a:prstGeom>
          <a:noFill/>
          <a:ln/>
        </p:spPr>
        <p:txBody>
          <a:bodyPr wrap="square" lIns="0" tIns="0" rIns="0" bIns="0" rtlCol="0" anchor="ctr"/>
          <a:lstStyle/>
          <a:p>
            <a:pPr marL="0" indent="0">
              <a:buNone/>
            </a:pPr>
            <a:r>
              <a:rPr lang="en-US" sz="3600" b="1" dirty="0">
                <a:solidFill>
                  <a:srgbClr val="D9F200"/>
                </a:solidFill>
                <a:latin typeface="Arial" pitchFamily="34" charset="0"/>
                <a:ea typeface="Arial" pitchFamily="34" charset="-122"/>
                <a:cs typeface="Arial" pitchFamily="34" charset="-120"/>
              </a:rPr>
              <a:t>PARALLELISM</a:t>
            </a:r>
            <a:endParaRPr lang="en-US" sz="3600" dirty="0">
              <a:solidFill>
                <a:srgbClr val="D9F200"/>
              </a:solidFill>
            </a:endParaRPr>
          </a:p>
        </p:txBody>
      </p:sp>
      <p:sp>
        <p:nvSpPr>
          <p:cNvPr id="35" name="Text 32">
            <a:extLst>
              <a:ext uri="{FF2B5EF4-FFF2-40B4-BE49-F238E27FC236}">
                <a16:creationId xmlns:a16="http://schemas.microsoft.com/office/drawing/2014/main" id="{18081A4B-6EF6-2E5A-B4F5-E3320EB084D7}"/>
              </a:ext>
            </a:extLst>
          </p:cNvPr>
          <p:cNvSpPr txBox="1"/>
          <p:nvPr/>
        </p:nvSpPr>
        <p:spPr>
          <a:xfrm>
            <a:off x="2542032" y="2578608"/>
            <a:ext cx="5760720" cy="320040"/>
          </a:xfrm>
          <a:prstGeom prst="rect">
            <a:avLst/>
          </a:prstGeom>
          <a:noFill/>
          <a:ln/>
        </p:spPr>
        <p:txBody>
          <a:bodyPr wrap="square" lIns="0" tIns="0" rIns="0" bIns="0" rtlCol="0" anchor="ctr"/>
          <a:lstStyle/>
          <a:p>
            <a:r>
              <a:rPr lang="en-US" sz="1600" dirty="0">
                <a:solidFill>
                  <a:srgbClr val="9AA095"/>
                </a:solidFill>
                <a:latin typeface="Arial" pitchFamily="34" charset="0"/>
                <a:ea typeface="Arial" pitchFamily="34" charset="-122"/>
                <a:cs typeface="Arial" pitchFamily="34" charset="-120"/>
              </a:rPr>
              <a:t>Doing many things at once</a:t>
            </a:r>
            <a:endParaRPr lang="en-US" sz="1600" dirty="0"/>
          </a:p>
        </p:txBody>
      </p:sp>
    </p:spTree>
    <p:extLst>
      <p:ext uri="{BB962C8B-B14F-4D97-AF65-F5344CB8AC3E}">
        <p14:creationId xmlns:p14="http://schemas.microsoft.com/office/powerpoint/2010/main" val="2017980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2A5B57AA-D8D1-9431-77C2-572E25319E8F}"/>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520F1611-F2EB-07D1-0FFF-E5FEAFCAAE45}"/>
              </a:ext>
            </a:extLst>
          </p:cNvPr>
          <p:cNvPicPr>
            <a:picLocks noChangeAspect="1"/>
          </p:cNvPicPr>
          <p:nvPr/>
        </p:nvPicPr>
        <p:blipFill>
          <a:blip r:embed="rId3"/>
          <a:stretch>
            <a:fillRect/>
          </a:stretch>
        </p:blipFill>
        <p:spPr>
          <a:xfrm>
            <a:off x="1389750" y="436759"/>
            <a:ext cx="6707262" cy="3769481"/>
          </a:xfrm>
          <a:prstGeom prst="rect">
            <a:avLst/>
          </a:prstGeom>
        </p:spPr>
      </p:pic>
      <p:sp>
        <p:nvSpPr>
          <p:cNvPr id="3" name="Shape 0">
            <a:extLst>
              <a:ext uri="{FF2B5EF4-FFF2-40B4-BE49-F238E27FC236}">
                <a16:creationId xmlns:a16="http://schemas.microsoft.com/office/drawing/2014/main" id="{7654F789-C4FD-19D6-BB35-BF7137F165F5}"/>
              </a:ext>
            </a:extLst>
          </p:cNvPr>
          <p:cNvSpPr/>
          <p:nvPr/>
        </p:nvSpPr>
        <p:spPr>
          <a:xfrm rot="2700000">
            <a:off x="-137160" y="-91440"/>
            <a:ext cx="23774" cy="502920"/>
          </a:xfrm>
          <a:prstGeom prst="rect">
            <a:avLst/>
          </a:prstGeom>
          <a:solidFill>
            <a:srgbClr val="FFFFFF"/>
          </a:solidFill>
          <a:ln w="12700">
            <a:solidFill>
              <a:srgbClr val="FFFFFF"/>
            </a:solidFill>
            <a:prstDash val="solid"/>
          </a:ln>
        </p:spPr>
      </p:sp>
      <p:sp>
        <p:nvSpPr>
          <p:cNvPr id="4" name="Shape 1">
            <a:extLst>
              <a:ext uri="{FF2B5EF4-FFF2-40B4-BE49-F238E27FC236}">
                <a16:creationId xmlns:a16="http://schemas.microsoft.com/office/drawing/2014/main" id="{5394363A-0BFF-C047-3129-D5B56B7F10B4}"/>
              </a:ext>
            </a:extLst>
          </p:cNvPr>
          <p:cNvSpPr/>
          <p:nvPr/>
        </p:nvSpPr>
        <p:spPr>
          <a:xfrm rot="2700000">
            <a:off x="-68580" y="-91440"/>
            <a:ext cx="23774" cy="502920"/>
          </a:xfrm>
          <a:prstGeom prst="rect">
            <a:avLst/>
          </a:prstGeom>
          <a:solidFill>
            <a:srgbClr val="FFFFFF"/>
          </a:solidFill>
          <a:ln w="12700">
            <a:solidFill>
              <a:srgbClr val="FFFFFF"/>
            </a:solidFill>
            <a:prstDash val="solid"/>
          </a:ln>
        </p:spPr>
      </p:sp>
      <p:sp>
        <p:nvSpPr>
          <p:cNvPr id="5" name="Shape 2">
            <a:extLst>
              <a:ext uri="{FF2B5EF4-FFF2-40B4-BE49-F238E27FC236}">
                <a16:creationId xmlns:a16="http://schemas.microsoft.com/office/drawing/2014/main" id="{A1127241-B6F2-8FF4-7EEF-54517EA4039D}"/>
              </a:ext>
            </a:extLst>
          </p:cNvPr>
          <p:cNvSpPr/>
          <p:nvPr/>
        </p:nvSpPr>
        <p:spPr>
          <a:xfrm rot="2700000">
            <a:off x="0" y="-91440"/>
            <a:ext cx="23774" cy="502920"/>
          </a:xfrm>
          <a:prstGeom prst="rect">
            <a:avLst/>
          </a:prstGeom>
          <a:solidFill>
            <a:srgbClr val="FFFFFF"/>
          </a:solidFill>
          <a:ln w="12700">
            <a:solidFill>
              <a:srgbClr val="FFFFFF"/>
            </a:solidFill>
            <a:prstDash val="solid"/>
          </a:ln>
        </p:spPr>
      </p:sp>
      <p:sp>
        <p:nvSpPr>
          <p:cNvPr id="6" name="Shape 3">
            <a:extLst>
              <a:ext uri="{FF2B5EF4-FFF2-40B4-BE49-F238E27FC236}">
                <a16:creationId xmlns:a16="http://schemas.microsoft.com/office/drawing/2014/main" id="{5ECAED8D-D015-254A-ED21-BE1C415C3B59}"/>
              </a:ext>
            </a:extLst>
          </p:cNvPr>
          <p:cNvSpPr/>
          <p:nvPr/>
        </p:nvSpPr>
        <p:spPr>
          <a:xfrm rot="2700000">
            <a:off x="68580" y="-91440"/>
            <a:ext cx="23774" cy="502920"/>
          </a:xfrm>
          <a:prstGeom prst="rect">
            <a:avLst/>
          </a:prstGeom>
          <a:solidFill>
            <a:srgbClr val="FFFFFF"/>
          </a:solidFill>
          <a:ln w="12700">
            <a:solidFill>
              <a:srgbClr val="FFFFFF"/>
            </a:solidFill>
            <a:prstDash val="solid"/>
          </a:ln>
        </p:spPr>
      </p:sp>
      <p:sp>
        <p:nvSpPr>
          <p:cNvPr id="7" name="Shape 4">
            <a:extLst>
              <a:ext uri="{FF2B5EF4-FFF2-40B4-BE49-F238E27FC236}">
                <a16:creationId xmlns:a16="http://schemas.microsoft.com/office/drawing/2014/main" id="{E5254DF4-97F6-7FD0-D41F-94808F27BB3C}"/>
              </a:ext>
            </a:extLst>
          </p:cNvPr>
          <p:cNvSpPr/>
          <p:nvPr/>
        </p:nvSpPr>
        <p:spPr>
          <a:xfrm rot="2700000">
            <a:off x="137160" y="-91440"/>
            <a:ext cx="23774" cy="502920"/>
          </a:xfrm>
          <a:prstGeom prst="rect">
            <a:avLst/>
          </a:prstGeom>
          <a:solidFill>
            <a:srgbClr val="FFFFFF"/>
          </a:solidFill>
          <a:ln w="12700">
            <a:solidFill>
              <a:srgbClr val="FFFFFF"/>
            </a:solidFill>
            <a:prstDash val="solid"/>
          </a:ln>
        </p:spPr>
      </p:sp>
      <p:sp>
        <p:nvSpPr>
          <p:cNvPr id="8" name="Shape 5">
            <a:extLst>
              <a:ext uri="{FF2B5EF4-FFF2-40B4-BE49-F238E27FC236}">
                <a16:creationId xmlns:a16="http://schemas.microsoft.com/office/drawing/2014/main" id="{70C060BA-3B12-18B3-0955-1F408095F839}"/>
              </a:ext>
            </a:extLst>
          </p:cNvPr>
          <p:cNvSpPr/>
          <p:nvPr/>
        </p:nvSpPr>
        <p:spPr>
          <a:xfrm rot="2700000">
            <a:off x="205740" y="-91440"/>
            <a:ext cx="23774" cy="502920"/>
          </a:xfrm>
          <a:prstGeom prst="rect">
            <a:avLst/>
          </a:prstGeom>
          <a:solidFill>
            <a:srgbClr val="FFFFFF"/>
          </a:solidFill>
          <a:ln w="12700">
            <a:solidFill>
              <a:srgbClr val="FFFFFF"/>
            </a:solidFill>
            <a:prstDash val="solid"/>
          </a:ln>
        </p:spPr>
      </p:sp>
      <p:sp>
        <p:nvSpPr>
          <p:cNvPr id="9" name="Shape 6">
            <a:extLst>
              <a:ext uri="{FF2B5EF4-FFF2-40B4-BE49-F238E27FC236}">
                <a16:creationId xmlns:a16="http://schemas.microsoft.com/office/drawing/2014/main" id="{B129EC78-7C3C-9A00-C913-CF7204DF3B1B}"/>
              </a:ext>
            </a:extLst>
          </p:cNvPr>
          <p:cNvSpPr/>
          <p:nvPr/>
        </p:nvSpPr>
        <p:spPr>
          <a:xfrm rot="2700000">
            <a:off x="274320" y="-91440"/>
            <a:ext cx="23774" cy="502920"/>
          </a:xfrm>
          <a:prstGeom prst="rect">
            <a:avLst/>
          </a:prstGeom>
          <a:solidFill>
            <a:srgbClr val="FFFFFF"/>
          </a:solidFill>
          <a:ln w="12700">
            <a:solidFill>
              <a:srgbClr val="FFFFFF"/>
            </a:solidFill>
            <a:prstDash val="solid"/>
          </a:ln>
        </p:spPr>
      </p:sp>
      <p:sp>
        <p:nvSpPr>
          <p:cNvPr id="10" name="Shape 7">
            <a:extLst>
              <a:ext uri="{FF2B5EF4-FFF2-40B4-BE49-F238E27FC236}">
                <a16:creationId xmlns:a16="http://schemas.microsoft.com/office/drawing/2014/main" id="{7C44FFF6-4B8B-C213-92E9-F62F5E6B198E}"/>
              </a:ext>
            </a:extLst>
          </p:cNvPr>
          <p:cNvSpPr/>
          <p:nvPr/>
        </p:nvSpPr>
        <p:spPr>
          <a:xfrm rot="2700000">
            <a:off x="342900" y="-91440"/>
            <a:ext cx="23774" cy="502920"/>
          </a:xfrm>
          <a:prstGeom prst="rect">
            <a:avLst/>
          </a:prstGeom>
          <a:solidFill>
            <a:srgbClr val="FFFFFF"/>
          </a:solidFill>
          <a:ln w="12700">
            <a:solidFill>
              <a:srgbClr val="FFFFFF"/>
            </a:solidFill>
            <a:prstDash val="solid"/>
          </a:ln>
        </p:spPr>
      </p:sp>
      <p:sp>
        <p:nvSpPr>
          <p:cNvPr id="11" name="Shape 8">
            <a:extLst>
              <a:ext uri="{FF2B5EF4-FFF2-40B4-BE49-F238E27FC236}">
                <a16:creationId xmlns:a16="http://schemas.microsoft.com/office/drawing/2014/main" id="{FDCBFD7E-3961-15B5-BA4F-8542C7051EBE}"/>
              </a:ext>
            </a:extLst>
          </p:cNvPr>
          <p:cNvSpPr/>
          <p:nvPr/>
        </p:nvSpPr>
        <p:spPr>
          <a:xfrm rot="2700000">
            <a:off x="411480" y="-91440"/>
            <a:ext cx="23774" cy="502920"/>
          </a:xfrm>
          <a:prstGeom prst="rect">
            <a:avLst/>
          </a:prstGeom>
          <a:solidFill>
            <a:srgbClr val="FFFFFF"/>
          </a:solidFill>
          <a:ln w="12700">
            <a:solidFill>
              <a:srgbClr val="FFFFFF"/>
            </a:solidFill>
            <a:prstDash val="solid"/>
          </a:ln>
        </p:spPr>
      </p:sp>
      <p:sp>
        <p:nvSpPr>
          <p:cNvPr id="12" name="Shape 9">
            <a:extLst>
              <a:ext uri="{FF2B5EF4-FFF2-40B4-BE49-F238E27FC236}">
                <a16:creationId xmlns:a16="http://schemas.microsoft.com/office/drawing/2014/main" id="{73770EFE-7A8F-45ED-998C-DD2CACA48CDE}"/>
              </a:ext>
            </a:extLst>
          </p:cNvPr>
          <p:cNvSpPr/>
          <p:nvPr/>
        </p:nvSpPr>
        <p:spPr>
          <a:xfrm rot="2700000">
            <a:off x="480060" y="-91440"/>
            <a:ext cx="23774" cy="502920"/>
          </a:xfrm>
          <a:prstGeom prst="rect">
            <a:avLst/>
          </a:prstGeom>
          <a:solidFill>
            <a:srgbClr val="FFFFFF"/>
          </a:solidFill>
          <a:ln w="12700">
            <a:solidFill>
              <a:srgbClr val="FFFFFF"/>
            </a:solidFill>
            <a:prstDash val="solid"/>
          </a:ln>
        </p:spPr>
      </p:sp>
      <p:sp>
        <p:nvSpPr>
          <p:cNvPr id="13" name="Shape 10">
            <a:extLst>
              <a:ext uri="{FF2B5EF4-FFF2-40B4-BE49-F238E27FC236}">
                <a16:creationId xmlns:a16="http://schemas.microsoft.com/office/drawing/2014/main" id="{558C6CE3-A25C-E41B-4921-9B77BFA4112D}"/>
              </a:ext>
            </a:extLst>
          </p:cNvPr>
          <p:cNvSpPr/>
          <p:nvPr/>
        </p:nvSpPr>
        <p:spPr>
          <a:xfrm rot="2700000">
            <a:off x="548640" y="-91440"/>
            <a:ext cx="23774" cy="502920"/>
          </a:xfrm>
          <a:prstGeom prst="rect">
            <a:avLst/>
          </a:prstGeom>
          <a:solidFill>
            <a:srgbClr val="FFFFFF"/>
          </a:solidFill>
          <a:ln w="12700">
            <a:solidFill>
              <a:srgbClr val="FFFFFF"/>
            </a:solidFill>
            <a:prstDash val="solid"/>
          </a:ln>
        </p:spPr>
      </p:sp>
      <p:sp>
        <p:nvSpPr>
          <p:cNvPr id="14" name="Shape 11">
            <a:extLst>
              <a:ext uri="{FF2B5EF4-FFF2-40B4-BE49-F238E27FC236}">
                <a16:creationId xmlns:a16="http://schemas.microsoft.com/office/drawing/2014/main" id="{0237B835-92A1-1EAE-DC7F-56A604FA5A55}"/>
              </a:ext>
            </a:extLst>
          </p:cNvPr>
          <p:cNvSpPr/>
          <p:nvPr/>
        </p:nvSpPr>
        <p:spPr>
          <a:xfrm rot="2700000">
            <a:off x="617220" y="-91440"/>
            <a:ext cx="23774" cy="502920"/>
          </a:xfrm>
          <a:prstGeom prst="rect">
            <a:avLst/>
          </a:prstGeom>
          <a:solidFill>
            <a:srgbClr val="FFFFFF"/>
          </a:solidFill>
          <a:ln w="12700">
            <a:solidFill>
              <a:srgbClr val="FFFFFF"/>
            </a:solidFill>
            <a:prstDash val="solid"/>
          </a:ln>
        </p:spPr>
      </p:sp>
      <p:sp>
        <p:nvSpPr>
          <p:cNvPr id="15" name="Shape 12">
            <a:extLst>
              <a:ext uri="{FF2B5EF4-FFF2-40B4-BE49-F238E27FC236}">
                <a16:creationId xmlns:a16="http://schemas.microsoft.com/office/drawing/2014/main" id="{966EE80A-47F6-88B4-FB89-0650B57566D3}"/>
              </a:ext>
            </a:extLst>
          </p:cNvPr>
          <p:cNvSpPr/>
          <p:nvPr/>
        </p:nvSpPr>
        <p:spPr>
          <a:xfrm rot="2700000">
            <a:off x="685800" y="-91440"/>
            <a:ext cx="23774" cy="502920"/>
          </a:xfrm>
          <a:prstGeom prst="rect">
            <a:avLst/>
          </a:prstGeom>
          <a:solidFill>
            <a:srgbClr val="FFFFFF"/>
          </a:solidFill>
          <a:ln w="12700">
            <a:solidFill>
              <a:srgbClr val="FFFFFF"/>
            </a:solidFill>
            <a:prstDash val="solid"/>
          </a:ln>
        </p:spPr>
      </p:sp>
      <p:sp>
        <p:nvSpPr>
          <p:cNvPr id="20" name="Shape 17">
            <a:extLst>
              <a:ext uri="{FF2B5EF4-FFF2-40B4-BE49-F238E27FC236}">
                <a16:creationId xmlns:a16="http://schemas.microsoft.com/office/drawing/2014/main" id="{2E5790B5-66C3-9561-2E4E-20A93A9C5879}"/>
              </a:ext>
            </a:extLst>
          </p:cNvPr>
          <p:cNvSpPr/>
          <p:nvPr/>
        </p:nvSpPr>
        <p:spPr>
          <a:xfrm rot="5400000">
            <a:off x="8321040" y="457200"/>
            <a:ext cx="411480" cy="411480"/>
          </a:xfrm>
          <a:prstGeom prst="triangle">
            <a:avLst/>
          </a:prstGeom>
          <a:solidFill>
            <a:srgbClr val="D9F201"/>
          </a:solidFill>
          <a:ln w="12700">
            <a:solidFill>
              <a:srgbClr val="D9F201"/>
            </a:solidFill>
            <a:prstDash val="solid"/>
          </a:ln>
        </p:spPr>
      </p:sp>
      <p:sp>
        <p:nvSpPr>
          <p:cNvPr id="21" name="Shape 18">
            <a:extLst>
              <a:ext uri="{FF2B5EF4-FFF2-40B4-BE49-F238E27FC236}">
                <a16:creationId xmlns:a16="http://schemas.microsoft.com/office/drawing/2014/main" id="{093BBF72-D5C1-DE19-D4AA-DF4D86AA802C}"/>
              </a:ext>
            </a:extLst>
          </p:cNvPr>
          <p:cNvSpPr/>
          <p:nvPr/>
        </p:nvSpPr>
        <p:spPr>
          <a:xfrm>
            <a:off x="8138160" y="4206240"/>
            <a:ext cx="50292" cy="50292"/>
          </a:xfrm>
          <a:prstGeom prst="ellipse">
            <a:avLst/>
          </a:prstGeom>
          <a:solidFill>
            <a:srgbClr val="5E6357"/>
          </a:solidFill>
          <a:ln w="12700">
            <a:solidFill>
              <a:srgbClr val="5E6357"/>
            </a:solidFill>
            <a:prstDash val="solid"/>
          </a:ln>
        </p:spPr>
      </p:sp>
      <p:sp>
        <p:nvSpPr>
          <p:cNvPr id="22" name="Shape 19">
            <a:extLst>
              <a:ext uri="{FF2B5EF4-FFF2-40B4-BE49-F238E27FC236}">
                <a16:creationId xmlns:a16="http://schemas.microsoft.com/office/drawing/2014/main" id="{5A11A4B2-787C-6ECD-A84A-A63249DB1CAA}"/>
              </a:ext>
            </a:extLst>
          </p:cNvPr>
          <p:cNvSpPr/>
          <p:nvPr/>
        </p:nvSpPr>
        <p:spPr>
          <a:xfrm>
            <a:off x="8270748" y="4206240"/>
            <a:ext cx="50292" cy="50292"/>
          </a:xfrm>
          <a:prstGeom prst="ellipse">
            <a:avLst/>
          </a:prstGeom>
          <a:solidFill>
            <a:srgbClr val="5E6357"/>
          </a:solidFill>
          <a:ln w="12700">
            <a:solidFill>
              <a:srgbClr val="5E6357"/>
            </a:solidFill>
            <a:prstDash val="solid"/>
          </a:ln>
        </p:spPr>
      </p:sp>
      <p:sp>
        <p:nvSpPr>
          <p:cNvPr id="23" name="Shape 20">
            <a:extLst>
              <a:ext uri="{FF2B5EF4-FFF2-40B4-BE49-F238E27FC236}">
                <a16:creationId xmlns:a16="http://schemas.microsoft.com/office/drawing/2014/main" id="{44BC4B90-5E6D-120A-2FE8-7566E51F7FC6}"/>
              </a:ext>
            </a:extLst>
          </p:cNvPr>
          <p:cNvSpPr/>
          <p:nvPr/>
        </p:nvSpPr>
        <p:spPr>
          <a:xfrm>
            <a:off x="8403336" y="4206240"/>
            <a:ext cx="50292" cy="50292"/>
          </a:xfrm>
          <a:prstGeom prst="ellipse">
            <a:avLst/>
          </a:prstGeom>
          <a:solidFill>
            <a:srgbClr val="5E6357"/>
          </a:solidFill>
          <a:ln w="12700">
            <a:solidFill>
              <a:srgbClr val="5E6357"/>
            </a:solidFill>
            <a:prstDash val="solid"/>
          </a:ln>
        </p:spPr>
      </p:sp>
      <p:sp>
        <p:nvSpPr>
          <p:cNvPr id="24" name="Shape 21">
            <a:extLst>
              <a:ext uri="{FF2B5EF4-FFF2-40B4-BE49-F238E27FC236}">
                <a16:creationId xmlns:a16="http://schemas.microsoft.com/office/drawing/2014/main" id="{81633923-F8CD-71EF-151D-86A0B17E25DF}"/>
              </a:ext>
            </a:extLst>
          </p:cNvPr>
          <p:cNvSpPr/>
          <p:nvPr/>
        </p:nvSpPr>
        <p:spPr>
          <a:xfrm>
            <a:off x="8535924" y="4206240"/>
            <a:ext cx="50292" cy="50292"/>
          </a:xfrm>
          <a:prstGeom prst="ellipse">
            <a:avLst/>
          </a:prstGeom>
          <a:solidFill>
            <a:srgbClr val="5E6357"/>
          </a:solidFill>
          <a:ln w="12700">
            <a:solidFill>
              <a:srgbClr val="5E6357"/>
            </a:solidFill>
            <a:prstDash val="solid"/>
          </a:ln>
        </p:spPr>
      </p:sp>
      <p:sp>
        <p:nvSpPr>
          <p:cNvPr id="25" name="Shape 22">
            <a:extLst>
              <a:ext uri="{FF2B5EF4-FFF2-40B4-BE49-F238E27FC236}">
                <a16:creationId xmlns:a16="http://schemas.microsoft.com/office/drawing/2014/main" id="{C0F3F9EF-B356-82B7-58FC-C12592C2B4F4}"/>
              </a:ext>
            </a:extLst>
          </p:cNvPr>
          <p:cNvSpPr/>
          <p:nvPr/>
        </p:nvSpPr>
        <p:spPr>
          <a:xfrm>
            <a:off x="8138160" y="4338828"/>
            <a:ext cx="50292" cy="50292"/>
          </a:xfrm>
          <a:prstGeom prst="ellipse">
            <a:avLst/>
          </a:prstGeom>
          <a:solidFill>
            <a:srgbClr val="5E6357"/>
          </a:solidFill>
          <a:ln w="12700">
            <a:solidFill>
              <a:srgbClr val="5E6357"/>
            </a:solidFill>
            <a:prstDash val="solid"/>
          </a:ln>
        </p:spPr>
      </p:sp>
      <p:sp>
        <p:nvSpPr>
          <p:cNvPr id="26" name="Shape 23">
            <a:extLst>
              <a:ext uri="{FF2B5EF4-FFF2-40B4-BE49-F238E27FC236}">
                <a16:creationId xmlns:a16="http://schemas.microsoft.com/office/drawing/2014/main" id="{42E9AF56-F74D-A9B2-A63B-313B2E46193F}"/>
              </a:ext>
            </a:extLst>
          </p:cNvPr>
          <p:cNvSpPr/>
          <p:nvPr/>
        </p:nvSpPr>
        <p:spPr>
          <a:xfrm>
            <a:off x="8270748" y="4338828"/>
            <a:ext cx="50292" cy="50292"/>
          </a:xfrm>
          <a:prstGeom prst="ellipse">
            <a:avLst/>
          </a:prstGeom>
          <a:solidFill>
            <a:srgbClr val="5E6357"/>
          </a:solidFill>
          <a:ln w="12700">
            <a:solidFill>
              <a:srgbClr val="5E6357"/>
            </a:solidFill>
            <a:prstDash val="solid"/>
          </a:ln>
        </p:spPr>
      </p:sp>
      <p:sp>
        <p:nvSpPr>
          <p:cNvPr id="27" name="Shape 24">
            <a:extLst>
              <a:ext uri="{FF2B5EF4-FFF2-40B4-BE49-F238E27FC236}">
                <a16:creationId xmlns:a16="http://schemas.microsoft.com/office/drawing/2014/main" id="{BC495ED3-8B35-9B86-AF23-4418EA364821}"/>
              </a:ext>
            </a:extLst>
          </p:cNvPr>
          <p:cNvSpPr/>
          <p:nvPr/>
        </p:nvSpPr>
        <p:spPr>
          <a:xfrm>
            <a:off x="8403336" y="4338828"/>
            <a:ext cx="50292" cy="50292"/>
          </a:xfrm>
          <a:prstGeom prst="ellipse">
            <a:avLst/>
          </a:prstGeom>
          <a:solidFill>
            <a:srgbClr val="5E6357"/>
          </a:solidFill>
          <a:ln w="12700">
            <a:solidFill>
              <a:srgbClr val="5E6357"/>
            </a:solidFill>
            <a:prstDash val="solid"/>
          </a:ln>
        </p:spPr>
      </p:sp>
      <p:sp>
        <p:nvSpPr>
          <p:cNvPr id="28" name="Shape 25">
            <a:extLst>
              <a:ext uri="{FF2B5EF4-FFF2-40B4-BE49-F238E27FC236}">
                <a16:creationId xmlns:a16="http://schemas.microsoft.com/office/drawing/2014/main" id="{68CDBE76-DB4F-AF43-F1E8-5544102EECEE}"/>
              </a:ext>
            </a:extLst>
          </p:cNvPr>
          <p:cNvSpPr/>
          <p:nvPr/>
        </p:nvSpPr>
        <p:spPr>
          <a:xfrm>
            <a:off x="8535924" y="4338828"/>
            <a:ext cx="50292" cy="50292"/>
          </a:xfrm>
          <a:prstGeom prst="ellipse">
            <a:avLst/>
          </a:prstGeom>
          <a:solidFill>
            <a:srgbClr val="5E6357"/>
          </a:solidFill>
          <a:ln w="12700">
            <a:solidFill>
              <a:srgbClr val="5E6357"/>
            </a:solidFill>
            <a:prstDash val="solid"/>
          </a:ln>
        </p:spPr>
      </p:sp>
      <p:sp>
        <p:nvSpPr>
          <p:cNvPr id="29" name="Shape 26">
            <a:extLst>
              <a:ext uri="{FF2B5EF4-FFF2-40B4-BE49-F238E27FC236}">
                <a16:creationId xmlns:a16="http://schemas.microsoft.com/office/drawing/2014/main" id="{6AFA58DD-A0C5-E3D2-7809-D79115D45491}"/>
              </a:ext>
            </a:extLst>
          </p:cNvPr>
          <p:cNvSpPr/>
          <p:nvPr/>
        </p:nvSpPr>
        <p:spPr>
          <a:xfrm>
            <a:off x="8138160" y="4471416"/>
            <a:ext cx="50292" cy="50292"/>
          </a:xfrm>
          <a:prstGeom prst="ellipse">
            <a:avLst/>
          </a:prstGeom>
          <a:solidFill>
            <a:srgbClr val="5E6357"/>
          </a:solidFill>
          <a:ln w="12700">
            <a:solidFill>
              <a:srgbClr val="5E6357"/>
            </a:solidFill>
            <a:prstDash val="solid"/>
          </a:ln>
        </p:spPr>
      </p:sp>
      <p:sp>
        <p:nvSpPr>
          <p:cNvPr id="30" name="Shape 27">
            <a:extLst>
              <a:ext uri="{FF2B5EF4-FFF2-40B4-BE49-F238E27FC236}">
                <a16:creationId xmlns:a16="http://schemas.microsoft.com/office/drawing/2014/main" id="{C6CA6F0B-49CD-94E7-2368-1E4EC6D33DA9}"/>
              </a:ext>
            </a:extLst>
          </p:cNvPr>
          <p:cNvSpPr/>
          <p:nvPr/>
        </p:nvSpPr>
        <p:spPr>
          <a:xfrm>
            <a:off x="8270748" y="4471416"/>
            <a:ext cx="50292" cy="50292"/>
          </a:xfrm>
          <a:prstGeom prst="ellipse">
            <a:avLst/>
          </a:prstGeom>
          <a:solidFill>
            <a:srgbClr val="5E6357"/>
          </a:solidFill>
          <a:ln w="12700">
            <a:solidFill>
              <a:srgbClr val="5E6357"/>
            </a:solidFill>
            <a:prstDash val="solid"/>
          </a:ln>
        </p:spPr>
      </p:sp>
      <p:sp>
        <p:nvSpPr>
          <p:cNvPr id="31" name="Shape 28">
            <a:extLst>
              <a:ext uri="{FF2B5EF4-FFF2-40B4-BE49-F238E27FC236}">
                <a16:creationId xmlns:a16="http://schemas.microsoft.com/office/drawing/2014/main" id="{9B2AD6A4-2084-6C9B-3213-B1398E1C3A98}"/>
              </a:ext>
            </a:extLst>
          </p:cNvPr>
          <p:cNvSpPr/>
          <p:nvPr/>
        </p:nvSpPr>
        <p:spPr>
          <a:xfrm>
            <a:off x="8403336" y="4471416"/>
            <a:ext cx="50292" cy="50292"/>
          </a:xfrm>
          <a:prstGeom prst="ellipse">
            <a:avLst/>
          </a:prstGeom>
          <a:solidFill>
            <a:srgbClr val="5E6357"/>
          </a:solidFill>
          <a:ln w="12700">
            <a:solidFill>
              <a:srgbClr val="5E6357"/>
            </a:solidFill>
            <a:prstDash val="solid"/>
          </a:ln>
        </p:spPr>
      </p:sp>
      <p:sp>
        <p:nvSpPr>
          <p:cNvPr id="32" name="Shape 29">
            <a:extLst>
              <a:ext uri="{FF2B5EF4-FFF2-40B4-BE49-F238E27FC236}">
                <a16:creationId xmlns:a16="http://schemas.microsoft.com/office/drawing/2014/main" id="{7A76AE4E-1DFF-9006-4815-873594761623}"/>
              </a:ext>
            </a:extLst>
          </p:cNvPr>
          <p:cNvSpPr/>
          <p:nvPr/>
        </p:nvSpPr>
        <p:spPr>
          <a:xfrm>
            <a:off x="8535924" y="4471416"/>
            <a:ext cx="50292" cy="50292"/>
          </a:xfrm>
          <a:prstGeom prst="ellipse">
            <a:avLst/>
          </a:prstGeom>
          <a:solidFill>
            <a:srgbClr val="5E6357"/>
          </a:solidFill>
          <a:ln w="12700">
            <a:solidFill>
              <a:srgbClr val="5E6357"/>
            </a:solidFill>
            <a:prstDash val="solid"/>
          </a:ln>
        </p:spPr>
      </p:sp>
    </p:spTree>
    <p:extLst>
      <p:ext uri="{BB962C8B-B14F-4D97-AF65-F5344CB8AC3E}">
        <p14:creationId xmlns:p14="http://schemas.microsoft.com/office/powerpoint/2010/main" val="109826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4A6846D-43F7-29EA-E9F6-34F028106C95}"/>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B0E11B7C-7FD8-29E8-E77F-6C8FB7499A23}"/>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CONCEPT</a:t>
            </a:r>
            <a:endParaRPr lang="en-US" sz="1050" dirty="0"/>
          </a:p>
        </p:txBody>
      </p:sp>
      <p:sp>
        <p:nvSpPr>
          <p:cNvPr id="4" name="Text 1">
            <a:extLst>
              <a:ext uri="{FF2B5EF4-FFF2-40B4-BE49-F238E27FC236}">
                <a16:creationId xmlns:a16="http://schemas.microsoft.com/office/drawing/2014/main" id="{B5A996F8-E11B-8B4D-5502-817504B31D27}"/>
              </a:ext>
            </a:extLst>
          </p:cNvPr>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cs typeface="Arial" pitchFamily="34" charset="-120"/>
              </a:rPr>
              <a:t>Concurrency</a:t>
            </a:r>
            <a:endParaRPr lang="en-US" sz="3200" dirty="0"/>
          </a:p>
        </p:txBody>
      </p:sp>
      <p:sp>
        <p:nvSpPr>
          <p:cNvPr id="5" name="Shape 2">
            <a:extLst>
              <a:ext uri="{FF2B5EF4-FFF2-40B4-BE49-F238E27FC236}">
                <a16:creationId xmlns:a16="http://schemas.microsoft.com/office/drawing/2014/main" id="{2DE9C608-913E-8200-FA94-727C6BA9536B}"/>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C079D52F-EA64-7CFF-4BC3-DC4C737D4295}"/>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91ACB5DD-B0E7-E999-F5B6-FEDB38D98655}"/>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0C646F57-5238-B82A-7EE7-719D7D705CF3}"/>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D0242744-CB06-CC09-6EAD-08BA1DDCDACF}"/>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EB1230F2-5576-88B8-4772-CDEBA85BF6BC}"/>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47B07A66-7CBF-4274-4166-607B6CFB3D8B}"/>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C1BFD034-0371-B08C-3BBA-1E894AD2F1AB}"/>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75E64C33-8F1C-FCFA-F790-381BDA1B565F}"/>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6DC435CE-8375-486F-043A-0D44DB5FFAF0}"/>
              </a:ext>
            </a:extLst>
          </p:cNvPr>
          <p:cNvSpPr txBox="1"/>
          <p:nvPr/>
        </p:nvSpPr>
        <p:spPr>
          <a:xfrm>
            <a:off x="566927" y="1600200"/>
            <a:ext cx="7589029" cy="2820924"/>
          </a:xfrm>
          <a:prstGeom prst="rect">
            <a:avLst/>
          </a:prstGeom>
          <a:noFill/>
          <a:ln/>
        </p:spPr>
        <p:txBody>
          <a:bodyPr wrap="square" lIns="0" tIns="0" rIns="0" bIns="0" rtlCol="0" anchor="t"/>
          <a:lstStyle/>
          <a:p>
            <a:pPr algn="just">
              <a:lnSpc>
                <a:spcPts val="2400"/>
              </a:lnSpc>
              <a:spcAft>
                <a:spcPts val="1000"/>
              </a:spcAft>
            </a:pPr>
            <a:r>
              <a:rPr lang="en-US" sz="1400" dirty="0">
                <a:solidFill>
                  <a:srgbClr val="D9F200"/>
                </a:solidFill>
                <a:latin typeface="Arial" pitchFamily="34" charset="0"/>
                <a:ea typeface="Arial" pitchFamily="34" charset="-122"/>
                <a:cs typeface="Arial" pitchFamily="34" charset="-120"/>
              </a:rPr>
              <a:t>Concurrency</a:t>
            </a:r>
            <a:r>
              <a:rPr lang="en-US" sz="1400" dirty="0">
                <a:solidFill>
                  <a:srgbClr val="FFFFFF"/>
                </a:solidFill>
                <a:latin typeface="Arial" pitchFamily="34" charset="0"/>
                <a:ea typeface="Arial" pitchFamily="34" charset="-122"/>
                <a:cs typeface="Arial" pitchFamily="34" charset="-120"/>
              </a:rPr>
              <a:t> is a key aspect of beautiful software. For decades, concurrency was possible but difficult to achieve. Concurrent software was difficult to write, difficult to debug, and difficult to maintain. As a result, many developers chose the easier path and avoided concurrency. With the libraries and language features available for modern .NET programs, concurrency is now much easier. End-user applications use concurrency to respond to user input while writing to a database. Server applications use concurrency to respond to a second request while finishing the first request. You need concurrency any time you need an application to do one thing while it’s working on something else. Almost every software application in the world can benefit from concurrency.</a:t>
            </a:r>
            <a:endParaRPr lang="en-US" sz="1400" dirty="0"/>
          </a:p>
        </p:txBody>
      </p:sp>
      <p:sp>
        <p:nvSpPr>
          <p:cNvPr id="17" name="Text 14">
            <a:extLst>
              <a:ext uri="{FF2B5EF4-FFF2-40B4-BE49-F238E27FC236}">
                <a16:creationId xmlns:a16="http://schemas.microsoft.com/office/drawing/2014/main" id="{7FB196F2-3EBD-C7A0-F9AA-DAFEECBF523F}"/>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1060142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7478484A-04F6-6B86-B263-CE94E758973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D0B4DD8F-119F-0F1F-13D2-C3E64F6463D6}"/>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Keywords</a:t>
            </a:r>
            <a:endParaRPr lang="en-US" sz="1050" dirty="0"/>
          </a:p>
        </p:txBody>
      </p:sp>
      <p:sp>
        <p:nvSpPr>
          <p:cNvPr id="4" name="Text 1">
            <a:extLst>
              <a:ext uri="{FF2B5EF4-FFF2-40B4-BE49-F238E27FC236}">
                <a16:creationId xmlns:a16="http://schemas.microsoft.com/office/drawing/2014/main" id="{BEA36632-19A2-767F-C405-DB3D48701E99}"/>
              </a:ext>
            </a:extLst>
          </p:cNvPr>
          <p:cNvSpPr txBox="1"/>
          <p:nvPr/>
        </p:nvSpPr>
        <p:spPr>
          <a:xfrm>
            <a:off x="566928" y="722376"/>
            <a:ext cx="7498080" cy="566928"/>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cs typeface="Arial" pitchFamily="34" charset="-120"/>
              </a:rPr>
              <a:t>Keywords</a:t>
            </a:r>
            <a:endParaRPr lang="en-US" sz="3200" dirty="0"/>
          </a:p>
        </p:txBody>
      </p:sp>
      <p:sp>
        <p:nvSpPr>
          <p:cNvPr id="5" name="Shape 2">
            <a:extLst>
              <a:ext uri="{FF2B5EF4-FFF2-40B4-BE49-F238E27FC236}">
                <a16:creationId xmlns:a16="http://schemas.microsoft.com/office/drawing/2014/main" id="{5FD908D3-237B-23CF-B254-416D19869F7B}"/>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2441D75B-5A1B-A492-8C1D-768B026AC1DC}"/>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009B24AD-17D0-48C3-72C5-59127DDF62A4}"/>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D2C7384C-2C67-8152-7127-697BF7695D00}"/>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BA0374C7-7E1A-E279-370F-7ACA73345B9A}"/>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1B982B61-CB14-E1E7-18E1-4DA43D8A5993}"/>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9EEF6960-207E-83F0-F619-4A57168764D7}"/>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96D07718-9E4A-E020-73D6-BBCDA574E3D1}"/>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E20B3719-BC6D-D2C7-7820-1C0F140533C6}"/>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B12304B4-8E70-DE11-DD08-C88DE090ACBA}"/>
              </a:ext>
            </a:extLst>
          </p:cNvPr>
          <p:cNvSpPr txBox="1"/>
          <p:nvPr/>
        </p:nvSpPr>
        <p:spPr>
          <a:xfrm>
            <a:off x="566928" y="1553652"/>
            <a:ext cx="7589029" cy="2867472"/>
          </a:xfrm>
          <a:prstGeom prst="rect">
            <a:avLst/>
          </a:prstGeom>
          <a:noFill/>
          <a:ln/>
        </p:spPr>
        <p:txBody>
          <a:bodyPr wrap="square" lIns="0" tIns="0" rIns="0" bIns="0" rtlCol="0" anchor="t"/>
          <a:lstStyle/>
          <a:p>
            <a:pPr algn="just">
              <a:spcAft>
                <a:spcPts val="1000"/>
              </a:spcAft>
            </a:pPr>
            <a:r>
              <a:rPr lang="en-US" sz="1400" b="1" dirty="0">
                <a:solidFill>
                  <a:srgbClr val="D9F200"/>
                </a:solidFill>
                <a:latin typeface="Arial" pitchFamily="34" charset="0"/>
                <a:ea typeface="Arial" pitchFamily="34" charset="-122"/>
                <a:cs typeface="Arial" pitchFamily="34" charset="-120"/>
              </a:rPr>
              <a:t>Concurrency</a:t>
            </a:r>
            <a:r>
              <a:rPr lang="en-US" sz="1400" dirty="0">
                <a:solidFill>
                  <a:srgbClr val="D9F200"/>
                </a:solidFill>
                <a:latin typeface="Arial" pitchFamily="34" charset="0"/>
                <a:ea typeface="Arial" pitchFamily="34" charset="-122"/>
                <a:cs typeface="Arial" pitchFamily="34" charset="-120"/>
              </a:rPr>
              <a:t> </a:t>
            </a:r>
            <a:r>
              <a:rPr lang="en-US" sz="1400" dirty="0">
                <a:solidFill>
                  <a:schemeClr val="bg1"/>
                </a:solidFill>
                <a:latin typeface="Arial" pitchFamily="34" charset="0"/>
                <a:ea typeface="Arial" pitchFamily="34" charset="-122"/>
                <a:cs typeface="Arial" pitchFamily="34" charset="-120"/>
              </a:rPr>
              <a:t>- doing more than one thing at a time.</a:t>
            </a: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r>
              <a:rPr lang="en-US" sz="1400" b="1" dirty="0">
                <a:solidFill>
                  <a:srgbClr val="D9F200"/>
                </a:solidFill>
                <a:latin typeface="Arial" pitchFamily="34" charset="0"/>
                <a:ea typeface="Arial" pitchFamily="34" charset="-122"/>
                <a:cs typeface="Arial" pitchFamily="34" charset="-120"/>
              </a:rPr>
              <a:t>Multithreading</a:t>
            </a:r>
            <a:r>
              <a:rPr lang="en-US" sz="1400" dirty="0">
                <a:solidFill>
                  <a:schemeClr val="bg1"/>
                </a:solidFill>
                <a:latin typeface="Arial" pitchFamily="34" charset="0"/>
                <a:ea typeface="Arial" pitchFamily="34" charset="-122"/>
                <a:cs typeface="Arial" pitchFamily="34" charset="-120"/>
              </a:rPr>
              <a:t> - a form of concurrency that uses multiple threads of execution.</a:t>
            </a: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r>
              <a:rPr lang="en-US" sz="1400" b="1" dirty="0">
                <a:solidFill>
                  <a:srgbClr val="D9F200"/>
                </a:solidFill>
                <a:latin typeface="Arial" pitchFamily="34" charset="0"/>
                <a:ea typeface="Arial" pitchFamily="34" charset="-122"/>
                <a:cs typeface="Arial" pitchFamily="34" charset="-120"/>
              </a:rPr>
              <a:t>Parallel processing </a:t>
            </a:r>
            <a:r>
              <a:rPr lang="en-US" sz="1400" dirty="0">
                <a:solidFill>
                  <a:schemeClr val="bg1"/>
                </a:solidFill>
                <a:latin typeface="Arial" pitchFamily="34" charset="0"/>
                <a:ea typeface="Arial" pitchFamily="34" charset="-122"/>
                <a:cs typeface="Arial" pitchFamily="34" charset="-120"/>
              </a:rPr>
              <a:t>- doing lots of work by dividing it up among multiple threads that run concurrently.</a:t>
            </a: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r>
              <a:rPr lang="en-US" sz="1400" b="1" dirty="0">
                <a:solidFill>
                  <a:srgbClr val="D9F200"/>
                </a:solidFill>
                <a:latin typeface="Arial" pitchFamily="34" charset="0"/>
                <a:ea typeface="Arial" pitchFamily="34" charset="-122"/>
                <a:cs typeface="Arial" pitchFamily="34" charset="-120"/>
              </a:rPr>
              <a:t>Asynchronous programming </a:t>
            </a:r>
            <a:r>
              <a:rPr lang="en-US" sz="1400" dirty="0">
                <a:solidFill>
                  <a:schemeClr val="bg1"/>
                </a:solidFill>
                <a:latin typeface="Arial" pitchFamily="34" charset="0"/>
                <a:ea typeface="Arial" pitchFamily="34" charset="-122"/>
                <a:cs typeface="Arial" pitchFamily="34" charset="-120"/>
              </a:rPr>
              <a:t>- A form of concurrency that uses futures or callbacks to avoid</a:t>
            </a:r>
          </a:p>
          <a:p>
            <a:pPr algn="just">
              <a:spcAft>
                <a:spcPts val="1000"/>
              </a:spcAft>
            </a:pPr>
            <a:r>
              <a:rPr lang="en-US" sz="1400" dirty="0">
                <a:solidFill>
                  <a:schemeClr val="bg1"/>
                </a:solidFill>
                <a:latin typeface="Arial" pitchFamily="34" charset="0"/>
                <a:ea typeface="Arial" pitchFamily="34" charset="-122"/>
                <a:cs typeface="Arial" pitchFamily="34" charset="-120"/>
              </a:rPr>
              <a:t>unnecessary threads.</a:t>
            </a: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endParaRPr lang="en-US" sz="1400" dirty="0">
              <a:solidFill>
                <a:schemeClr val="bg1"/>
              </a:solidFill>
              <a:latin typeface="Arial" pitchFamily="34" charset="0"/>
              <a:ea typeface="Arial" pitchFamily="34" charset="-122"/>
              <a:cs typeface="Arial" pitchFamily="34" charset="-120"/>
            </a:endParaRPr>
          </a:p>
          <a:p>
            <a:pPr algn="just">
              <a:spcAft>
                <a:spcPts val="1000"/>
              </a:spcAft>
            </a:pPr>
            <a:r>
              <a:rPr lang="en-US" sz="1400" dirty="0">
                <a:solidFill>
                  <a:srgbClr val="D9F200"/>
                </a:solidFill>
                <a:latin typeface="Arial" pitchFamily="34" charset="0"/>
                <a:ea typeface="Arial" pitchFamily="34" charset="-122"/>
                <a:cs typeface="Arial" pitchFamily="34" charset="-120"/>
              </a:rPr>
              <a:t> </a:t>
            </a:r>
            <a:endParaRPr lang="en-US" sz="1400" dirty="0"/>
          </a:p>
        </p:txBody>
      </p:sp>
      <p:sp>
        <p:nvSpPr>
          <p:cNvPr id="17" name="Text 14">
            <a:extLst>
              <a:ext uri="{FF2B5EF4-FFF2-40B4-BE49-F238E27FC236}">
                <a16:creationId xmlns:a16="http://schemas.microsoft.com/office/drawing/2014/main" id="{F470B580-EAB7-6061-13DA-6C19DB1FB264}"/>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1563423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04DEAFB-0386-898C-3D5A-15E6D7FB39BE}"/>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043C3E82-BB05-50C3-65DA-DD67B49DFB8E}"/>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19749114-991E-17CC-94D7-7398FD81AC0F}"/>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FDEE34BF-D1E0-5D5B-401E-96A91B147B1E}"/>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2A3C81CC-52B9-A7D4-1CCB-E2AD2B7A129A}"/>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1CCC6F2D-CFF3-CA8C-73D4-7BBDEFA6A74F}"/>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CCC85B74-B1AC-5300-A2FF-521A77ED87FA}"/>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9AC41B94-7896-301D-4E6A-9613AFC1011E}"/>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7451F855-374F-BF89-DFEF-9E43BA910DB9}"/>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52F5224C-9946-4DE7-2D7C-1624681710C8}"/>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ABB44028-9AC5-E81D-97F1-C2A9865AF94B}"/>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15" name="Picture 14">
            <a:extLst>
              <a:ext uri="{FF2B5EF4-FFF2-40B4-BE49-F238E27FC236}">
                <a16:creationId xmlns:a16="http://schemas.microsoft.com/office/drawing/2014/main" id="{B42FF9CE-F1EF-545E-35D5-F184640B8EAD}"/>
              </a:ext>
            </a:extLst>
          </p:cNvPr>
          <p:cNvPicPr>
            <a:picLocks noChangeAspect="1"/>
          </p:cNvPicPr>
          <p:nvPr/>
        </p:nvPicPr>
        <p:blipFill>
          <a:blip r:embed="rId3"/>
          <a:stretch>
            <a:fillRect/>
          </a:stretch>
        </p:blipFill>
        <p:spPr>
          <a:xfrm>
            <a:off x="1003610" y="286629"/>
            <a:ext cx="6937555" cy="3898905"/>
          </a:xfrm>
          <a:prstGeom prst="rect">
            <a:avLst/>
          </a:prstGeom>
        </p:spPr>
      </p:pic>
    </p:spTree>
    <p:extLst>
      <p:ext uri="{BB962C8B-B14F-4D97-AF65-F5344CB8AC3E}">
        <p14:creationId xmlns:p14="http://schemas.microsoft.com/office/powerpoint/2010/main" val="3624866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55D859F-F4FB-034B-FCC1-C8B8706193E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65B08765-7CBC-BBF2-CEA9-E2946A1D36AF}"/>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894DC015-CF2F-E381-E0C3-910DF6BA9DB3}"/>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23FFE736-695C-F580-C893-3070F7750EA0}"/>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7FFA7BEC-BA99-B264-9295-E211F88E707D}"/>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094C08DD-7D07-6864-3077-DD479727B8ED}"/>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AF63E3CB-4F24-2F22-702A-893D1E7B2616}"/>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B3C361ED-92F8-9242-1031-735188554271}"/>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4BF1FA76-2103-862F-A07B-113E0640068A}"/>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81B3CCF9-E7AD-D9E3-09DA-8E1C1B56A42A}"/>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BF3B408F-7B1D-C28D-67A9-BDE5132E8F2D}"/>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3" name="Picture 2">
            <a:extLst>
              <a:ext uri="{FF2B5EF4-FFF2-40B4-BE49-F238E27FC236}">
                <a16:creationId xmlns:a16="http://schemas.microsoft.com/office/drawing/2014/main" id="{79B58A36-6432-72C8-178C-DAA65499CD91}"/>
              </a:ext>
            </a:extLst>
          </p:cNvPr>
          <p:cNvPicPr>
            <a:picLocks noChangeAspect="1"/>
          </p:cNvPicPr>
          <p:nvPr/>
        </p:nvPicPr>
        <p:blipFill>
          <a:blip r:embed="rId3"/>
          <a:stretch>
            <a:fillRect/>
          </a:stretch>
        </p:blipFill>
        <p:spPr>
          <a:xfrm>
            <a:off x="1086234" y="258189"/>
            <a:ext cx="6747397" cy="3792037"/>
          </a:xfrm>
          <a:prstGeom prst="rect">
            <a:avLst/>
          </a:prstGeom>
        </p:spPr>
      </p:pic>
    </p:spTree>
    <p:extLst>
      <p:ext uri="{BB962C8B-B14F-4D97-AF65-F5344CB8AC3E}">
        <p14:creationId xmlns:p14="http://schemas.microsoft.com/office/powerpoint/2010/main" val="15855911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EBA623CA-A37E-D1E1-6058-A19AE56F95AB}"/>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67BE4A32-7BF9-DEB9-2DF3-D13D8A77710D}"/>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B55F96C0-9D05-69E7-8321-B3C03A6F6F5F}"/>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E888EC2C-CAAE-A251-6A0C-6131444FC023}"/>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5AC1A66F-8B1F-607F-F4F1-9BCAF43CF43B}"/>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EFD4BFA3-9A56-5B78-BCEE-1DB4F8B0C937}"/>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B2056B9D-3B15-1548-AC85-7B83B2610A52}"/>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DFC6D8B4-E852-F398-8135-12B9DCC49299}"/>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12BF69D9-5091-E57E-2095-065B0B1822D7}"/>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7AB1053E-0DA2-E64F-8284-2351544A866C}"/>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D5AF44DE-CE88-6609-E24C-EF7653F4C8BF}"/>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4" name="Picture 3">
            <a:extLst>
              <a:ext uri="{FF2B5EF4-FFF2-40B4-BE49-F238E27FC236}">
                <a16:creationId xmlns:a16="http://schemas.microsoft.com/office/drawing/2014/main" id="{679C5B1A-F2A5-CE54-08FB-EF3AB8DB67F7}"/>
              </a:ext>
            </a:extLst>
          </p:cNvPr>
          <p:cNvPicPr>
            <a:picLocks noChangeAspect="1"/>
          </p:cNvPicPr>
          <p:nvPr/>
        </p:nvPicPr>
        <p:blipFill>
          <a:blip r:embed="rId3"/>
          <a:stretch>
            <a:fillRect/>
          </a:stretch>
        </p:blipFill>
        <p:spPr>
          <a:xfrm>
            <a:off x="1073960" y="327542"/>
            <a:ext cx="6732193" cy="3783492"/>
          </a:xfrm>
          <a:prstGeom prst="rect">
            <a:avLst/>
          </a:prstGeom>
        </p:spPr>
      </p:pic>
    </p:spTree>
    <p:extLst>
      <p:ext uri="{BB962C8B-B14F-4D97-AF65-F5344CB8AC3E}">
        <p14:creationId xmlns:p14="http://schemas.microsoft.com/office/powerpoint/2010/main" val="939462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82746B8-1A6E-4E1E-DC01-0D142633F036}"/>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D2208A36-513C-9679-502C-B337A3710195}"/>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D332B4D0-ACE6-4062-28AB-7AC38D0CDD4E}"/>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043FAF56-64CE-3E7E-2E8E-27C1B6E3243C}"/>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162BBB2B-43DB-B0D3-BB0B-3D8EC4BB75FF}"/>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1E69A3E6-C59F-288F-A05E-121B105C9FA2}"/>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323A6016-FD8A-C1B6-5EE9-36E39DA7CD02}"/>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9FF92D73-6928-D901-7739-5B36EA82C725}"/>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49B83689-F7A8-DD20-B1E9-33F852BDE1D8}"/>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5A017A7D-5788-565B-AAF7-BBE20BF82DAE}"/>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CB362CB5-A454-4512-7C5F-3B9A3D39E71C}"/>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3" name="Picture 2">
            <a:extLst>
              <a:ext uri="{FF2B5EF4-FFF2-40B4-BE49-F238E27FC236}">
                <a16:creationId xmlns:a16="http://schemas.microsoft.com/office/drawing/2014/main" id="{6302FE78-4C0A-56CD-531A-25D958F1CC79}"/>
              </a:ext>
            </a:extLst>
          </p:cNvPr>
          <p:cNvPicPr>
            <a:picLocks noChangeAspect="1"/>
          </p:cNvPicPr>
          <p:nvPr/>
        </p:nvPicPr>
        <p:blipFill>
          <a:blip r:embed="rId3"/>
          <a:stretch>
            <a:fillRect/>
          </a:stretch>
        </p:blipFill>
        <p:spPr>
          <a:xfrm>
            <a:off x="1009297" y="296660"/>
            <a:ext cx="6654409" cy="3739777"/>
          </a:xfrm>
          <a:prstGeom prst="rect">
            <a:avLst/>
          </a:prstGeom>
        </p:spPr>
      </p:pic>
    </p:spTree>
    <p:extLst>
      <p:ext uri="{BB962C8B-B14F-4D97-AF65-F5344CB8AC3E}">
        <p14:creationId xmlns:p14="http://schemas.microsoft.com/office/powerpoint/2010/main" val="1383549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6FA1E16-B485-CDC6-EE9C-04C884DB085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2397AC9F-572B-CE81-5767-E40BAA7BA704}"/>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7A687819-61B8-2DF7-1D9C-2F886312E21A}"/>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FF47AA95-2A34-CCAB-F814-D23037C1D9CA}"/>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E81377AB-F6BE-DAA8-D200-DF2F99469E47}"/>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54209526-8E69-C5DF-9925-BDC42385C07B}"/>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6F006C4C-7906-C840-6EEA-BE99411473CC}"/>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60820D80-B638-4ED7-308B-F9DDAF886A99}"/>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2847AC88-5531-1069-F63D-A4BEE32E3F3D}"/>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3DCE49F8-62D6-455E-80B0-A309DC8100A8}"/>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E4E410AE-0B42-E92C-931C-AC267818317D}"/>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3" name="Picture 2">
            <a:extLst>
              <a:ext uri="{FF2B5EF4-FFF2-40B4-BE49-F238E27FC236}">
                <a16:creationId xmlns:a16="http://schemas.microsoft.com/office/drawing/2014/main" id="{89EE6821-CEFE-2ACD-1073-DB2824DD0A9E}"/>
              </a:ext>
            </a:extLst>
          </p:cNvPr>
          <p:cNvPicPr>
            <a:picLocks noChangeAspect="1"/>
          </p:cNvPicPr>
          <p:nvPr/>
        </p:nvPicPr>
        <p:blipFill>
          <a:blip r:embed="rId3"/>
          <a:stretch>
            <a:fillRect/>
          </a:stretch>
        </p:blipFill>
        <p:spPr>
          <a:xfrm>
            <a:off x="649818" y="155448"/>
            <a:ext cx="7634646" cy="4478587"/>
          </a:xfrm>
          <a:prstGeom prst="rect">
            <a:avLst/>
          </a:prstGeom>
        </p:spPr>
      </p:pic>
    </p:spTree>
    <p:extLst>
      <p:ext uri="{BB962C8B-B14F-4D97-AF65-F5344CB8AC3E}">
        <p14:creationId xmlns:p14="http://schemas.microsoft.com/office/powerpoint/2010/main" val="3195487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13-program-process-thread.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16BFD02-33B3-628D-1E3F-560273C2A1B7}"/>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5DCD23D4-93BA-5EB3-7DC3-69AC2F159C52}"/>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PROCESS vs THREAD</a:t>
            </a:r>
            <a:endParaRPr lang="en-US" sz="1050" dirty="0"/>
          </a:p>
        </p:txBody>
      </p:sp>
      <p:sp>
        <p:nvSpPr>
          <p:cNvPr id="4" name="Text 1">
            <a:extLst>
              <a:ext uri="{FF2B5EF4-FFF2-40B4-BE49-F238E27FC236}">
                <a16:creationId xmlns:a16="http://schemas.microsoft.com/office/drawing/2014/main" id="{A9E410AC-33C9-F360-88F8-11542D506806}"/>
              </a:ext>
            </a:extLst>
          </p:cNvPr>
          <p:cNvSpPr txBox="1"/>
          <p:nvPr/>
        </p:nvSpPr>
        <p:spPr>
          <a:xfrm>
            <a:off x="566928" y="722376"/>
            <a:ext cx="7498080" cy="566928"/>
          </a:xfrm>
          <a:prstGeom prst="rect">
            <a:avLst/>
          </a:prstGeom>
          <a:noFill/>
          <a:ln/>
        </p:spPr>
        <p:txBody>
          <a:bodyPr wrap="square" lIns="0" tIns="0" rIns="0" bIns="0" rtlCol="0" anchor="ctr"/>
          <a:lstStyle/>
          <a:p>
            <a:r>
              <a:rPr lang="en-US" sz="3200" b="1" dirty="0">
                <a:solidFill>
                  <a:srgbClr val="FFFFFF"/>
                </a:solidFill>
                <a:latin typeface="Arial" pitchFamily="34" charset="0"/>
                <a:cs typeface="Arial" pitchFamily="34" charset="-120"/>
              </a:rPr>
              <a:t>Process vs Thread</a:t>
            </a:r>
            <a:endParaRPr lang="en-US" sz="3200" dirty="0"/>
          </a:p>
        </p:txBody>
      </p:sp>
      <p:sp>
        <p:nvSpPr>
          <p:cNvPr id="5" name="Shape 2">
            <a:extLst>
              <a:ext uri="{FF2B5EF4-FFF2-40B4-BE49-F238E27FC236}">
                <a16:creationId xmlns:a16="http://schemas.microsoft.com/office/drawing/2014/main" id="{3A3E906E-817E-5B90-0DD2-AB00F2F1952A}"/>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4D6FA138-5D12-E030-C9D9-ADD45985118C}"/>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584DF1AA-6CAF-A945-2DAF-048A70D3E79C}"/>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23D39967-72EC-9280-B69B-78BBF50B2D8E}"/>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950332DD-35CE-BBB6-648A-FC4C7DE08758}"/>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DF546777-CFAC-7F93-4674-C52C33BC2290}"/>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CF089108-E6B8-7226-210B-B913A29E3521}"/>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1362C2CB-E984-0AC1-6861-D6AB80AAB1FF}"/>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761A9172-A464-4A3A-7BC4-8AC8C6FF4687}"/>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1D5CD9F5-F669-9871-CE7F-FC99877027DD}"/>
              </a:ext>
            </a:extLst>
          </p:cNvPr>
          <p:cNvSpPr txBox="1"/>
          <p:nvPr/>
        </p:nvSpPr>
        <p:spPr>
          <a:xfrm>
            <a:off x="566927" y="1600201"/>
            <a:ext cx="7589029" cy="1864112"/>
          </a:xfrm>
          <a:prstGeom prst="rect">
            <a:avLst/>
          </a:prstGeom>
          <a:noFill/>
          <a:ln/>
        </p:spPr>
        <p:txBody>
          <a:bodyPr wrap="square" lIns="0" tIns="0" rIns="0" bIns="0" rtlCol="0" anchor="t"/>
          <a:lstStyle/>
          <a:p>
            <a:pPr algn="just">
              <a:lnSpc>
                <a:spcPts val="2400"/>
              </a:lnSpc>
              <a:spcAft>
                <a:spcPts val="1000"/>
              </a:spcAft>
            </a:pPr>
            <a:r>
              <a:rPr lang="en-US" sz="1400" dirty="0">
                <a:solidFill>
                  <a:schemeClr val="bg1"/>
                </a:solidFill>
                <a:latin typeface="Arial" pitchFamily="34" charset="0"/>
                <a:ea typeface="Arial" pitchFamily="34" charset="-122"/>
                <a:cs typeface="Arial" pitchFamily="34" charset="-120"/>
              </a:rPr>
              <a:t>A process owns the resources: a private virtual address space, the open file and socket handles, and at least one thread.</a:t>
            </a:r>
          </a:p>
          <a:p>
            <a:pPr algn="just">
              <a:lnSpc>
                <a:spcPts val="2400"/>
              </a:lnSpc>
              <a:spcAft>
                <a:spcPts val="1000"/>
              </a:spcAft>
            </a:pPr>
            <a:r>
              <a:rPr lang="en-US" sz="1400" dirty="0">
                <a:solidFill>
                  <a:schemeClr val="bg1"/>
                </a:solidFill>
                <a:latin typeface="Arial" pitchFamily="34" charset="0"/>
                <a:ea typeface="Arial" pitchFamily="34" charset="-122"/>
                <a:cs typeface="Arial" pitchFamily="34" charset="-120"/>
              </a:rPr>
              <a:t>A thread is the unit of scheduling: a program counter, a set of registers, and its own stack. Threads in one process share the heap, static fields and all handles. They do not share stacks. Local variables belong to one thread alone.</a:t>
            </a:r>
            <a:endParaRPr lang="en-US" sz="1400" dirty="0">
              <a:solidFill>
                <a:schemeClr val="bg1"/>
              </a:solidFill>
            </a:endParaRPr>
          </a:p>
        </p:txBody>
      </p:sp>
      <p:sp>
        <p:nvSpPr>
          <p:cNvPr id="17" name="Text 14">
            <a:extLst>
              <a:ext uri="{FF2B5EF4-FFF2-40B4-BE49-F238E27FC236}">
                <a16:creationId xmlns:a16="http://schemas.microsoft.com/office/drawing/2014/main" id="{81A08422-5213-3B1E-4A1D-9ABCC50E9463}"/>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3034109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B8C94F5C-1747-C66A-48E9-25A42D80C184}"/>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54A145C3-1C96-3AED-0472-C9E4C49E0F04}"/>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B21F5F86-8636-5D88-CB9A-BC1E7D3DFE85}"/>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4B57D565-29B4-B265-30DF-DBE20C0B5B09}"/>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6E00FC93-52A2-6730-5BE0-874E48D8E992}"/>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AD08CCE6-E0BA-6602-0324-E7FDF74F6639}"/>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418DD1B3-2B6D-A499-60C2-68C3C94B0A6C}"/>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1DA0998F-05A7-E8FA-598D-D645C63C3789}"/>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2CCE7E3D-DC73-3B0A-B3B5-3B806AE1685F}"/>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0B5FD774-A74F-89F8-41B8-9561DF87CF8C}"/>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A44188AF-4646-B673-E38A-22536B6CD983}"/>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15" name="Picture 14">
            <a:extLst>
              <a:ext uri="{FF2B5EF4-FFF2-40B4-BE49-F238E27FC236}">
                <a16:creationId xmlns:a16="http://schemas.microsoft.com/office/drawing/2014/main" id="{9F3B9644-4C6F-147B-95B1-51A58B07D680}"/>
              </a:ext>
            </a:extLst>
          </p:cNvPr>
          <p:cNvPicPr>
            <a:picLocks noChangeAspect="1"/>
          </p:cNvPicPr>
          <p:nvPr/>
        </p:nvPicPr>
        <p:blipFill>
          <a:blip r:embed="rId3"/>
          <a:stretch>
            <a:fillRect/>
          </a:stretch>
        </p:blipFill>
        <p:spPr>
          <a:xfrm>
            <a:off x="605619" y="420816"/>
            <a:ext cx="7719993" cy="4338636"/>
          </a:xfrm>
          <a:prstGeom prst="rect">
            <a:avLst/>
          </a:prstGeom>
        </p:spPr>
      </p:pic>
    </p:spTree>
    <p:extLst>
      <p:ext uri="{BB962C8B-B14F-4D97-AF65-F5344CB8AC3E}">
        <p14:creationId xmlns:p14="http://schemas.microsoft.com/office/powerpoint/2010/main" val="112778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073A4D04-1018-5E44-744E-E4311CD1C89A}"/>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0BAA6CA8-CD23-CFD4-806A-8879C12EE0BA}"/>
              </a:ext>
            </a:extLst>
          </p:cNvPr>
          <p:cNvSpPr txBox="1"/>
          <p:nvPr/>
        </p:nvSpPr>
        <p:spPr>
          <a:xfrm>
            <a:off x="566928" y="457200"/>
            <a:ext cx="7315200" cy="219456"/>
          </a:xfrm>
          <a:prstGeom prst="rect">
            <a:avLst/>
          </a:prstGeom>
          <a:noFill/>
          <a:ln/>
        </p:spPr>
        <p:txBody>
          <a:bodyPr wrap="square" lIns="0" tIns="0" rIns="0" bIns="0" rtlCol="0" anchor="ctr"/>
          <a:lstStyle/>
          <a:p>
            <a:pPr marL="0" indent="0">
              <a:buNone/>
            </a:pPr>
            <a:r>
              <a:rPr lang="en-US" sz="1050" b="1" kern="0" spc="200" dirty="0">
                <a:solidFill>
                  <a:srgbClr val="D9F201"/>
                </a:solidFill>
                <a:latin typeface="Arial" pitchFamily="34" charset="0"/>
                <a:ea typeface="Arial" pitchFamily="34" charset="-122"/>
                <a:cs typeface="Arial" pitchFamily="34" charset="-120"/>
              </a:rPr>
              <a:t>More on threads</a:t>
            </a:r>
            <a:endParaRPr lang="en-US" sz="1050" dirty="0"/>
          </a:p>
        </p:txBody>
      </p:sp>
      <p:sp>
        <p:nvSpPr>
          <p:cNvPr id="4" name="Text 1">
            <a:extLst>
              <a:ext uri="{FF2B5EF4-FFF2-40B4-BE49-F238E27FC236}">
                <a16:creationId xmlns:a16="http://schemas.microsoft.com/office/drawing/2014/main" id="{77F1199A-FFCE-0C7E-9013-15D5DFB61F70}"/>
              </a:ext>
            </a:extLst>
          </p:cNvPr>
          <p:cNvSpPr txBox="1"/>
          <p:nvPr/>
        </p:nvSpPr>
        <p:spPr>
          <a:xfrm>
            <a:off x="566928" y="722376"/>
            <a:ext cx="7498080" cy="566928"/>
          </a:xfrm>
          <a:prstGeom prst="rect">
            <a:avLst/>
          </a:prstGeom>
          <a:noFill/>
          <a:ln/>
        </p:spPr>
        <p:txBody>
          <a:bodyPr wrap="square" lIns="0" tIns="0" rIns="0" bIns="0" rtlCol="0" anchor="ctr"/>
          <a:lstStyle/>
          <a:p>
            <a:r>
              <a:rPr lang="en-US" sz="3200" b="1" dirty="0">
                <a:solidFill>
                  <a:srgbClr val="FFFFFF"/>
                </a:solidFill>
                <a:latin typeface="Arial" pitchFamily="34" charset="0"/>
                <a:cs typeface="Arial" pitchFamily="34" charset="-120"/>
              </a:rPr>
              <a:t>CPU Threads vs Software Threads</a:t>
            </a:r>
            <a:endParaRPr lang="en-US" sz="3200" dirty="0"/>
          </a:p>
        </p:txBody>
      </p:sp>
      <p:sp>
        <p:nvSpPr>
          <p:cNvPr id="5" name="Shape 2">
            <a:extLst>
              <a:ext uri="{FF2B5EF4-FFF2-40B4-BE49-F238E27FC236}">
                <a16:creationId xmlns:a16="http://schemas.microsoft.com/office/drawing/2014/main" id="{23D62C64-C965-F33A-BEDC-31D749CD9EAD}"/>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DAC419FC-856C-A17D-545F-471A81B00D9F}"/>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FA632522-B6FB-8E1D-FF36-5F4998890993}"/>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2DA9A728-C2F9-BB9A-EF54-172EBB50F397}"/>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39D75EC6-49D6-D3D6-F84F-3AF539495025}"/>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F1E048BF-1A68-EBA3-86B4-56F5D0F276B1}"/>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5DF37364-CAA9-D6D0-B9FB-AB484FBB42D0}"/>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76559308-BB9A-B75A-F05C-4A8F2A422DF4}"/>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854A44CA-B8D1-FBAE-1319-12A2F5E0D6E4}"/>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4" name="Text 11">
            <a:extLst>
              <a:ext uri="{FF2B5EF4-FFF2-40B4-BE49-F238E27FC236}">
                <a16:creationId xmlns:a16="http://schemas.microsoft.com/office/drawing/2014/main" id="{7E2D015D-0BD0-3AF9-9DC1-8AAF4BFA62E5}"/>
              </a:ext>
            </a:extLst>
          </p:cNvPr>
          <p:cNvSpPr txBox="1"/>
          <p:nvPr/>
        </p:nvSpPr>
        <p:spPr>
          <a:xfrm>
            <a:off x="566927" y="1600200"/>
            <a:ext cx="7589029" cy="1715429"/>
          </a:xfrm>
          <a:prstGeom prst="rect">
            <a:avLst/>
          </a:prstGeom>
          <a:noFill/>
          <a:ln/>
        </p:spPr>
        <p:txBody>
          <a:bodyPr wrap="square" lIns="0" tIns="0" rIns="0" bIns="0" rtlCol="0" anchor="t"/>
          <a:lstStyle/>
          <a:p>
            <a:pPr algn="just">
              <a:lnSpc>
                <a:spcPts val="2400"/>
              </a:lnSpc>
              <a:spcAft>
                <a:spcPts val="1000"/>
              </a:spcAft>
            </a:pPr>
            <a:r>
              <a:rPr lang="en-US" sz="1400" dirty="0">
                <a:solidFill>
                  <a:schemeClr val="bg1"/>
                </a:solidFill>
                <a:latin typeface="Arial" pitchFamily="34" charset="0"/>
                <a:ea typeface="Arial" pitchFamily="34" charset="-122"/>
                <a:cs typeface="Arial" pitchFamily="34" charset="-120"/>
              </a:rPr>
              <a:t>CPU threads are hardware constructs, while software threads are code-level </a:t>
            </a:r>
            <a:r>
              <a:rPr lang="en-US" sz="1400" dirty="0" err="1">
                <a:solidFill>
                  <a:schemeClr val="bg1"/>
                </a:solidFill>
                <a:latin typeface="Arial" pitchFamily="34" charset="0"/>
                <a:ea typeface="Arial" pitchFamily="34" charset="-122"/>
                <a:cs typeface="Arial" pitchFamily="34" charset="-120"/>
              </a:rPr>
              <a:t>abstractions.At</a:t>
            </a:r>
            <a:r>
              <a:rPr lang="en-US" sz="1400" dirty="0">
                <a:solidFill>
                  <a:schemeClr val="bg1"/>
                </a:solidFill>
                <a:latin typeface="Arial" pitchFamily="34" charset="0"/>
                <a:ea typeface="Arial" pitchFamily="34" charset="-122"/>
                <a:cs typeface="Arial" pitchFamily="34" charset="-120"/>
              </a:rPr>
              <a:t> its core, a CPU thread (hardware thread) represents a physical or logical execution slot provided by the processor to run instructions. A software thread is a sequence of instructions created by code and managed by the operating system (OS) or a programming language runtime to perform specific tasks</a:t>
            </a:r>
            <a:endParaRPr lang="en-US" sz="1400" dirty="0">
              <a:solidFill>
                <a:schemeClr val="bg1"/>
              </a:solidFill>
            </a:endParaRPr>
          </a:p>
        </p:txBody>
      </p:sp>
      <p:sp>
        <p:nvSpPr>
          <p:cNvPr id="17" name="Text 14">
            <a:extLst>
              <a:ext uri="{FF2B5EF4-FFF2-40B4-BE49-F238E27FC236}">
                <a16:creationId xmlns:a16="http://schemas.microsoft.com/office/drawing/2014/main" id="{0B98E6A7-67BC-362C-0F47-6674FA8B41E9}"/>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spTree>
    <p:extLst>
      <p:ext uri="{BB962C8B-B14F-4D97-AF65-F5344CB8AC3E}">
        <p14:creationId xmlns:p14="http://schemas.microsoft.com/office/powerpoint/2010/main" val="1298479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val 1"/>
          <p:cNvSpPr/>
          <p:nvPr/>
        </p:nvSpPr>
        <p:spPr>
          <a:xfrm>
            <a:off x="8366760"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499348"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31936"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366760"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99348"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31936"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366760"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99348"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31936"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4764024"/>
            <a:ext cx="4114800" cy="228600"/>
          </a:xfrm>
          <a:prstGeom prst="rect">
            <a:avLst/>
          </a:prstGeom>
          <a:noFill/>
        </p:spPr>
        <p:txBody>
          <a:bodyPr wrap="square" lIns="0" tIns="0" rIns="0" bIns="0">
            <a:spAutoFit/>
          </a:bodyPr>
          <a:lstStyle/>
          <a:p>
            <a:pPr algn="l">
              <a:spcAft>
                <a:spcPts val="0"/>
              </a:spcAft>
              <a:buNone/>
            </a:pPr>
            <a:r>
              <a:rPr sz="900" b="0" i="0">
                <a:solidFill>
                  <a:srgbClr val="5E6357"/>
                </a:solidFill>
                <a:latin typeface="Arial"/>
              </a:rPr>
              <a:t>Network Programming · Lecture 1</a:t>
            </a:r>
          </a:p>
        </p:txBody>
      </p:sp>
      <p:sp>
        <p:nvSpPr>
          <p:cNvPr id="12" name="TextBox 11"/>
          <p:cNvSpPr txBox="1"/>
          <p:nvPr/>
        </p:nvSpPr>
        <p:spPr>
          <a:xfrm>
            <a:off x="566928" y="457200"/>
            <a:ext cx="7315200" cy="219456"/>
          </a:xfrm>
          <a:prstGeom prst="rect">
            <a:avLst/>
          </a:prstGeom>
          <a:noFill/>
        </p:spPr>
        <p:txBody>
          <a:bodyPr wrap="square" lIns="0" tIns="0" rIns="0" bIns="0">
            <a:spAutoFit/>
          </a:bodyPr>
          <a:lstStyle/>
          <a:p>
            <a:pPr algn="l">
              <a:spcAft>
                <a:spcPts val="0"/>
              </a:spcAft>
              <a:buNone/>
            </a:pPr>
            <a:r>
              <a:rPr sz="1050" b="1" i="0">
                <a:solidFill>
                  <a:srgbClr val="D9F201"/>
                </a:solidFill>
                <a:latin typeface="Arial"/>
              </a:rPr>
              <a:t>C#  ·  EXAMPLE 1</a:t>
            </a:r>
          </a:p>
        </p:txBody>
      </p:sp>
      <p:sp>
        <p:nvSpPr>
          <p:cNvPr id="13" name="TextBox 12"/>
          <p:cNvSpPr txBox="1"/>
          <p:nvPr/>
        </p:nvSpPr>
        <p:spPr>
          <a:xfrm>
            <a:off x="566928" y="722376"/>
            <a:ext cx="7680960" cy="566928"/>
          </a:xfrm>
          <a:prstGeom prst="rect">
            <a:avLst/>
          </a:prstGeom>
          <a:noFill/>
        </p:spPr>
        <p:txBody>
          <a:bodyPr wrap="square" lIns="0" tIns="0" rIns="0" bIns="0">
            <a:spAutoFit/>
          </a:bodyPr>
          <a:lstStyle/>
          <a:p>
            <a:pPr algn="l">
              <a:spcAft>
                <a:spcPts val="0"/>
              </a:spcAft>
              <a:buNone/>
            </a:pPr>
            <a:r>
              <a:rPr sz="3200" b="1" i="0">
                <a:solidFill>
                  <a:srgbClr val="FFFFFF"/>
                </a:solidFill>
                <a:latin typeface="Arial"/>
              </a:rPr>
              <a:t>Creating a thread</a:t>
            </a:r>
          </a:p>
        </p:txBody>
      </p:sp>
      <p:sp>
        <p:nvSpPr>
          <p:cNvPr id="14" name="Rounded Rectangle 13"/>
          <p:cNvSpPr/>
          <p:nvPr/>
        </p:nvSpPr>
        <p:spPr>
          <a:xfrm>
            <a:off x="566928" y="1444752"/>
            <a:ext cx="4617720" cy="2761488"/>
          </a:xfrm>
          <a:prstGeom prst="roundRect">
            <a:avLst>
              <a:gd name="adj" fmla="val 3000"/>
            </a:avLst>
          </a:prstGeom>
          <a:solidFill>
            <a:srgbClr val="141613"/>
          </a:solidFill>
          <a:ln w="12700">
            <a:solidFill>
              <a:srgbClr val="1F231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86384" y="1627632"/>
            <a:ext cx="4206240" cy="2509020"/>
          </a:xfrm>
          <a:prstGeom prst="rect">
            <a:avLst/>
          </a:prstGeom>
          <a:noFill/>
        </p:spPr>
        <p:txBody>
          <a:bodyPr wrap="square" lIns="0" tIns="0" rIns="0" bIns="0">
            <a:spAutoFit/>
          </a:bodyPr>
          <a:lstStyle/>
          <a:p>
            <a:pPr algn="l">
              <a:lnSpc>
                <a:spcPts val="1350"/>
              </a:lnSpc>
              <a:spcAft>
                <a:spcPts val="0"/>
              </a:spcAft>
              <a:buNone/>
            </a:pPr>
            <a:r>
              <a:rPr sz="1050" b="0" i="0" dirty="0">
                <a:solidFill>
                  <a:srgbClr val="5E6357"/>
                </a:solidFill>
                <a:latin typeface="Courier New"/>
              </a:rPr>
              <a:t>// 1. describe the work</a:t>
            </a:r>
          </a:p>
          <a:p>
            <a:pPr algn="l">
              <a:lnSpc>
                <a:spcPts val="1350"/>
              </a:lnSpc>
              <a:spcAft>
                <a:spcPts val="0"/>
              </a:spcAft>
              <a:buNone/>
            </a:pPr>
            <a:r>
              <a:rPr sz="1050" b="0" i="0" dirty="0">
                <a:solidFill>
                  <a:srgbClr val="35E0C8"/>
                </a:solidFill>
                <a:latin typeface="Courier New"/>
              </a:rPr>
              <a:t>Thread</a:t>
            </a:r>
            <a:r>
              <a:rPr sz="1050" b="0" i="0" dirty="0">
                <a:solidFill>
                  <a:srgbClr val="FFFFFF"/>
                </a:solidFill>
                <a:latin typeface="Courier New"/>
              </a:rPr>
              <a:t> worker = </a:t>
            </a:r>
            <a:r>
              <a:rPr sz="1050" b="0" i="0" dirty="0">
                <a:solidFill>
                  <a:srgbClr val="D9F201"/>
                </a:solidFill>
                <a:latin typeface="Courier New"/>
              </a:rPr>
              <a:t>new</a:t>
            </a:r>
            <a:r>
              <a:rPr sz="1050" b="0" i="0" dirty="0">
                <a:solidFill>
                  <a:srgbClr val="FFFFFF"/>
                </a:solidFill>
                <a:latin typeface="Courier New"/>
              </a:rPr>
              <a:t> Thread(Work);</a:t>
            </a:r>
          </a:p>
          <a:p>
            <a:pPr algn="l">
              <a:lnSpc>
                <a:spcPts val="1350"/>
              </a:lnSpc>
              <a:spcAft>
                <a:spcPts val="0"/>
              </a:spcAft>
              <a:buNone/>
            </a:pPr>
            <a:endParaRPr sz="1050" b="0" i="0" dirty="0">
              <a:solidFill>
                <a:srgbClr val="FFFFFF"/>
              </a:solidFill>
              <a:latin typeface="Courier New"/>
            </a:endParaRPr>
          </a:p>
          <a:p>
            <a:pPr algn="l">
              <a:lnSpc>
                <a:spcPts val="1350"/>
              </a:lnSpc>
              <a:spcAft>
                <a:spcPts val="0"/>
              </a:spcAft>
              <a:buNone/>
            </a:pPr>
            <a:r>
              <a:rPr sz="1050" b="0" i="0" dirty="0">
                <a:solidFill>
                  <a:srgbClr val="5E6357"/>
                </a:solidFill>
                <a:latin typeface="Courier New"/>
              </a:rPr>
              <a:t>// 2. start it - now two threads run</a:t>
            </a:r>
          </a:p>
          <a:p>
            <a:pPr algn="l">
              <a:lnSpc>
                <a:spcPts val="1350"/>
              </a:lnSpc>
              <a:spcAft>
                <a:spcPts val="0"/>
              </a:spcAft>
              <a:buNone/>
            </a:pPr>
            <a:r>
              <a:rPr sz="1050" b="0" i="0" dirty="0" err="1">
                <a:solidFill>
                  <a:srgbClr val="FFFFFF"/>
                </a:solidFill>
                <a:latin typeface="Courier New"/>
              </a:rPr>
              <a:t>worker.Start</a:t>
            </a:r>
            <a:r>
              <a:rPr sz="1050" b="0" i="0" dirty="0">
                <a:solidFill>
                  <a:srgbClr val="FFFFFF"/>
                </a:solidFill>
                <a:latin typeface="Courier New"/>
              </a:rPr>
              <a:t>();</a:t>
            </a:r>
          </a:p>
          <a:p>
            <a:pPr algn="l">
              <a:lnSpc>
                <a:spcPts val="1350"/>
              </a:lnSpc>
              <a:spcAft>
                <a:spcPts val="0"/>
              </a:spcAft>
              <a:buNone/>
            </a:pPr>
            <a:endParaRPr sz="1050" b="0" i="0" dirty="0">
              <a:solidFill>
                <a:srgbClr val="FFFFFF"/>
              </a:solidFill>
              <a:latin typeface="Courier New"/>
            </a:endParaRPr>
          </a:p>
          <a:p>
            <a:pPr algn="l">
              <a:lnSpc>
                <a:spcPts val="1350"/>
              </a:lnSpc>
              <a:spcAft>
                <a:spcPts val="0"/>
              </a:spcAft>
              <a:buNone/>
            </a:pPr>
            <a:r>
              <a:rPr sz="1050" b="0" i="0" dirty="0">
                <a:solidFill>
                  <a:srgbClr val="5E6357"/>
                </a:solidFill>
                <a:latin typeface="Courier New"/>
              </a:rPr>
              <a:t>// 3. wait for it to finish</a:t>
            </a:r>
          </a:p>
          <a:p>
            <a:pPr algn="l">
              <a:lnSpc>
                <a:spcPts val="1350"/>
              </a:lnSpc>
              <a:spcAft>
                <a:spcPts val="0"/>
              </a:spcAft>
              <a:buNone/>
            </a:pPr>
            <a:r>
              <a:rPr sz="1050" b="0" i="0" dirty="0" err="1">
                <a:solidFill>
                  <a:srgbClr val="FFFFFF"/>
                </a:solidFill>
                <a:latin typeface="Courier New"/>
              </a:rPr>
              <a:t>worker.Join</a:t>
            </a:r>
            <a:r>
              <a:rPr sz="1050" b="0" i="0" dirty="0">
                <a:solidFill>
                  <a:srgbClr val="FFFFFF"/>
                </a:solidFill>
                <a:latin typeface="Courier New"/>
              </a:rPr>
              <a:t>();</a:t>
            </a:r>
          </a:p>
          <a:p>
            <a:pPr algn="l">
              <a:lnSpc>
                <a:spcPts val="1350"/>
              </a:lnSpc>
              <a:spcAft>
                <a:spcPts val="0"/>
              </a:spcAft>
              <a:buNone/>
            </a:pPr>
            <a:endParaRPr sz="1050" b="0" i="0" dirty="0">
              <a:solidFill>
                <a:srgbClr val="FFFFFF"/>
              </a:solidFill>
              <a:latin typeface="Courier New"/>
            </a:endParaRPr>
          </a:p>
          <a:p>
            <a:pPr algn="l">
              <a:lnSpc>
                <a:spcPts val="1350"/>
              </a:lnSpc>
              <a:spcAft>
                <a:spcPts val="0"/>
              </a:spcAft>
              <a:buNone/>
            </a:pPr>
            <a:r>
              <a:rPr sz="1050" b="0" i="0" dirty="0">
                <a:solidFill>
                  <a:srgbClr val="D9F201"/>
                </a:solidFill>
                <a:latin typeface="Courier New"/>
              </a:rPr>
              <a:t>void</a:t>
            </a:r>
            <a:r>
              <a:rPr sz="1050" b="0" i="0" dirty="0">
                <a:solidFill>
                  <a:srgbClr val="FFFFFF"/>
                </a:solidFill>
                <a:latin typeface="Courier New"/>
              </a:rPr>
              <a:t> Work()</a:t>
            </a:r>
            <a:r>
              <a:rPr lang="en-US" sz="1050" dirty="0">
                <a:solidFill>
                  <a:srgbClr val="FFFFFF"/>
                </a:solidFill>
                <a:latin typeface="Courier New"/>
              </a:rPr>
              <a:t> </a:t>
            </a:r>
            <a:r>
              <a:rPr lang="en-US" sz="1050" dirty="0">
                <a:solidFill>
                  <a:schemeClr val="bg1">
                    <a:lumMod val="50000"/>
                  </a:schemeClr>
                </a:solidFill>
                <a:latin typeface="Courier New"/>
              </a:rPr>
              <a:t>// executed on different thread</a:t>
            </a:r>
            <a:endParaRPr sz="1050" b="0" i="0" dirty="0">
              <a:solidFill>
                <a:schemeClr val="bg1">
                  <a:lumMod val="50000"/>
                </a:schemeClr>
              </a:solidFill>
              <a:latin typeface="Courier New"/>
            </a:endParaRPr>
          </a:p>
          <a:p>
            <a:pPr algn="l">
              <a:lnSpc>
                <a:spcPts val="1350"/>
              </a:lnSpc>
              <a:spcAft>
                <a:spcPts val="0"/>
              </a:spcAft>
              <a:buNone/>
            </a:pPr>
            <a:r>
              <a:rPr sz="1050" b="0" i="0" dirty="0">
                <a:solidFill>
                  <a:schemeClr val="bg1">
                    <a:lumMod val="65000"/>
                  </a:schemeClr>
                </a:solidFill>
                <a:latin typeface="Courier New"/>
              </a:rPr>
              <a:t>{</a:t>
            </a:r>
          </a:p>
          <a:p>
            <a:pPr algn="l">
              <a:lnSpc>
                <a:spcPts val="1350"/>
              </a:lnSpc>
              <a:spcAft>
                <a:spcPts val="0"/>
              </a:spcAft>
              <a:buNone/>
            </a:pPr>
            <a:r>
              <a:rPr sz="1050" b="0" i="0" dirty="0">
                <a:solidFill>
                  <a:srgbClr val="FFFFFF"/>
                </a:solidFill>
                <a:latin typeface="Courier New"/>
              </a:rPr>
              <a:t>    </a:t>
            </a:r>
            <a:r>
              <a:rPr sz="1050" b="0" i="0" dirty="0">
                <a:solidFill>
                  <a:srgbClr val="D9F201"/>
                </a:solidFill>
                <a:latin typeface="Courier New"/>
              </a:rPr>
              <a:t>int</a:t>
            </a:r>
            <a:r>
              <a:rPr sz="1050" b="0" i="0" dirty="0">
                <a:solidFill>
                  <a:srgbClr val="FFFFFF"/>
                </a:solidFill>
                <a:latin typeface="Courier New"/>
              </a:rPr>
              <a:t> id = </a:t>
            </a:r>
            <a:r>
              <a:rPr sz="1050" b="0" i="0" dirty="0" err="1">
                <a:solidFill>
                  <a:srgbClr val="35E0C8"/>
                </a:solidFill>
                <a:latin typeface="Courier New"/>
              </a:rPr>
              <a:t>Thread</a:t>
            </a:r>
            <a:r>
              <a:rPr sz="1050" b="0" i="0" dirty="0" err="1">
                <a:solidFill>
                  <a:srgbClr val="FFFFFF"/>
                </a:solidFill>
                <a:latin typeface="Courier New"/>
              </a:rPr>
              <a:t>.CurrentThread.ManagedThreadId</a:t>
            </a:r>
            <a:r>
              <a:rPr sz="1050" b="0" i="0" dirty="0">
                <a:solidFill>
                  <a:srgbClr val="FFFFFF"/>
                </a:solidFill>
                <a:latin typeface="Courier New"/>
              </a:rPr>
              <a:t>;</a:t>
            </a:r>
          </a:p>
          <a:p>
            <a:pPr algn="l">
              <a:lnSpc>
                <a:spcPts val="1350"/>
              </a:lnSpc>
              <a:spcAft>
                <a:spcPts val="0"/>
              </a:spcAft>
              <a:buNone/>
            </a:pPr>
            <a:r>
              <a:rPr sz="1050" b="0" i="0" dirty="0">
                <a:solidFill>
                  <a:srgbClr val="FFFFFF"/>
                </a:solidFill>
                <a:latin typeface="Courier New"/>
              </a:rPr>
              <a:t>    </a:t>
            </a:r>
            <a:r>
              <a:rPr sz="1050" b="0" i="0" dirty="0" err="1">
                <a:solidFill>
                  <a:srgbClr val="35E0C8"/>
                </a:solidFill>
                <a:latin typeface="Courier New"/>
              </a:rPr>
              <a:t>Console</a:t>
            </a:r>
            <a:r>
              <a:rPr sz="1050" b="0" i="0" dirty="0" err="1">
                <a:solidFill>
                  <a:srgbClr val="FFFFFF"/>
                </a:solidFill>
                <a:latin typeface="Courier New"/>
              </a:rPr>
              <a:t>.WriteLine</a:t>
            </a:r>
            <a:r>
              <a:rPr sz="1050" b="0" i="0" dirty="0">
                <a:solidFill>
                  <a:srgbClr val="FFFFFF"/>
                </a:solidFill>
                <a:latin typeface="Courier New"/>
              </a:rPr>
              <a:t>($</a:t>
            </a:r>
            <a:r>
              <a:rPr sz="1050" b="0" i="0" dirty="0">
                <a:solidFill>
                  <a:srgbClr val="35E0C8"/>
                </a:solidFill>
                <a:latin typeface="Courier New"/>
              </a:rPr>
              <a:t>"[worker] thread {id}"</a:t>
            </a:r>
            <a:r>
              <a:rPr sz="1050" b="0" i="0" dirty="0">
                <a:solidFill>
                  <a:srgbClr val="FFFFFF"/>
                </a:solidFill>
                <a:latin typeface="Courier New"/>
              </a:rPr>
              <a:t>);</a:t>
            </a:r>
          </a:p>
          <a:p>
            <a:pPr algn="l">
              <a:lnSpc>
                <a:spcPts val="1350"/>
              </a:lnSpc>
              <a:spcAft>
                <a:spcPts val="0"/>
              </a:spcAft>
              <a:buNone/>
            </a:pPr>
            <a:r>
              <a:rPr sz="1050" b="0" i="0" dirty="0">
                <a:solidFill>
                  <a:srgbClr val="FFFFFF"/>
                </a:solidFill>
                <a:latin typeface="Courier New"/>
              </a:rPr>
              <a:t>}</a:t>
            </a:r>
          </a:p>
        </p:txBody>
      </p:sp>
      <p:sp>
        <p:nvSpPr>
          <p:cNvPr id="18" name="TextBox 17"/>
          <p:cNvSpPr txBox="1"/>
          <p:nvPr/>
        </p:nvSpPr>
        <p:spPr>
          <a:xfrm>
            <a:off x="566928" y="4370832"/>
            <a:ext cx="8010144" cy="192360"/>
          </a:xfrm>
          <a:prstGeom prst="rect">
            <a:avLst/>
          </a:prstGeom>
          <a:noFill/>
        </p:spPr>
        <p:txBody>
          <a:bodyPr wrap="square" lIns="0" tIns="0" rIns="0" bIns="0">
            <a:spAutoFit/>
          </a:bodyPr>
          <a:lstStyle/>
          <a:p>
            <a:pPr algn="l">
              <a:spcAft>
                <a:spcPts val="0"/>
              </a:spcAft>
              <a:buNone/>
            </a:pPr>
            <a:r>
              <a:rPr sz="1250" b="0" i="1" dirty="0">
                <a:solidFill>
                  <a:schemeClr val="bg1">
                    <a:lumMod val="95000"/>
                  </a:schemeClr>
                </a:solidFill>
                <a:latin typeface="Arial"/>
              </a:rPr>
              <a:t>Start() creates the thread. Join() makes main wait for 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val 1"/>
          <p:cNvSpPr/>
          <p:nvPr/>
        </p:nvSpPr>
        <p:spPr>
          <a:xfrm>
            <a:off x="8366760"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499348"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31936"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366760"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99348"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31936"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366760"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99348"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31936"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4764024"/>
            <a:ext cx="4114800" cy="228600"/>
          </a:xfrm>
          <a:prstGeom prst="rect">
            <a:avLst/>
          </a:prstGeom>
          <a:noFill/>
        </p:spPr>
        <p:txBody>
          <a:bodyPr wrap="square" lIns="0" tIns="0" rIns="0" bIns="0">
            <a:spAutoFit/>
          </a:bodyPr>
          <a:lstStyle/>
          <a:p>
            <a:pPr algn="l">
              <a:spcAft>
                <a:spcPts val="0"/>
              </a:spcAft>
              <a:buNone/>
            </a:pPr>
            <a:r>
              <a:rPr sz="900" b="0" i="0">
                <a:solidFill>
                  <a:srgbClr val="5E6357"/>
                </a:solidFill>
                <a:latin typeface="Arial"/>
              </a:rPr>
              <a:t>Network Programming · Lecture 1</a:t>
            </a:r>
          </a:p>
        </p:txBody>
      </p:sp>
      <p:sp>
        <p:nvSpPr>
          <p:cNvPr id="12" name="TextBox 11"/>
          <p:cNvSpPr txBox="1"/>
          <p:nvPr/>
        </p:nvSpPr>
        <p:spPr>
          <a:xfrm>
            <a:off x="566928" y="457200"/>
            <a:ext cx="7315200" cy="219456"/>
          </a:xfrm>
          <a:prstGeom prst="rect">
            <a:avLst/>
          </a:prstGeom>
          <a:noFill/>
        </p:spPr>
        <p:txBody>
          <a:bodyPr wrap="square" lIns="0" tIns="0" rIns="0" bIns="0">
            <a:spAutoFit/>
          </a:bodyPr>
          <a:lstStyle/>
          <a:p>
            <a:pPr algn="l">
              <a:spcAft>
                <a:spcPts val="0"/>
              </a:spcAft>
              <a:buNone/>
            </a:pPr>
            <a:r>
              <a:rPr sz="1050" b="1" i="0">
                <a:solidFill>
                  <a:srgbClr val="D9F201"/>
                </a:solidFill>
                <a:latin typeface="Arial"/>
              </a:rPr>
              <a:t>REPOSITORY</a:t>
            </a:r>
          </a:p>
        </p:txBody>
      </p:sp>
      <p:sp>
        <p:nvSpPr>
          <p:cNvPr id="13" name="TextBox 12"/>
          <p:cNvSpPr txBox="1"/>
          <p:nvPr/>
        </p:nvSpPr>
        <p:spPr>
          <a:xfrm>
            <a:off x="566928" y="722376"/>
            <a:ext cx="7680960" cy="566928"/>
          </a:xfrm>
          <a:prstGeom prst="rect">
            <a:avLst/>
          </a:prstGeom>
          <a:noFill/>
        </p:spPr>
        <p:txBody>
          <a:bodyPr wrap="square" lIns="0" tIns="0" rIns="0" bIns="0">
            <a:spAutoFit/>
          </a:bodyPr>
          <a:lstStyle/>
          <a:p>
            <a:pPr algn="l">
              <a:spcAft>
                <a:spcPts val="0"/>
              </a:spcAft>
              <a:buNone/>
            </a:pPr>
            <a:r>
              <a:rPr sz="3200" b="1" i="0">
                <a:solidFill>
                  <a:srgbClr val="FFFFFF"/>
                </a:solidFill>
                <a:latin typeface="Arial"/>
              </a:rPr>
              <a:t>More examples in code</a:t>
            </a:r>
          </a:p>
        </p:txBody>
      </p:sp>
      <p:sp>
        <p:nvSpPr>
          <p:cNvPr id="14" name="Rounded Rectangle 13"/>
          <p:cNvSpPr/>
          <p:nvPr/>
        </p:nvSpPr>
        <p:spPr>
          <a:xfrm>
            <a:off x="566928" y="1444752"/>
            <a:ext cx="8010144" cy="658368"/>
          </a:xfrm>
          <a:prstGeom prst="roundRect">
            <a:avLst>
              <a:gd name="adj" fmla="val 3000"/>
            </a:avLst>
          </a:prstGeom>
          <a:solidFill>
            <a:srgbClr val="141613"/>
          </a:solidFill>
          <a:ln w="12700">
            <a:solidFill>
              <a:srgbClr val="1F231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41248" y="1645920"/>
            <a:ext cx="7498079" cy="261610"/>
          </a:xfrm>
          <a:prstGeom prst="rect">
            <a:avLst/>
          </a:prstGeom>
          <a:noFill/>
        </p:spPr>
        <p:txBody>
          <a:bodyPr wrap="square" lIns="0" tIns="0" rIns="0" bIns="0">
            <a:spAutoFit/>
          </a:bodyPr>
          <a:lstStyle/>
          <a:p>
            <a:pPr algn="l">
              <a:spcAft>
                <a:spcPts val="0"/>
              </a:spcAft>
              <a:buNone/>
            </a:pPr>
            <a:r>
              <a:rPr sz="1700" b="1" i="0" dirty="0">
                <a:solidFill>
                  <a:srgbClr val="D9F201"/>
                </a:solidFill>
                <a:latin typeface="Courier New"/>
              </a:rPr>
              <a:t>Module 1 - Multithreading</a:t>
            </a:r>
          </a:p>
        </p:txBody>
      </p:sp>
      <p:sp>
        <p:nvSpPr>
          <p:cNvPr id="16" name="TextBox 15"/>
          <p:cNvSpPr txBox="1"/>
          <p:nvPr/>
        </p:nvSpPr>
        <p:spPr>
          <a:xfrm>
            <a:off x="841248" y="1883664"/>
            <a:ext cx="7498079" cy="228600"/>
          </a:xfrm>
          <a:prstGeom prst="rect">
            <a:avLst/>
          </a:prstGeom>
          <a:noFill/>
        </p:spPr>
        <p:txBody>
          <a:bodyPr wrap="square" lIns="0" tIns="0" rIns="0" bIns="0">
            <a:spAutoFit/>
          </a:bodyPr>
          <a:lstStyle/>
          <a:p>
            <a:pPr algn="l">
              <a:spcAft>
                <a:spcPts val="0"/>
              </a:spcAft>
              <a:buNone/>
            </a:pPr>
            <a:r>
              <a:rPr sz="1100" b="0" i="0">
                <a:solidFill>
                  <a:srgbClr val="9AA095"/>
                </a:solidFill>
                <a:latin typeface="Arial"/>
              </a:rPr>
              <a:t>one class per example, all implementing IExample - pick one in Program.cs</a:t>
            </a:r>
          </a:p>
        </p:txBody>
      </p:sp>
      <p:sp>
        <p:nvSpPr>
          <p:cNvPr id="17" name="TextBox 16"/>
          <p:cNvSpPr txBox="1"/>
          <p:nvPr/>
        </p:nvSpPr>
        <p:spPr>
          <a:xfrm>
            <a:off x="786384" y="2395728"/>
            <a:ext cx="3840480" cy="1737360"/>
          </a:xfrm>
          <a:prstGeom prst="rect">
            <a:avLst/>
          </a:prstGeom>
          <a:noFill/>
        </p:spPr>
        <p:txBody>
          <a:bodyPr wrap="square" lIns="0" tIns="0" rIns="0" bIns="0">
            <a:spAutoFit/>
          </a:bodyPr>
          <a:lstStyle/>
          <a:p>
            <a:pPr algn="l">
              <a:lnSpc>
                <a:spcPts val="1600"/>
              </a:lnSpc>
              <a:spcAft>
                <a:spcPts val="700"/>
              </a:spcAft>
              <a:buNone/>
            </a:pPr>
            <a:r>
              <a:rPr sz="1300" b="0" i="0">
                <a:solidFill>
                  <a:srgbClr val="FFFFFF"/>
                </a:solidFill>
                <a:latin typeface="Arial"/>
              </a:rPr>
              <a:t>01   Hello, thread</a:t>
            </a:r>
          </a:p>
          <a:p>
            <a:pPr algn="l">
              <a:lnSpc>
                <a:spcPts val="1600"/>
              </a:lnSpc>
              <a:spcAft>
                <a:spcPts val="700"/>
              </a:spcAft>
              <a:buNone/>
            </a:pPr>
            <a:r>
              <a:rPr sz="1300" b="0" i="0">
                <a:solidFill>
                  <a:srgbClr val="FFFFFF"/>
                </a:solidFill>
                <a:latin typeface="Arial"/>
              </a:rPr>
              <a:t>02   Two infinite loops: A and B</a:t>
            </a:r>
          </a:p>
          <a:p>
            <a:pPr algn="l">
              <a:lnSpc>
                <a:spcPts val="1600"/>
              </a:lnSpc>
              <a:spcAft>
                <a:spcPts val="700"/>
              </a:spcAft>
              <a:buNone/>
            </a:pPr>
            <a:r>
              <a:rPr sz="1300" b="0" i="0">
                <a:solidFill>
                  <a:srgbClr val="FFFFFF"/>
                </a:solidFill>
                <a:latin typeface="Arial"/>
              </a:rPr>
              <a:t>03   Start order is not guaranteed</a:t>
            </a:r>
          </a:p>
          <a:p>
            <a:pPr algn="l">
              <a:lnSpc>
                <a:spcPts val="1600"/>
              </a:lnSpc>
              <a:spcAft>
                <a:spcPts val="700"/>
              </a:spcAft>
              <a:buNone/>
            </a:pPr>
            <a:r>
              <a:rPr sz="1300" b="0" i="0">
                <a:solidFill>
                  <a:srgbClr val="FFFFFF"/>
                </a:solidFill>
                <a:latin typeface="Arial"/>
              </a:rPr>
              <a:t>04   Passing data into a thread</a:t>
            </a:r>
          </a:p>
          <a:p>
            <a:pPr algn="l">
              <a:lnSpc>
                <a:spcPts val="1600"/>
              </a:lnSpc>
              <a:spcAft>
                <a:spcPts val="700"/>
              </a:spcAft>
              <a:buNone/>
            </a:pPr>
            <a:r>
              <a:rPr sz="1300" b="0" i="0">
                <a:solidFill>
                  <a:srgbClr val="FFFFFF"/>
                </a:solidFill>
                <a:latin typeface="Arial"/>
              </a:rPr>
              <a:t>05   Foreground vs background</a:t>
            </a:r>
          </a:p>
        </p:txBody>
      </p:sp>
      <p:sp>
        <p:nvSpPr>
          <p:cNvPr id="18" name="TextBox 17"/>
          <p:cNvSpPr txBox="1"/>
          <p:nvPr/>
        </p:nvSpPr>
        <p:spPr>
          <a:xfrm>
            <a:off x="4754880" y="2395728"/>
            <a:ext cx="3840480" cy="1737360"/>
          </a:xfrm>
          <a:prstGeom prst="rect">
            <a:avLst/>
          </a:prstGeom>
          <a:noFill/>
        </p:spPr>
        <p:txBody>
          <a:bodyPr wrap="square" lIns="0" tIns="0" rIns="0" bIns="0">
            <a:spAutoFit/>
          </a:bodyPr>
          <a:lstStyle/>
          <a:p>
            <a:pPr algn="l">
              <a:lnSpc>
                <a:spcPts val="1600"/>
              </a:lnSpc>
              <a:spcAft>
                <a:spcPts val="700"/>
              </a:spcAft>
              <a:buNone/>
            </a:pPr>
            <a:r>
              <a:rPr sz="1300" b="0" i="0">
                <a:solidFill>
                  <a:srgbClr val="FFFFFF"/>
                </a:solidFill>
                <a:latin typeface="Arial"/>
              </a:rPr>
              <a:t>06   Sorting two arrays at once</a:t>
            </a:r>
          </a:p>
          <a:p>
            <a:pPr algn="l">
              <a:lnSpc>
                <a:spcPts val="1600"/>
              </a:lnSpc>
              <a:spcAft>
                <a:spcPts val="700"/>
              </a:spcAft>
              <a:buNone/>
            </a:pPr>
            <a:r>
              <a:rPr sz="1300" b="0" i="0">
                <a:solidFill>
                  <a:srgbClr val="FFFFFF"/>
                </a:solidFill>
                <a:latin typeface="Arial"/>
              </a:rPr>
              <a:t>07   Sequential vs parallel</a:t>
            </a:r>
          </a:p>
          <a:p>
            <a:pPr algn="l">
              <a:lnSpc>
                <a:spcPts val="1600"/>
              </a:lnSpc>
              <a:spcAft>
                <a:spcPts val="700"/>
              </a:spcAft>
              <a:buNone/>
            </a:pPr>
            <a:r>
              <a:rPr sz="1300" b="0" i="0">
                <a:solidFill>
                  <a:srgbClr val="FFFFFF"/>
                </a:solidFill>
                <a:latin typeface="Arial"/>
              </a:rPr>
              <a:t>08   Counting primes with N threads</a:t>
            </a:r>
          </a:p>
          <a:p>
            <a:pPr algn="l">
              <a:lnSpc>
                <a:spcPts val="1600"/>
              </a:lnSpc>
              <a:spcAft>
                <a:spcPts val="700"/>
              </a:spcAft>
              <a:buNone/>
            </a:pPr>
            <a:r>
              <a:rPr sz="1300" b="0" i="0">
                <a:solidFill>
                  <a:srgbClr val="FFFFFF"/>
                </a:solidFill>
                <a:latin typeface="Arial"/>
              </a:rPr>
              <a:t>09   What a thousand threads cost</a:t>
            </a:r>
          </a:p>
          <a:p>
            <a:pPr algn="l">
              <a:lnSpc>
                <a:spcPts val="1600"/>
              </a:lnSpc>
              <a:spcAft>
                <a:spcPts val="700"/>
              </a:spcAft>
              <a:buNone/>
            </a:pPr>
            <a:r>
              <a:rPr sz="1300" b="0" i="0">
                <a:solidFill>
                  <a:srgbClr val="FFFFFF"/>
                </a:solidFill>
                <a:latin typeface="Arial"/>
              </a:rPr>
              <a:t>10   CPU-bound vs I/O-bound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69B5578-B862-CC35-ECD1-B5B75B972228}"/>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7C1B694B-0ABD-14E2-BB76-6BA168B483D7}"/>
              </a:ext>
            </a:extLst>
          </p:cNvPr>
          <p:cNvSpPr/>
          <p:nvPr/>
        </p:nvSpPr>
        <p:spPr>
          <a:xfrm>
            <a:off x="8366760" y="502920"/>
            <a:ext cx="50292" cy="50292"/>
          </a:xfrm>
          <a:prstGeom prst="ellipse">
            <a:avLst/>
          </a:prstGeom>
          <a:solidFill>
            <a:srgbClr val="D9F201"/>
          </a:solidFill>
          <a:ln w="12700">
            <a:solidFill>
              <a:srgbClr val="D9F201"/>
            </a:solidFill>
            <a:prstDash val="solid"/>
          </a:ln>
        </p:spPr>
      </p:sp>
      <p:sp>
        <p:nvSpPr>
          <p:cNvPr id="6" name="Shape 3">
            <a:extLst>
              <a:ext uri="{FF2B5EF4-FFF2-40B4-BE49-F238E27FC236}">
                <a16:creationId xmlns:a16="http://schemas.microsoft.com/office/drawing/2014/main" id="{C52BB5AB-339D-FF42-CB36-B3024FEF1423}"/>
              </a:ext>
            </a:extLst>
          </p:cNvPr>
          <p:cNvSpPr/>
          <p:nvPr/>
        </p:nvSpPr>
        <p:spPr>
          <a:xfrm>
            <a:off x="8499348" y="502920"/>
            <a:ext cx="50292" cy="50292"/>
          </a:xfrm>
          <a:prstGeom prst="ellipse">
            <a:avLst/>
          </a:prstGeom>
          <a:solidFill>
            <a:srgbClr val="D9F201"/>
          </a:solidFill>
          <a:ln w="12700">
            <a:solidFill>
              <a:srgbClr val="D9F201"/>
            </a:solidFill>
            <a:prstDash val="solid"/>
          </a:ln>
        </p:spPr>
      </p:sp>
      <p:sp>
        <p:nvSpPr>
          <p:cNvPr id="7" name="Shape 4">
            <a:extLst>
              <a:ext uri="{FF2B5EF4-FFF2-40B4-BE49-F238E27FC236}">
                <a16:creationId xmlns:a16="http://schemas.microsoft.com/office/drawing/2014/main" id="{EC682F52-1580-6C65-2BE3-557CF36D6FBE}"/>
              </a:ext>
            </a:extLst>
          </p:cNvPr>
          <p:cNvSpPr/>
          <p:nvPr/>
        </p:nvSpPr>
        <p:spPr>
          <a:xfrm>
            <a:off x="8631936" y="502920"/>
            <a:ext cx="50292" cy="50292"/>
          </a:xfrm>
          <a:prstGeom prst="ellipse">
            <a:avLst/>
          </a:prstGeom>
          <a:solidFill>
            <a:srgbClr val="D9F201"/>
          </a:solidFill>
          <a:ln w="12700">
            <a:solidFill>
              <a:srgbClr val="D9F201"/>
            </a:solidFill>
            <a:prstDash val="solid"/>
          </a:ln>
        </p:spPr>
      </p:sp>
      <p:sp>
        <p:nvSpPr>
          <p:cNvPr id="8" name="Shape 5">
            <a:extLst>
              <a:ext uri="{FF2B5EF4-FFF2-40B4-BE49-F238E27FC236}">
                <a16:creationId xmlns:a16="http://schemas.microsoft.com/office/drawing/2014/main" id="{F2523535-CEFB-532D-A561-FEB80A2B3B97}"/>
              </a:ext>
            </a:extLst>
          </p:cNvPr>
          <p:cNvSpPr/>
          <p:nvPr/>
        </p:nvSpPr>
        <p:spPr>
          <a:xfrm>
            <a:off x="8366760" y="635508"/>
            <a:ext cx="50292" cy="50292"/>
          </a:xfrm>
          <a:prstGeom prst="ellipse">
            <a:avLst/>
          </a:prstGeom>
          <a:solidFill>
            <a:srgbClr val="D9F201"/>
          </a:solidFill>
          <a:ln w="12700">
            <a:solidFill>
              <a:srgbClr val="D9F201"/>
            </a:solidFill>
            <a:prstDash val="solid"/>
          </a:ln>
        </p:spPr>
      </p:sp>
      <p:sp>
        <p:nvSpPr>
          <p:cNvPr id="9" name="Shape 6">
            <a:extLst>
              <a:ext uri="{FF2B5EF4-FFF2-40B4-BE49-F238E27FC236}">
                <a16:creationId xmlns:a16="http://schemas.microsoft.com/office/drawing/2014/main" id="{2FE464D6-C684-6452-5420-E21F87D09C3C}"/>
              </a:ext>
            </a:extLst>
          </p:cNvPr>
          <p:cNvSpPr/>
          <p:nvPr/>
        </p:nvSpPr>
        <p:spPr>
          <a:xfrm>
            <a:off x="8499348" y="635508"/>
            <a:ext cx="50292" cy="50292"/>
          </a:xfrm>
          <a:prstGeom prst="ellipse">
            <a:avLst/>
          </a:prstGeom>
          <a:solidFill>
            <a:srgbClr val="D9F201"/>
          </a:solidFill>
          <a:ln w="12700">
            <a:solidFill>
              <a:srgbClr val="D9F201"/>
            </a:solidFill>
            <a:prstDash val="solid"/>
          </a:ln>
        </p:spPr>
      </p:sp>
      <p:sp>
        <p:nvSpPr>
          <p:cNvPr id="10" name="Shape 7">
            <a:extLst>
              <a:ext uri="{FF2B5EF4-FFF2-40B4-BE49-F238E27FC236}">
                <a16:creationId xmlns:a16="http://schemas.microsoft.com/office/drawing/2014/main" id="{99CC73C9-9F89-2189-30C4-DBA83D537D70}"/>
              </a:ext>
            </a:extLst>
          </p:cNvPr>
          <p:cNvSpPr/>
          <p:nvPr/>
        </p:nvSpPr>
        <p:spPr>
          <a:xfrm>
            <a:off x="8631936" y="635508"/>
            <a:ext cx="50292" cy="50292"/>
          </a:xfrm>
          <a:prstGeom prst="ellipse">
            <a:avLst/>
          </a:prstGeom>
          <a:solidFill>
            <a:srgbClr val="D9F201"/>
          </a:solidFill>
          <a:ln w="12700">
            <a:solidFill>
              <a:srgbClr val="D9F201"/>
            </a:solidFill>
            <a:prstDash val="solid"/>
          </a:ln>
        </p:spPr>
      </p:sp>
      <p:sp>
        <p:nvSpPr>
          <p:cNvPr id="11" name="Shape 8">
            <a:extLst>
              <a:ext uri="{FF2B5EF4-FFF2-40B4-BE49-F238E27FC236}">
                <a16:creationId xmlns:a16="http://schemas.microsoft.com/office/drawing/2014/main" id="{FBD6FE2E-8BF4-5858-26E6-40945AA5D4BA}"/>
              </a:ext>
            </a:extLst>
          </p:cNvPr>
          <p:cNvSpPr/>
          <p:nvPr/>
        </p:nvSpPr>
        <p:spPr>
          <a:xfrm>
            <a:off x="8366760" y="768096"/>
            <a:ext cx="50292" cy="50292"/>
          </a:xfrm>
          <a:prstGeom prst="ellipse">
            <a:avLst/>
          </a:prstGeom>
          <a:solidFill>
            <a:srgbClr val="D9F201"/>
          </a:solidFill>
          <a:ln w="12700">
            <a:solidFill>
              <a:srgbClr val="D9F201"/>
            </a:solidFill>
            <a:prstDash val="solid"/>
          </a:ln>
        </p:spPr>
      </p:sp>
      <p:sp>
        <p:nvSpPr>
          <p:cNvPr id="12" name="Shape 9">
            <a:extLst>
              <a:ext uri="{FF2B5EF4-FFF2-40B4-BE49-F238E27FC236}">
                <a16:creationId xmlns:a16="http://schemas.microsoft.com/office/drawing/2014/main" id="{E743A4B9-F21B-5C57-DE51-544F2DB319B3}"/>
              </a:ext>
            </a:extLst>
          </p:cNvPr>
          <p:cNvSpPr/>
          <p:nvPr/>
        </p:nvSpPr>
        <p:spPr>
          <a:xfrm>
            <a:off x="8499348" y="768096"/>
            <a:ext cx="50292" cy="50292"/>
          </a:xfrm>
          <a:prstGeom prst="ellipse">
            <a:avLst/>
          </a:prstGeom>
          <a:solidFill>
            <a:srgbClr val="D9F201"/>
          </a:solidFill>
          <a:ln w="12700">
            <a:solidFill>
              <a:srgbClr val="D9F201"/>
            </a:solidFill>
            <a:prstDash val="solid"/>
          </a:ln>
        </p:spPr>
      </p:sp>
      <p:sp>
        <p:nvSpPr>
          <p:cNvPr id="13" name="Shape 10">
            <a:extLst>
              <a:ext uri="{FF2B5EF4-FFF2-40B4-BE49-F238E27FC236}">
                <a16:creationId xmlns:a16="http://schemas.microsoft.com/office/drawing/2014/main" id="{45910B9D-5A8B-B31A-A3E3-B4665AF715D1}"/>
              </a:ext>
            </a:extLst>
          </p:cNvPr>
          <p:cNvSpPr/>
          <p:nvPr/>
        </p:nvSpPr>
        <p:spPr>
          <a:xfrm>
            <a:off x="8631936" y="768096"/>
            <a:ext cx="50292" cy="50292"/>
          </a:xfrm>
          <a:prstGeom prst="ellipse">
            <a:avLst/>
          </a:prstGeom>
          <a:solidFill>
            <a:srgbClr val="D9F201"/>
          </a:solidFill>
          <a:ln w="12700">
            <a:solidFill>
              <a:srgbClr val="D9F201"/>
            </a:solidFill>
            <a:prstDash val="solid"/>
          </a:ln>
        </p:spPr>
      </p:sp>
      <p:sp>
        <p:nvSpPr>
          <p:cNvPr id="17" name="Text 14">
            <a:extLst>
              <a:ext uri="{FF2B5EF4-FFF2-40B4-BE49-F238E27FC236}">
                <a16:creationId xmlns:a16="http://schemas.microsoft.com/office/drawing/2014/main" id="{24FC39A1-93CC-749E-084C-D85814EBD8BB}"/>
              </a:ext>
            </a:extLst>
          </p:cNvPr>
          <p:cNvSpPr txBox="1"/>
          <p:nvPr/>
        </p:nvSpPr>
        <p:spPr>
          <a:xfrm>
            <a:off x="566928" y="4759452"/>
            <a:ext cx="4114800" cy="228600"/>
          </a:xfrm>
          <a:prstGeom prst="rect">
            <a:avLst/>
          </a:prstGeom>
          <a:noFill/>
          <a:ln/>
        </p:spPr>
        <p:txBody>
          <a:bodyPr wrap="square" lIns="0" tIns="0" rIns="0" bIns="0" rtlCol="0" anchor="ctr"/>
          <a:lstStyle/>
          <a:p>
            <a:pPr marL="0" indent="0" algn="l">
              <a:buNone/>
            </a:pPr>
            <a:r>
              <a:rPr lang="en-US" sz="900" dirty="0">
                <a:solidFill>
                  <a:srgbClr val="5E6357"/>
                </a:solidFill>
                <a:latin typeface="Arial" pitchFamily="34" charset="0"/>
                <a:ea typeface="Arial" pitchFamily="34" charset="-122"/>
                <a:cs typeface="Arial" pitchFamily="34" charset="-120"/>
              </a:rPr>
              <a:t>Network Programming · Lecture 1</a:t>
            </a:r>
            <a:endParaRPr lang="en-US" sz="900" dirty="0"/>
          </a:p>
        </p:txBody>
      </p:sp>
      <p:pic>
        <p:nvPicPr>
          <p:cNvPr id="15" name="Picture 14">
            <a:extLst>
              <a:ext uri="{FF2B5EF4-FFF2-40B4-BE49-F238E27FC236}">
                <a16:creationId xmlns:a16="http://schemas.microsoft.com/office/drawing/2014/main" id="{BAA1F3FA-6261-9BF8-2BC3-AA3B5EADB6B0}"/>
              </a:ext>
            </a:extLst>
          </p:cNvPr>
          <p:cNvPicPr>
            <a:picLocks noChangeAspect="1"/>
          </p:cNvPicPr>
          <p:nvPr/>
        </p:nvPicPr>
        <p:blipFill>
          <a:blip r:embed="rId3"/>
          <a:srcRect b="8178"/>
          <a:stretch>
            <a:fillRect/>
          </a:stretch>
        </p:blipFill>
        <p:spPr>
          <a:xfrm>
            <a:off x="461772" y="313236"/>
            <a:ext cx="7863840" cy="4058042"/>
          </a:xfrm>
          <a:prstGeom prst="rect">
            <a:avLst/>
          </a:prstGeom>
        </p:spPr>
      </p:pic>
    </p:spTree>
    <p:extLst>
      <p:ext uri="{BB962C8B-B14F-4D97-AF65-F5344CB8AC3E}">
        <p14:creationId xmlns:p14="http://schemas.microsoft.com/office/powerpoint/2010/main" val="769780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11-cpu-io-simple.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val 1"/>
          <p:cNvSpPr/>
          <p:nvPr/>
        </p:nvSpPr>
        <p:spPr>
          <a:xfrm>
            <a:off x="8366760"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499348"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31936"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366760"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99348"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31936"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366760"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99348"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631936"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4764024"/>
            <a:ext cx="4114800" cy="228600"/>
          </a:xfrm>
          <a:prstGeom prst="rect">
            <a:avLst/>
          </a:prstGeom>
          <a:noFill/>
        </p:spPr>
        <p:txBody>
          <a:bodyPr wrap="square" lIns="0" tIns="0" rIns="0" bIns="0">
            <a:spAutoFit/>
          </a:bodyPr>
          <a:lstStyle/>
          <a:p>
            <a:pPr algn="l">
              <a:spcAft>
                <a:spcPts val="0"/>
              </a:spcAft>
              <a:buNone/>
            </a:pPr>
            <a:r>
              <a:rPr sz="900" b="0" i="0">
                <a:solidFill>
                  <a:srgbClr val="5E6357"/>
                </a:solidFill>
                <a:latin typeface="Arial"/>
              </a:rPr>
              <a:t>Network Programming · Lecture 1</a:t>
            </a:r>
          </a:p>
        </p:txBody>
      </p:sp>
      <p:sp>
        <p:nvSpPr>
          <p:cNvPr id="12" name="TextBox 11"/>
          <p:cNvSpPr txBox="1"/>
          <p:nvPr/>
        </p:nvSpPr>
        <p:spPr>
          <a:xfrm>
            <a:off x="566928" y="457200"/>
            <a:ext cx="7315200" cy="219456"/>
          </a:xfrm>
          <a:prstGeom prst="rect">
            <a:avLst/>
          </a:prstGeom>
          <a:noFill/>
        </p:spPr>
        <p:txBody>
          <a:bodyPr wrap="square" lIns="0" tIns="0" rIns="0" bIns="0">
            <a:spAutoFit/>
          </a:bodyPr>
          <a:lstStyle/>
          <a:p>
            <a:pPr algn="l">
              <a:spcAft>
                <a:spcPts val="0"/>
              </a:spcAft>
              <a:buNone/>
            </a:pPr>
            <a:r>
              <a:rPr sz="1050" b="1" i="0">
                <a:solidFill>
                  <a:srgbClr val="D9F201"/>
                </a:solidFill>
                <a:latin typeface="Arial"/>
              </a:rPr>
              <a:t>DEFINITION</a:t>
            </a:r>
          </a:p>
        </p:txBody>
      </p:sp>
      <p:sp>
        <p:nvSpPr>
          <p:cNvPr id="13" name="TextBox 12"/>
          <p:cNvSpPr txBox="1"/>
          <p:nvPr/>
        </p:nvSpPr>
        <p:spPr>
          <a:xfrm>
            <a:off x="566928" y="722376"/>
            <a:ext cx="7680960" cy="492443"/>
          </a:xfrm>
          <a:prstGeom prst="rect">
            <a:avLst/>
          </a:prstGeom>
          <a:noFill/>
        </p:spPr>
        <p:txBody>
          <a:bodyPr wrap="square" lIns="0" tIns="0" rIns="0" bIns="0">
            <a:spAutoFit/>
          </a:bodyPr>
          <a:lstStyle/>
          <a:p>
            <a:pPr algn="l">
              <a:spcAft>
                <a:spcPts val="0"/>
              </a:spcAft>
              <a:buNone/>
            </a:pPr>
            <a:r>
              <a:rPr sz="3200" b="1" i="0" dirty="0">
                <a:solidFill>
                  <a:srgbClr val="FFFFFF"/>
                </a:solidFill>
                <a:latin typeface="Arial"/>
              </a:rPr>
              <a:t>CPU-bound and I/O-bound</a:t>
            </a:r>
          </a:p>
        </p:txBody>
      </p:sp>
      <p:sp>
        <p:nvSpPr>
          <p:cNvPr id="14" name="Rounded Rectangle 13"/>
          <p:cNvSpPr/>
          <p:nvPr/>
        </p:nvSpPr>
        <p:spPr>
          <a:xfrm>
            <a:off x="365760" y="1463040"/>
            <a:ext cx="4041648" cy="2958084"/>
          </a:xfrm>
          <a:prstGeom prst="roundRect">
            <a:avLst>
              <a:gd name="adj" fmla="val 3000"/>
            </a:avLst>
          </a:prstGeom>
          <a:solidFill>
            <a:srgbClr val="141613"/>
          </a:solidFill>
          <a:ln w="12700">
            <a:solidFill>
              <a:srgbClr val="1F231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66928" y="1664208"/>
            <a:ext cx="3657600" cy="274320"/>
          </a:xfrm>
          <a:prstGeom prst="rect">
            <a:avLst/>
          </a:prstGeom>
          <a:noFill/>
        </p:spPr>
        <p:txBody>
          <a:bodyPr wrap="square" lIns="0" tIns="0" rIns="0" bIns="0">
            <a:spAutoFit/>
          </a:bodyPr>
          <a:lstStyle/>
          <a:p>
            <a:pPr algn="l">
              <a:spcAft>
                <a:spcPts val="0"/>
              </a:spcAft>
              <a:buNone/>
            </a:pPr>
            <a:r>
              <a:rPr sz="1800" b="1" i="0">
                <a:solidFill>
                  <a:srgbClr val="D9F201"/>
                </a:solidFill>
                <a:latin typeface="Arial"/>
              </a:rPr>
              <a:t>CPU-BOUND</a:t>
            </a:r>
          </a:p>
        </p:txBody>
      </p:sp>
      <p:sp>
        <p:nvSpPr>
          <p:cNvPr id="16" name="TextBox 15"/>
          <p:cNvSpPr txBox="1"/>
          <p:nvPr/>
        </p:nvSpPr>
        <p:spPr>
          <a:xfrm>
            <a:off x="566928" y="2048256"/>
            <a:ext cx="3639312" cy="2218621"/>
          </a:xfrm>
          <a:prstGeom prst="rect">
            <a:avLst/>
          </a:prstGeom>
          <a:noFill/>
        </p:spPr>
        <p:txBody>
          <a:bodyPr wrap="square" lIns="0" tIns="0" rIns="0" bIns="0">
            <a:spAutoFit/>
          </a:bodyPr>
          <a:lstStyle/>
          <a:p>
            <a:pPr>
              <a:lnSpc>
                <a:spcPts val="1350"/>
              </a:lnSpc>
              <a:spcAft>
                <a:spcPts val="400"/>
              </a:spcAft>
            </a:pPr>
            <a:r>
              <a:rPr lang="en-GB" sz="1100" dirty="0">
                <a:solidFill>
                  <a:srgbClr val="FFFFFF"/>
                </a:solidFill>
                <a:latin typeface="Arial"/>
              </a:rPr>
              <a:t>A program is CPU-bound when its speed is limited by the power of the central processing unit.</a:t>
            </a:r>
          </a:p>
          <a:p>
            <a:pPr>
              <a:lnSpc>
                <a:spcPts val="1350"/>
              </a:lnSpc>
              <a:spcAft>
                <a:spcPts val="400"/>
              </a:spcAft>
            </a:pPr>
            <a:endParaRPr lang="en-GB" sz="1100" dirty="0">
              <a:solidFill>
                <a:srgbClr val="FFFFFF"/>
              </a:solidFill>
              <a:latin typeface="Arial"/>
            </a:endParaRPr>
          </a:p>
          <a:p>
            <a:pPr>
              <a:lnSpc>
                <a:spcPts val="1350"/>
              </a:lnSpc>
              <a:spcAft>
                <a:spcPts val="400"/>
              </a:spcAft>
            </a:pPr>
            <a:r>
              <a:rPr lang="en-GB" sz="1100" b="1" dirty="0">
                <a:solidFill>
                  <a:srgbClr val="FFFFFF"/>
                </a:solidFill>
                <a:latin typeface="Arial"/>
              </a:rPr>
              <a:t>What it means: </a:t>
            </a:r>
            <a:r>
              <a:rPr lang="en-GB" sz="1100" dirty="0">
                <a:solidFill>
                  <a:srgbClr val="FFFFFF"/>
                </a:solidFill>
                <a:latin typeface="Arial"/>
              </a:rPr>
              <a:t>The processor is constantly working and doing heavy computations.</a:t>
            </a:r>
          </a:p>
          <a:p>
            <a:pPr>
              <a:lnSpc>
                <a:spcPts val="1350"/>
              </a:lnSpc>
              <a:spcAft>
                <a:spcPts val="400"/>
              </a:spcAft>
            </a:pPr>
            <a:r>
              <a:rPr lang="en-GB" sz="1100" b="1" dirty="0" err="1">
                <a:solidFill>
                  <a:srgbClr val="FFFFFF"/>
                </a:solidFill>
                <a:latin typeface="Arial"/>
              </a:rPr>
              <a:t>Behavior</a:t>
            </a:r>
            <a:r>
              <a:rPr lang="en-GB" sz="1100" b="1" dirty="0">
                <a:solidFill>
                  <a:srgbClr val="FFFFFF"/>
                </a:solidFill>
                <a:latin typeface="Arial"/>
              </a:rPr>
              <a:t>: </a:t>
            </a:r>
            <a:r>
              <a:rPr lang="en-GB" sz="1100" dirty="0">
                <a:solidFill>
                  <a:srgbClr val="FFFFFF"/>
                </a:solidFill>
                <a:latin typeface="Arial"/>
              </a:rPr>
              <a:t>Low idle time, high processor usage, and long calculation bursts.</a:t>
            </a:r>
          </a:p>
          <a:p>
            <a:pPr>
              <a:lnSpc>
                <a:spcPts val="1350"/>
              </a:lnSpc>
              <a:spcAft>
                <a:spcPts val="400"/>
              </a:spcAft>
            </a:pPr>
            <a:r>
              <a:rPr lang="en-GB" sz="1100" b="1" dirty="0">
                <a:solidFill>
                  <a:srgbClr val="FFFFFF"/>
                </a:solidFill>
                <a:latin typeface="Arial"/>
              </a:rPr>
              <a:t>Examples: </a:t>
            </a:r>
            <a:r>
              <a:rPr lang="en-GB" sz="1100" dirty="0">
                <a:solidFill>
                  <a:srgbClr val="FFFFFF"/>
                </a:solidFill>
                <a:latin typeface="Arial"/>
              </a:rPr>
              <a:t>Video encoding, image processing, game physics, and encryption.</a:t>
            </a:r>
          </a:p>
          <a:p>
            <a:pPr>
              <a:lnSpc>
                <a:spcPts val="1350"/>
              </a:lnSpc>
              <a:spcAft>
                <a:spcPts val="400"/>
              </a:spcAft>
            </a:pPr>
            <a:r>
              <a:rPr lang="en-GB" sz="1100" b="1" dirty="0">
                <a:solidFill>
                  <a:srgbClr val="FFFFFF"/>
                </a:solidFill>
                <a:latin typeface="Arial"/>
              </a:rPr>
              <a:t>How to speed it up: </a:t>
            </a:r>
            <a:r>
              <a:rPr lang="en-GB" sz="1100" dirty="0">
                <a:solidFill>
                  <a:srgbClr val="FFFFFF"/>
                </a:solidFill>
                <a:latin typeface="Arial"/>
              </a:rPr>
              <a:t>Use multi-core processors, parallel programming, or faster hardware.</a:t>
            </a:r>
          </a:p>
        </p:txBody>
      </p:sp>
      <p:sp>
        <p:nvSpPr>
          <p:cNvPr id="17" name="Rounded Rectangle 16"/>
          <p:cNvSpPr/>
          <p:nvPr/>
        </p:nvSpPr>
        <p:spPr>
          <a:xfrm>
            <a:off x="4553712" y="1463039"/>
            <a:ext cx="4041648" cy="2958083"/>
          </a:xfrm>
          <a:prstGeom prst="roundRect">
            <a:avLst>
              <a:gd name="adj" fmla="val 3000"/>
            </a:avLst>
          </a:prstGeom>
          <a:solidFill>
            <a:srgbClr val="141613"/>
          </a:solidFill>
          <a:ln w="12700">
            <a:solidFill>
              <a:srgbClr val="1F231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4754880" y="1664208"/>
            <a:ext cx="3657600" cy="274320"/>
          </a:xfrm>
          <a:prstGeom prst="rect">
            <a:avLst/>
          </a:prstGeom>
          <a:noFill/>
        </p:spPr>
        <p:txBody>
          <a:bodyPr wrap="square" lIns="0" tIns="0" rIns="0" bIns="0">
            <a:spAutoFit/>
          </a:bodyPr>
          <a:lstStyle/>
          <a:p>
            <a:pPr algn="l">
              <a:spcAft>
                <a:spcPts val="0"/>
              </a:spcAft>
              <a:buNone/>
            </a:pPr>
            <a:r>
              <a:rPr sz="1800" b="1" i="0">
                <a:solidFill>
                  <a:srgbClr val="D9F201"/>
                </a:solidFill>
                <a:latin typeface="Arial"/>
              </a:rPr>
              <a:t>I/O-BOUND</a:t>
            </a:r>
          </a:p>
        </p:txBody>
      </p:sp>
      <p:sp>
        <p:nvSpPr>
          <p:cNvPr id="19" name="TextBox 18"/>
          <p:cNvSpPr txBox="1"/>
          <p:nvPr/>
        </p:nvSpPr>
        <p:spPr>
          <a:xfrm>
            <a:off x="4754880" y="2048256"/>
            <a:ext cx="3639312" cy="2218621"/>
          </a:xfrm>
          <a:prstGeom prst="rect">
            <a:avLst/>
          </a:prstGeom>
          <a:noFill/>
        </p:spPr>
        <p:txBody>
          <a:bodyPr wrap="square" lIns="0" tIns="0" rIns="0" bIns="0">
            <a:spAutoFit/>
          </a:bodyPr>
          <a:lstStyle/>
          <a:p>
            <a:pPr>
              <a:lnSpc>
                <a:spcPts val="1350"/>
              </a:lnSpc>
              <a:spcAft>
                <a:spcPts val="400"/>
              </a:spcAft>
            </a:pPr>
            <a:r>
              <a:rPr lang="en-GB" sz="1100" dirty="0">
                <a:solidFill>
                  <a:srgbClr val="FFFFFF"/>
                </a:solidFill>
                <a:latin typeface="Arial"/>
              </a:rPr>
              <a:t>I/O-bound program is limited by the time it spends waiting for external input and output operations.</a:t>
            </a:r>
          </a:p>
          <a:p>
            <a:pPr>
              <a:lnSpc>
                <a:spcPts val="1350"/>
              </a:lnSpc>
              <a:spcAft>
                <a:spcPts val="400"/>
              </a:spcAft>
            </a:pPr>
            <a:endParaRPr lang="en-GB" sz="1100" b="0" i="0" dirty="0">
              <a:solidFill>
                <a:srgbClr val="FFFFFF"/>
              </a:solidFill>
              <a:latin typeface="Arial"/>
            </a:endParaRPr>
          </a:p>
          <a:p>
            <a:pPr>
              <a:lnSpc>
                <a:spcPts val="1350"/>
              </a:lnSpc>
              <a:spcAft>
                <a:spcPts val="400"/>
              </a:spcAft>
            </a:pPr>
            <a:r>
              <a:rPr lang="en-GB" sz="1100" b="1" dirty="0">
                <a:solidFill>
                  <a:srgbClr val="FFFFFF"/>
                </a:solidFill>
                <a:latin typeface="Arial"/>
              </a:rPr>
              <a:t>What it means: </a:t>
            </a:r>
            <a:r>
              <a:rPr lang="en-GB" sz="1100" dirty="0">
                <a:solidFill>
                  <a:srgbClr val="FFFFFF"/>
                </a:solidFill>
                <a:latin typeface="Arial"/>
              </a:rPr>
              <a:t>The program spends most of its time waiting for data to arrive from external sources.</a:t>
            </a:r>
          </a:p>
          <a:p>
            <a:pPr>
              <a:lnSpc>
                <a:spcPts val="1350"/>
              </a:lnSpc>
              <a:spcAft>
                <a:spcPts val="400"/>
              </a:spcAft>
            </a:pPr>
            <a:r>
              <a:rPr lang="en-GB" sz="1100" b="1" dirty="0" err="1">
                <a:solidFill>
                  <a:srgbClr val="FFFFFF"/>
                </a:solidFill>
                <a:latin typeface="Arial"/>
              </a:rPr>
              <a:t>Behavior</a:t>
            </a:r>
            <a:r>
              <a:rPr lang="en-GB" sz="1100" b="1" dirty="0">
                <a:solidFill>
                  <a:srgbClr val="FFFFFF"/>
                </a:solidFill>
                <a:latin typeface="Arial"/>
              </a:rPr>
              <a:t>: </a:t>
            </a:r>
            <a:r>
              <a:rPr lang="en-GB" sz="1100" dirty="0">
                <a:solidFill>
                  <a:srgbClr val="FFFFFF"/>
                </a:solidFill>
                <a:latin typeface="Arial"/>
              </a:rPr>
              <a:t>Low processor usage and long periods in a waiting state.</a:t>
            </a:r>
          </a:p>
          <a:p>
            <a:pPr>
              <a:lnSpc>
                <a:spcPts val="1350"/>
              </a:lnSpc>
              <a:spcAft>
                <a:spcPts val="400"/>
              </a:spcAft>
            </a:pPr>
            <a:r>
              <a:rPr lang="en-GB" sz="1100" b="1" dirty="0">
                <a:solidFill>
                  <a:srgbClr val="FFFFFF"/>
                </a:solidFill>
                <a:latin typeface="Arial"/>
              </a:rPr>
              <a:t>Examples: </a:t>
            </a:r>
            <a:r>
              <a:rPr lang="en-GB" sz="1100" dirty="0">
                <a:solidFill>
                  <a:srgbClr val="FFFFFF"/>
                </a:solidFill>
                <a:latin typeface="Arial"/>
              </a:rPr>
              <a:t>Reading files from a disk, database queries, and network or API requests.</a:t>
            </a:r>
          </a:p>
          <a:p>
            <a:pPr>
              <a:lnSpc>
                <a:spcPts val="1350"/>
              </a:lnSpc>
              <a:spcAft>
                <a:spcPts val="400"/>
              </a:spcAft>
            </a:pPr>
            <a:r>
              <a:rPr lang="en-GB" sz="1100" b="1" dirty="0">
                <a:solidFill>
                  <a:srgbClr val="FFFFFF"/>
                </a:solidFill>
                <a:latin typeface="Arial"/>
              </a:rPr>
              <a:t>How to speed it up: </a:t>
            </a:r>
            <a:r>
              <a:rPr lang="en-GB" sz="1100" dirty="0">
                <a:solidFill>
                  <a:srgbClr val="FFFFFF"/>
                </a:solidFill>
                <a:latin typeface="Arial"/>
              </a:rPr>
              <a:t>Use asynchronous programming, concurrency, and caching.</a:t>
            </a:r>
            <a:endParaRPr sz="1100" b="0" i="0" dirty="0">
              <a:solidFill>
                <a:srgbClr val="FFFFFF"/>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12-cpu-io-table.png"/>
          <p:cNvPicPr>
            <a:picLocks noChangeAspect="1"/>
          </p:cNvPicPr>
          <p:nvPr/>
        </p:nvPicPr>
        <p:blipFill>
          <a:blip r:embed="rId2"/>
          <a:stretch>
            <a:fillRect/>
          </a:stretch>
        </p:blipFill>
        <p:spPr>
          <a:xfrm>
            <a:off x="0" y="14868"/>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Oval 1"/>
          <p:cNvSpPr/>
          <p:nvPr/>
        </p:nvSpPr>
        <p:spPr>
          <a:xfrm>
            <a:off x="8321040"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453628"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586215" y="502920"/>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321040"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453628"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586215" y="635508"/>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321040"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453628"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586215" y="768096"/>
            <a:ext cx="54864" cy="54864"/>
          </a:xfrm>
          <a:prstGeom prst="ellips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463040" y="3200400"/>
            <a:ext cx="3291840" cy="3291840"/>
          </a:xfrm>
          <a:prstGeom prst="ellipse">
            <a:avLst/>
          </a:prstGeom>
          <a:noFill/>
          <a:ln w="12700">
            <a:solidFill>
              <a:srgbClr val="3A3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0" y="3611879"/>
            <a:ext cx="2468880" cy="2468880"/>
          </a:xfrm>
          <a:prstGeom prst="ellipse">
            <a:avLst/>
          </a:prstGeom>
          <a:noFill/>
          <a:ln w="12700">
            <a:solidFill>
              <a:srgbClr val="3A3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40080" y="4023359"/>
            <a:ext cx="1645920" cy="1645920"/>
          </a:xfrm>
          <a:prstGeom prst="ellipse">
            <a:avLst/>
          </a:prstGeom>
          <a:noFill/>
          <a:ln w="12700">
            <a:solidFill>
              <a:srgbClr val="3A3E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28600" y="4434840"/>
            <a:ext cx="822960" cy="822960"/>
          </a:xfrm>
          <a:prstGeom prst="ellipse">
            <a:avLst/>
          </a:prstGeom>
          <a:noFill/>
          <a:ln w="12700">
            <a:solidFill>
              <a:srgbClr val="D9F2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Isosceles Triangle 14"/>
          <p:cNvSpPr/>
          <p:nvPr/>
        </p:nvSpPr>
        <p:spPr>
          <a:xfrm rot="10800000">
            <a:off x="8275320" y="4297680"/>
            <a:ext cx="365760" cy="365760"/>
          </a:xfrm>
          <a:prstGeom prst="triangle">
            <a:avLst/>
          </a:prstGeom>
          <a:solidFill>
            <a:srgbClr val="D9F2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0" y="1874519"/>
            <a:ext cx="9144000" cy="822960"/>
          </a:xfrm>
          <a:prstGeom prst="rect">
            <a:avLst/>
          </a:prstGeom>
          <a:noFill/>
        </p:spPr>
        <p:txBody>
          <a:bodyPr wrap="square" lIns="0" tIns="0" rIns="0" bIns="0">
            <a:spAutoFit/>
          </a:bodyPr>
          <a:lstStyle/>
          <a:p>
            <a:pPr algn="ctr">
              <a:spcAft>
                <a:spcPts val="0"/>
              </a:spcAft>
              <a:buNone/>
            </a:pPr>
            <a:r>
              <a:rPr sz="4600" b="1" i="0">
                <a:solidFill>
                  <a:srgbClr val="FFFFFF"/>
                </a:solidFill>
                <a:latin typeface="Arial"/>
              </a:rPr>
              <a:t>Thank you for your attention</a:t>
            </a:r>
          </a:p>
        </p:txBody>
      </p:sp>
      <p:sp>
        <p:nvSpPr>
          <p:cNvPr id="17" name="TextBox 16"/>
          <p:cNvSpPr txBox="1"/>
          <p:nvPr/>
        </p:nvSpPr>
        <p:spPr>
          <a:xfrm>
            <a:off x="0" y="2816352"/>
            <a:ext cx="9144000" cy="320040"/>
          </a:xfrm>
          <a:prstGeom prst="rect">
            <a:avLst/>
          </a:prstGeom>
          <a:noFill/>
        </p:spPr>
        <p:txBody>
          <a:bodyPr wrap="square" lIns="0" tIns="0" rIns="0" bIns="0">
            <a:spAutoFit/>
          </a:bodyPr>
          <a:lstStyle/>
          <a:p>
            <a:pPr algn="ctr">
              <a:spcAft>
                <a:spcPts val="0"/>
              </a:spcAft>
              <a:buNone/>
            </a:pPr>
            <a:r>
              <a:rPr sz="1700" b="0" i="0">
                <a:solidFill>
                  <a:srgbClr val="D9F201"/>
                </a:solidFill>
                <a:latin typeface="Arial"/>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1796</Words>
  <Application>Microsoft Macintosh PowerPoint</Application>
  <PresentationFormat>On-screen Show (16:9)</PresentationFormat>
  <Paragraphs>167</Paragraphs>
  <Slides>28</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Programming — Slide Template</dc:title>
  <dc:subject>PptxGenJS Presentation</dc:subject>
  <dc:creator>UTM — Network Programming</dc:creator>
  <cp:lastModifiedBy>Ernest Bitca</cp:lastModifiedBy>
  <cp:revision>46</cp:revision>
  <dcterms:created xsi:type="dcterms:W3CDTF">2026-09-09T07:49:10Z</dcterms:created>
  <dcterms:modified xsi:type="dcterms:W3CDTF">2026-09-29T12:57:24Z</dcterms:modified>
</cp:coreProperties>
</file>