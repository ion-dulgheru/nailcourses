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90" r:id="rId24"/>
    <p:sldId id="291" r:id="rId25"/>
    <p:sldId id="295" r:id="rId26"/>
    <p:sldId id="292" r:id="rId27"/>
    <p:sldId id="293" r:id="rId28"/>
    <p:sldId id="294" r:id="rId29"/>
    <p:sldId id="281" r:id="rId30"/>
    <p:sldId id="288" r:id="rId31"/>
    <p:sldId id="282" r:id="rId32"/>
    <p:sldId id="287" r:id="rId33"/>
    <p:sldId id="289" r:id="rId34"/>
    <p:sldId id="284" r:id="rId35"/>
    <p:sldId id="286"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83"/>
    <p:restoredTop sz="94610"/>
  </p:normalViewPr>
  <p:slideViewPr>
    <p:cSldViewPr snapToGrid="0" snapToObjects="1">
      <p:cViewPr varScale="1">
        <p:scale>
          <a:sx n="207" d="100"/>
          <a:sy n="207" d="100"/>
        </p:scale>
        <p:origin x="560"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6813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2 of 3. Last time was about speed. This one is about correctness.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Edward A. Lee, 'The Problem with Threads', 2006. Read it aloud, slowly.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cliffhanger from lecture 1 and pay it off immediately.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blocks. Block 0 is a loose end; the lecture really starts at 01.</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Say explicitly that this is unfinished business from lecture 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Task.Run here — students will meet it constantly in lecture 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to 'threads cost 1 MB each'. Point at the queue: you submit WORK, not threads.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correctness angle: a starved pool is a liveness bug, not a speed problem.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BEFORE explaining anything. Let them see it fail.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is it too high, too low, or random? It is always TOO LOW - increments are lost, never invented.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explain. Three machine operations, and the interleaving that loses an update.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slide. Keep it short - they have already seen it happen.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in the lecture. A race that fails one time in a million passes every test.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lecture. Keep referring back to the rung numbers.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whole ladder before any code, so every fix that follows has a place to sit.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back to Ex08 explicitly. They have used rung 1 without knowing it had a name.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this is why functional languages have an easier time with concurrency.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CompareExchange is the atom everything else is built from. Worth one minute.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answer to 'why not just always use Interlocked'.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slide. Short, memorable, and every one of them is a real bug they will meet.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deadlock demo live. Then show the thread list in the debugger.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it hang. Then open the debugger's Threads window and show both stuck on Monitor.Enter.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Livelock: the threads are not blocked. They keep reacting to each other, and none of them gets anywhere - like two people in a corridor who both step aside to the same side, again and again. The example: the deadlock from the previous slide, 'fixed' by being polite - if the second lock is busy, give back the first one and try again. Both threads give way at the same moment, every time. The strip: the same result as a deadlock - no progress - but the CPU is busy the whole time.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Module 2, Ex14a. lockA and lockB are of type Lock (.NET 9+): lock (lockA) works with it as with any object, and lockB.TryEnter() takes the lock only if it is free - it never waits, so there is no deadlock. Each thread takes its own lock, works 50 ms, tries the other lock, finds it busy, undoes its work (50 ms, still holding its lock), lets go and tries again. Both are in step, so every attempt fails: busy forever, done never. Stop it yourself. The undo pause matters: without it, the two threads drift apart after a few attempts and finish by luck. Ex14b waits a random 0-500 ms instead of 50 ms before trying again: soon one thread tries while the other is waiting, gets both locks and finishes, then the other one does. Ethernet does the same after a collision.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it one row at a time. At 50 ms both threads try the other lock while it is still held, and both fail. Both undo their work and let go at 100 ms, wait 50 ms, and take their own lock again at 150 ms - exactly where they started, 150 ms later. Nothing in the code ever breaks the tie. The undo step matters: if a thread let go right after its failed attempt, the other thread - always a fraction of a millisecond later - would find the lock free and finish. That is what happens without the undo line. Ex14b breaks the tie on purpose, with a random wait.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Starvation: the program as a whole makes progress, but one thread almost never does. Top: the greedy thread does its slow work while it holds the lock, and takes the lock again the moment it lets it go. The other thread is ready all the time and gets in only now and then. Bottom: the same threads, but the slow work is outside the lock - now the lock is free most of the time and both get their turns.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Module 2, Ex15a: 2 seconds, two threads, one lock. The greedy thread got about 1 750 turns, the other one about 25. It gets in at all only because .NET lets a thread that has waited about 100 ms in - many locks give no such promise. Ex15b moves the greedy thread's slow work out of the lock: both get about 1 750 turns and nobody waits. This is rule 2 for lock again: hold it as short as possible.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ways a concurrent program stops making progress. Deadlock and livelock stop everybody, so you notice them. Starvation stops one thread while the averages look fine - look at the slowest client, not the average one.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Locks answer WHO. Semaphores answer HOW MANY. Barriers answer WHEN. Say it exactly like that.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Semaphores answer HOW MANY. Three permits, six threads: the first three go straight in, the other three wait in Wait(). Point at each dotted line: one thread calls Release(), the next one in line goes in. The count on top never passes 3. Ex10 does the same with nine workers.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finally matters: an exception without Release leaks a permit permanently.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Barriers answer WHEN. Walk one row at a time: thread 2 finishes phase 1 first and then just waits. The grey is time lost - a phase is as slow as its slowest thread. When thread 4 arrives, everybody is released at the same moment. In code: new Barrier(4), and every thread calls SignalAndWait() at the end of each phase (Ex12).</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Ex12_Barrier. SignalAndWait means two things at once: 'I am done' and 'wait for the rest'. The action passed to the constructor runs once per phase, after the last worker arrives. If one worker never calls SignalAndWait, everybody waits forever - it looks exactly like a deadlock.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statements. These are what students should copy down.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rot="2700000">
            <a:off x="-137160" y="-91440"/>
            <a:ext cx="23774" cy="502920"/>
          </a:xfrm>
          <a:prstGeom prst="rect">
            <a:avLst/>
          </a:prstGeom>
          <a:solidFill>
            <a:srgbClr val="FFFFFF"/>
          </a:solidFill>
          <a:ln w="12700">
            <a:solidFill>
              <a:srgbClr val="FFFFFF"/>
            </a:solidFill>
            <a:prstDash val="solid"/>
          </a:ln>
        </p:spPr>
        <p:txBody>
          <a:bodyPr/>
          <a:lstStyle/>
          <a:p>
            <a:endParaRPr/>
          </a:p>
        </p:txBody>
      </p:sp>
      <p:sp>
        <p:nvSpPr>
          <p:cNvPr id="4" name="Shape 1"/>
          <p:cNvSpPr/>
          <p:nvPr/>
        </p:nvSpPr>
        <p:spPr>
          <a:xfrm rot="2700000">
            <a:off x="-68580" y="-91440"/>
            <a:ext cx="23774" cy="502920"/>
          </a:xfrm>
          <a:prstGeom prst="rect">
            <a:avLst/>
          </a:prstGeom>
          <a:solidFill>
            <a:srgbClr val="FFFFFF"/>
          </a:solidFill>
          <a:ln w="12700">
            <a:solidFill>
              <a:srgbClr val="FFFFFF"/>
            </a:solidFill>
            <a:prstDash val="solid"/>
          </a:ln>
        </p:spPr>
        <p:txBody>
          <a:bodyPr/>
          <a:lstStyle/>
          <a:p>
            <a:endParaRPr/>
          </a:p>
        </p:txBody>
      </p:sp>
      <p:sp>
        <p:nvSpPr>
          <p:cNvPr id="5" name="Shape 2"/>
          <p:cNvSpPr/>
          <p:nvPr/>
        </p:nvSpPr>
        <p:spPr>
          <a:xfrm rot="2700000">
            <a:off x="0" y="-91440"/>
            <a:ext cx="23774" cy="502920"/>
          </a:xfrm>
          <a:prstGeom prst="rect">
            <a:avLst/>
          </a:prstGeom>
          <a:solidFill>
            <a:srgbClr val="FFFFFF"/>
          </a:solidFill>
          <a:ln w="12700">
            <a:solidFill>
              <a:srgbClr val="FFFFFF"/>
            </a:solidFill>
            <a:prstDash val="solid"/>
          </a:ln>
        </p:spPr>
        <p:txBody>
          <a:bodyPr/>
          <a:lstStyle/>
          <a:p>
            <a:endParaRPr/>
          </a:p>
        </p:txBody>
      </p:sp>
      <p:sp>
        <p:nvSpPr>
          <p:cNvPr id="6" name="Shape 3"/>
          <p:cNvSpPr/>
          <p:nvPr/>
        </p:nvSpPr>
        <p:spPr>
          <a:xfrm rot="2700000">
            <a:off x="68580" y="-91440"/>
            <a:ext cx="23774" cy="502920"/>
          </a:xfrm>
          <a:prstGeom prst="rect">
            <a:avLst/>
          </a:prstGeom>
          <a:solidFill>
            <a:srgbClr val="FFFFFF"/>
          </a:solidFill>
          <a:ln w="12700">
            <a:solidFill>
              <a:srgbClr val="FFFFFF"/>
            </a:solidFill>
            <a:prstDash val="solid"/>
          </a:ln>
        </p:spPr>
        <p:txBody>
          <a:bodyPr/>
          <a:lstStyle/>
          <a:p>
            <a:endParaRPr/>
          </a:p>
        </p:txBody>
      </p:sp>
      <p:sp>
        <p:nvSpPr>
          <p:cNvPr id="7" name="Shape 4"/>
          <p:cNvSpPr/>
          <p:nvPr/>
        </p:nvSpPr>
        <p:spPr>
          <a:xfrm rot="2700000">
            <a:off x="137160" y="-91440"/>
            <a:ext cx="23774" cy="502920"/>
          </a:xfrm>
          <a:prstGeom prst="rect">
            <a:avLst/>
          </a:prstGeom>
          <a:solidFill>
            <a:srgbClr val="FFFFFF"/>
          </a:solidFill>
          <a:ln w="12700">
            <a:solidFill>
              <a:srgbClr val="FFFFFF"/>
            </a:solidFill>
            <a:prstDash val="solid"/>
          </a:ln>
        </p:spPr>
        <p:txBody>
          <a:bodyPr/>
          <a:lstStyle/>
          <a:p>
            <a:endParaRPr/>
          </a:p>
        </p:txBody>
      </p:sp>
      <p:sp>
        <p:nvSpPr>
          <p:cNvPr id="8" name="Shape 5"/>
          <p:cNvSpPr/>
          <p:nvPr/>
        </p:nvSpPr>
        <p:spPr>
          <a:xfrm rot="2700000">
            <a:off x="205740" y="-91440"/>
            <a:ext cx="23774" cy="502920"/>
          </a:xfrm>
          <a:prstGeom prst="rect">
            <a:avLst/>
          </a:prstGeom>
          <a:solidFill>
            <a:srgbClr val="FFFFFF"/>
          </a:solidFill>
          <a:ln w="12700">
            <a:solidFill>
              <a:srgbClr val="FFFFFF"/>
            </a:solidFill>
            <a:prstDash val="solid"/>
          </a:ln>
        </p:spPr>
        <p:txBody>
          <a:bodyPr/>
          <a:lstStyle/>
          <a:p>
            <a:endParaRPr/>
          </a:p>
        </p:txBody>
      </p:sp>
      <p:sp>
        <p:nvSpPr>
          <p:cNvPr id="9" name="Shape 6"/>
          <p:cNvSpPr/>
          <p:nvPr/>
        </p:nvSpPr>
        <p:spPr>
          <a:xfrm rot="2700000">
            <a:off x="274320" y="-91440"/>
            <a:ext cx="23774" cy="502920"/>
          </a:xfrm>
          <a:prstGeom prst="rect">
            <a:avLst/>
          </a:prstGeom>
          <a:solidFill>
            <a:srgbClr val="FFFFFF"/>
          </a:solidFill>
          <a:ln w="12700">
            <a:solidFill>
              <a:srgbClr val="FFFFFF"/>
            </a:solidFill>
            <a:prstDash val="solid"/>
          </a:ln>
        </p:spPr>
        <p:txBody>
          <a:bodyPr/>
          <a:lstStyle/>
          <a:p>
            <a:endParaRPr/>
          </a:p>
        </p:txBody>
      </p:sp>
      <p:sp>
        <p:nvSpPr>
          <p:cNvPr id="10" name="Shape 7"/>
          <p:cNvSpPr/>
          <p:nvPr/>
        </p:nvSpPr>
        <p:spPr>
          <a:xfrm rot="2700000">
            <a:off x="342900" y="-91440"/>
            <a:ext cx="23774" cy="502920"/>
          </a:xfrm>
          <a:prstGeom prst="rect">
            <a:avLst/>
          </a:prstGeom>
          <a:solidFill>
            <a:srgbClr val="FFFFFF"/>
          </a:solidFill>
          <a:ln w="12700">
            <a:solidFill>
              <a:srgbClr val="FFFFFF"/>
            </a:solidFill>
            <a:prstDash val="solid"/>
          </a:ln>
        </p:spPr>
        <p:txBody>
          <a:bodyPr/>
          <a:lstStyle/>
          <a:p>
            <a:endParaRPr/>
          </a:p>
        </p:txBody>
      </p:sp>
      <p:sp>
        <p:nvSpPr>
          <p:cNvPr id="11" name="Shape 8"/>
          <p:cNvSpPr/>
          <p:nvPr/>
        </p:nvSpPr>
        <p:spPr>
          <a:xfrm rot="2700000">
            <a:off x="411480" y="-91440"/>
            <a:ext cx="23774" cy="502920"/>
          </a:xfrm>
          <a:prstGeom prst="rect">
            <a:avLst/>
          </a:prstGeom>
          <a:solidFill>
            <a:srgbClr val="FFFFFF"/>
          </a:solidFill>
          <a:ln w="12700">
            <a:solidFill>
              <a:srgbClr val="FFFFFF"/>
            </a:solidFill>
            <a:prstDash val="solid"/>
          </a:ln>
        </p:spPr>
        <p:txBody>
          <a:bodyPr/>
          <a:lstStyle/>
          <a:p>
            <a:endParaRPr/>
          </a:p>
        </p:txBody>
      </p:sp>
      <p:sp>
        <p:nvSpPr>
          <p:cNvPr id="12" name="Shape 9"/>
          <p:cNvSpPr/>
          <p:nvPr/>
        </p:nvSpPr>
        <p:spPr>
          <a:xfrm rot="2700000">
            <a:off x="480060" y="-91440"/>
            <a:ext cx="23774" cy="502920"/>
          </a:xfrm>
          <a:prstGeom prst="rect">
            <a:avLst/>
          </a:prstGeom>
          <a:solidFill>
            <a:srgbClr val="FFFFFF"/>
          </a:solidFill>
          <a:ln w="12700">
            <a:solidFill>
              <a:srgbClr val="FFFFFF"/>
            </a:solidFill>
            <a:prstDash val="solid"/>
          </a:ln>
        </p:spPr>
        <p:txBody>
          <a:bodyPr/>
          <a:lstStyle/>
          <a:p>
            <a:endParaRPr/>
          </a:p>
        </p:txBody>
      </p:sp>
      <p:sp>
        <p:nvSpPr>
          <p:cNvPr id="13" name="Shape 10"/>
          <p:cNvSpPr/>
          <p:nvPr/>
        </p:nvSpPr>
        <p:spPr>
          <a:xfrm rot="2700000">
            <a:off x="548640" y="-91440"/>
            <a:ext cx="23774" cy="502920"/>
          </a:xfrm>
          <a:prstGeom prst="rect">
            <a:avLst/>
          </a:prstGeom>
          <a:solidFill>
            <a:srgbClr val="FFFFFF"/>
          </a:solidFill>
          <a:ln w="12700">
            <a:solidFill>
              <a:srgbClr val="FFFFFF"/>
            </a:solidFill>
            <a:prstDash val="solid"/>
          </a:ln>
        </p:spPr>
        <p:txBody>
          <a:bodyPr/>
          <a:lstStyle/>
          <a:p>
            <a:endParaRPr/>
          </a:p>
        </p:txBody>
      </p:sp>
      <p:sp>
        <p:nvSpPr>
          <p:cNvPr id="14" name="Shape 11"/>
          <p:cNvSpPr/>
          <p:nvPr/>
        </p:nvSpPr>
        <p:spPr>
          <a:xfrm rot="2700000">
            <a:off x="617220" y="-91440"/>
            <a:ext cx="23774" cy="502920"/>
          </a:xfrm>
          <a:prstGeom prst="rect">
            <a:avLst/>
          </a:prstGeom>
          <a:solidFill>
            <a:srgbClr val="FFFFFF"/>
          </a:solidFill>
          <a:ln w="12700">
            <a:solidFill>
              <a:srgbClr val="FFFFFF"/>
            </a:solidFill>
            <a:prstDash val="solid"/>
          </a:ln>
        </p:spPr>
        <p:txBody>
          <a:bodyPr/>
          <a:lstStyle/>
          <a:p>
            <a:endParaRPr/>
          </a:p>
        </p:txBody>
      </p:sp>
      <p:sp>
        <p:nvSpPr>
          <p:cNvPr id="15" name="Shape 12"/>
          <p:cNvSpPr/>
          <p:nvPr/>
        </p:nvSpPr>
        <p:spPr>
          <a:xfrm rot="2700000">
            <a:off x="685800" y="-91440"/>
            <a:ext cx="23774" cy="502920"/>
          </a:xfrm>
          <a:prstGeom prst="rect">
            <a:avLst/>
          </a:prstGeom>
          <a:solidFill>
            <a:srgbClr val="FFFFFF"/>
          </a:solidFill>
          <a:ln w="12700">
            <a:solidFill>
              <a:srgbClr val="FFFFFF"/>
            </a:solidFill>
            <a:prstDash val="solid"/>
          </a:ln>
        </p:spPr>
        <p:txBody>
          <a:bodyPr/>
          <a:lstStyle/>
          <a:p>
            <a:endParaRPr/>
          </a:p>
        </p:txBody>
      </p:sp>
      <p:sp>
        <p:nvSpPr>
          <p:cNvPr id="16" name="Shape 13"/>
          <p:cNvSpPr/>
          <p:nvPr/>
        </p:nvSpPr>
        <p:spPr>
          <a:xfrm rot="5400000">
            <a:off x="1051560" y="256032"/>
            <a:ext cx="182880" cy="182880"/>
          </a:xfrm>
          <a:prstGeom prst="triangle">
            <a:avLst/>
          </a:prstGeom>
          <a:solidFill>
            <a:srgbClr val="D9F201"/>
          </a:solidFill>
          <a:ln w="12700">
            <a:solidFill>
              <a:srgbClr val="D9F201"/>
            </a:solidFill>
            <a:prstDash val="solid"/>
          </a:ln>
        </p:spPr>
        <p:txBody>
          <a:bodyPr/>
          <a:lstStyle/>
          <a:p>
            <a:endParaRPr/>
          </a:p>
        </p:txBody>
      </p:sp>
      <p:sp>
        <p:nvSpPr>
          <p:cNvPr id="17" name="Shape 14"/>
          <p:cNvSpPr/>
          <p:nvPr/>
        </p:nvSpPr>
        <p:spPr>
          <a:xfrm rot="5400000">
            <a:off x="1316736" y="256032"/>
            <a:ext cx="182880" cy="182880"/>
          </a:xfrm>
          <a:prstGeom prst="triangle">
            <a:avLst/>
          </a:prstGeom>
          <a:solidFill>
            <a:srgbClr val="D9F201"/>
          </a:solidFill>
          <a:ln w="12700">
            <a:solidFill>
              <a:srgbClr val="D9F201"/>
            </a:solidFill>
            <a:prstDash val="solid"/>
          </a:ln>
        </p:spPr>
        <p:txBody>
          <a:bodyPr/>
          <a:lstStyle/>
          <a:p>
            <a:endParaRPr/>
          </a:p>
        </p:txBody>
      </p:sp>
      <p:sp>
        <p:nvSpPr>
          <p:cNvPr id="18" name="Shape 15"/>
          <p:cNvSpPr/>
          <p:nvPr/>
        </p:nvSpPr>
        <p:spPr>
          <a:xfrm rot="5400000">
            <a:off x="1581912" y="256032"/>
            <a:ext cx="182880" cy="182880"/>
          </a:xfrm>
          <a:prstGeom prst="triangle">
            <a:avLst/>
          </a:prstGeom>
          <a:solidFill>
            <a:srgbClr val="D9F201"/>
          </a:solidFill>
          <a:ln w="12700">
            <a:solidFill>
              <a:srgbClr val="D9F201"/>
            </a:solidFill>
            <a:prstDash val="solid"/>
          </a:ln>
        </p:spPr>
        <p:txBody>
          <a:bodyPr/>
          <a:lstStyle/>
          <a:p>
            <a:endParaRPr/>
          </a:p>
        </p:txBody>
      </p:sp>
      <p:sp>
        <p:nvSpPr>
          <p:cNvPr id="19" name="Shape 16"/>
          <p:cNvSpPr/>
          <p:nvPr/>
        </p:nvSpPr>
        <p:spPr>
          <a:xfrm>
            <a:off x="-1325880" y="2971800"/>
            <a:ext cx="2926080" cy="2926080"/>
          </a:xfrm>
          <a:prstGeom prst="ellipse">
            <a:avLst/>
          </a:prstGeom>
          <a:solidFill>
            <a:srgbClr val="000000">
              <a:alpha val="0"/>
            </a:srgbClr>
          </a:solidFill>
          <a:ln w="12700">
            <a:solidFill>
              <a:srgbClr val="5E6357"/>
            </a:solidFill>
            <a:prstDash val="solid"/>
          </a:ln>
        </p:spPr>
        <p:txBody>
          <a:bodyPr/>
          <a:lstStyle/>
          <a:p>
            <a:endParaRPr/>
          </a:p>
        </p:txBody>
      </p:sp>
      <p:sp>
        <p:nvSpPr>
          <p:cNvPr id="20" name="Shape 17"/>
          <p:cNvSpPr/>
          <p:nvPr/>
        </p:nvSpPr>
        <p:spPr>
          <a:xfrm>
            <a:off x="-960120" y="3337560"/>
            <a:ext cx="2194560" cy="2194560"/>
          </a:xfrm>
          <a:prstGeom prst="ellipse">
            <a:avLst/>
          </a:prstGeom>
          <a:solidFill>
            <a:srgbClr val="000000">
              <a:alpha val="0"/>
            </a:srgbClr>
          </a:solidFill>
          <a:ln w="12700">
            <a:solidFill>
              <a:srgbClr val="5E6357"/>
            </a:solidFill>
            <a:prstDash val="solid"/>
          </a:ln>
        </p:spPr>
        <p:txBody>
          <a:bodyPr/>
          <a:lstStyle/>
          <a:p>
            <a:endParaRPr/>
          </a:p>
        </p:txBody>
      </p:sp>
      <p:sp>
        <p:nvSpPr>
          <p:cNvPr id="21" name="Shape 18"/>
          <p:cNvSpPr/>
          <p:nvPr/>
        </p:nvSpPr>
        <p:spPr>
          <a:xfrm>
            <a:off x="-594360" y="3703320"/>
            <a:ext cx="1463040" cy="1463040"/>
          </a:xfrm>
          <a:prstGeom prst="ellipse">
            <a:avLst/>
          </a:prstGeom>
          <a:solidFill>
            <a:srgbClr val="000000">
              <a:alpha val="0"/>
            </a:srgbClr>
          </a:solidFill>
          <a:ln w="12700">
            <a:solidFill>
              <a:srgbClr val="5E6357"/>
            </a:solidFill>
            <a:prstDash val="solid"/>
          </a:ln>
        </p:spPr>
        <p:txBody>
          <a:bodyPr/>
          <a:lstStyle/>
          <a:p>
            <a:endParaRPr/>
          </a:p>
        </p:txBody>
      </p:sp>
      <p:sp>
        <p:nvSpPr>
          <p:cNvPr id="22" name="Shape 19"/>
          <p:cNvSpPr/>
          <p:nvPr/>
        </p:nvSpPr>
        <p:spPr>
          <a:xfrm>
            <a:off x="-228600" y="4069080"/>
            <a:ext cx="731520" cy="731520"/>
          </a:xfrm>
          <a:prstGeom prst="ellipse">
            <a:avLst/>
          </a:prstGeom>
          <a:solidFill>
            <a:srgbClr val="000000">
              <a:alpha val="0"/>
            </a:srgbClr>
          </a:solidFill>
          <a:ln w="12700">
            <a:solidFill>
              <a:srgbClr val="D9F201"/>
            </a:solidFill>
            <a:prstDash val="solid"/>
          </a:ln>
        </p:spPr>
        <p:txBody>
          <a:bodyPr/>
          <a:lstStyle/>
          <a:p>
            <a:endParaRPr/>
          </a:p>
        </p:txBody>
      </p:sp>
      <p:sp>
        <p:nvSpPr>
          <p:cNvPr id="23" name="Shape 20"/>
          <p:cNvSpPr/>
          <p:nvPr/>
        </p:nvSpPr>
        <p:spPr>
          <a:xfrm>
            <a:off x="8366760" y="548640"/>
            <a:ext cx="50292" cy="50292"/>
          </a:xfrm>
          <a:prstGeom prst="ellipse">
            <a:avLst/>
          </a:prstGeom>
          <a:solidFill>
            <a:srgbClr val="D9F201"/>
          </a:solidFill>
          <a:ln w="12700">
            <a:solidFill>
              <a:srgbClr val="D9F201"/>
            </a:solidFill>
            <a:prstDash val="solid"/>
          </a:ln>
        </p:spPr>
        <p:txBody>
          <a:bodyPr/>
          <a:lstStyle/>
          <a:p>
            <a:endParaRPr/>
          </a:p>
        </p:txBody>
      </p:sp>
      <p:sp>
        <p:nvSpPr>
          <p:cNvPr id="24" name="Shape 21"/>
          <p:cNvSpPr/>
          <p:nvPr/>
        </p:nvSpPr>
        <p:spPr>
          <a:xfrm>
            <a:off x="8499348" y="548640"/>
            <a:ext cx="50292" cy="50292"/>
          </a:xfrm>
          <a:prstGeom prst="ellipse">
            <a:avLst/>
          </a:prstGeom>
          <a:solidFill>
            <a:srgbClr val="D9F201"/>
          </a:solidFill>
          <a:ln w="12700">
            <a:solidFill>
              <a:srgbClr val="D9F201"/>
            </a:solidFill>
            <a:prstDash val="solid"/>
          </a:ln>
        </p:spPr>
        <p:txBody>
          <a:bodyPr/>
          <a:lstStyle/>
          <a:p>
            <a:endParaRPr/>
          </a:p>
        </p:txBody>
      </p:sp>
      <p:sp>
        <p:nvSpPr>
          <p:cNvPr id="25" name="Shape 22"/>
          <p:cNvSpPr/>
          <p:nvPr/>
        </p:nvSpPr>
        <p:spPr>
          <a:xfrm>
            <a:off x="8631936" y="548640"/>
            <a:ext cx="50292" cy="50292"/>
          </a:xfrm>
          <a:prstGeom prst="ellipse">
            <a:avLst/>
          </a:prstGeom>
          <a:solidFill>
            <a:srgbClr val="D9F201"/>
          </a:solidFill>
          <a:ln w="12700">
            <a:solidFill>
              <a:srgbClr val="D9F201"/>
            </a:solidFill>
            <a:prstDash val="solid"/>
          </a:ln>
        </p:spPr>
        <p:txBody>
          <a:bodyPr/>
          <a:lstStyle/>
          <a:p>
            <a:endParaRPr/>
          </a:p>
        </p:txBody>
      </p:sp>
      <p:sp>
        <p:nvSpPr>
          <p:cNvPr id="26" name="Shape 23"/>
          <p:cNvSpPr/>
          <p:nvPr/>
        </p:nvSpPr>
        <p:spPr>
          <a:xfrm>
            <a:off x="8366760" y="681228"/>
            <a:ext cx="50292" cy="50292"/>
          </a:xfrm>
          <a:prstGeom prst="ellipse">
            <a:avLst/>
          </a:prstGeom>
          <a:solidFill>
            <a:srgbClr val="D9F201"/>
          </a:solidFill>
          <a:ln w="12700">
            <a:solidFill>
              <a:srgbClr val="D9F201"/>
            </a:solidFill>
            <a:prstDash val="solid"/>
          </a:ln>
        </p:spPr>
        <p:txBody>
          <a:bodyPr/>
          <a:lstStyle/>
          <a:p>
            <a:endParaRPr/>
          </a:p>
        </p:txBody>
      </p:sp>
      <p:sp>
        <p:nvSpPr>
          <p:cNvPr id="27" name="Shape 24"/>
          <p:cNvSpPr/>
          <p:nvPr/>
        </p:nvSpPr>
        <p:spPr>
          <a:xfrm>
            <a:off x="8499348" y="681228"/>
            <a:ext cx="50292" cy="50292"/>
          </a:xfrm>
          <a:prstGeom prst="ellipse">
            <a:avLst/>
          </a:prstGeom>
          <a:solidFill>
            <a:srgbClr val="D9F201"/>
          </a:solidFill>
          <a:ln w="12700">
            <a:solidFill>
              <a:srgbClr val="D9F201"/>
            </a:solidFill>
            <a:prstDash val="solid"/>
          </a:ln>
        </p:spPr>
        <p:txBody>
          <a:bodyPr/>
          <a:lstStyle/>
          <a:p>
            <a:endParaRPr/>
          </a:p>
        </p:txBody>
      </p:sp>
      <p:sp>
        <p:nvSpPr>
          <p:cNvPr id="28" name="Shape 25"/>
          <p:cNvSpPr/>
          <p:nvPr/>
        </p:nvSpPr>
        <p:spPr>
          <a:xfrm>
            <a:off x="8631936" y="681228"/>
            <a:ext cx="50292" cy="50292"/>
          </a:xfrm>
          <a:prstGeom prst="ellipse">
            <a:avLst/>
          </a:prstGeom>
          <a:solidFill>
            <a:srgbClr val="D9F201"/>
          </a:solidFill>
          <a:ln w="12700">
            <a:solidFill>
              <a:srgbClr val="D9F201"/>
            </a:solidFill>
            <a:prstDash val="solid"/>
          </a:ln>
        </p:spPr>
        <p:txBody>
          <a:bodyPr/>
          <a:lstStyle/>
          <a:p>
            <a:endParaRPr/>
          </a:p>
        </p:txBody>
      </p:sp>
      <p:sp>
        <p:nvSpPr>
          <p:cNvPr id="29" name="Shape 26"/>
          <p:cNvSpPr/>
          <p:nvPr/>
        </p:nvSpPr>
        <p:spPr>
          <a:xfrm>
            <a:off x="8366760" y="813816"/>
            <a:ext cx="50292" cy="50292"/>
          </a:xfrm>
          <a:prstGeom prst="ellipse">
            <a:avLst/>
          </a:prstGeom>
          <a:solidFill>
            <a:srgbClr val="D9F201"/>
          </a:solidFill>
          <a:ln w="12700">
            <a:solidFill>
              <a:srgbClr val="D9F201"/>
            </a:solidFill>
            <a:prstDash val="solid"/>
          </a:ln>
        </p:spPr>
        <p:txBody>
          <a:bodyPr/>
          <a:lstStyle/>
          <a:p>
            <a:endParaRPr/>
          </a:p>
        </p:txBody>
      </p:sp>
      <p:sp>
        <p:nvSpPr>
          <p:cNvPr id="30" name="Shape 27"/>
          <p:cNvSpPr/>
          <p:nvPr/>
        </p:nvSpPr>
        <p:spPr>
          <a:xfrm>
            <a:off x="8499348" y="813816"/>
            <a:ext cx="50292" cy="50292"/>
          </a:xfrm>
          <a:prstGeom prst="ellipse">
            <a:avLst/>
          </a:prstGeom>
          <a:solidFill>
            <a:srgbClr val="D9F201"/>
          </a:solidFill>
          <a:ln w="12700">
            <a:solidFill>
              <a:srgbClr val="D9F201"/>
            </a:solidFill>
            <a:prstDash val="solid"/>
          </a:ln>
        </p:spPr>
        <p:txBody>
          <a:bodyPr/>
          <a:lstStyle/>
          <a:p>
            <a:endParaRPr/>
          </a:p>
        </p:txBody>
      </p:sp>
      <p:sp>
        <p:nvSpPr>
          <p:cNvPr id="31" name="Shape 28"/>
          <p:cNvSpPr/>
          <p:nvPr/>
        </p:nvSpPr>
        <p:spPr>
          <a:xfrm>
            <a:off x="8631936" y="813816"/>
            <a:ext cx="50292" cy="50292"/>
          </a:xfrm>
          <a:prstGeom prst="ellipse">
            <a:avLst/>
          </a:prstGeom>
          <a:solidFill>
            <a:srgbClr val="D9F201"/>
          </a:solidFill>
          <a:ln w="12700">
            <a:solidFill>
              <a:srgbClr val="D9F201"/>
            </a:solidFill>
            <a:prstDash val="solid"/>
          </a:ln>
        </p:spPr>
        <p:txBody>
          <a:bodyPr/>
          <a:lstStyle/>
          <a:p>
            <a:endParaRPr/>
          </a:p>
        </p:txBody>
      </p:sp>
      <p:sp>
        <p:nvSpPr>
          <p:cNvPr id="32" name="Shape 29"/>
          <p:cNvSpPr/>
          <p:nvPr/>
        </p:nvSpPr>
        <p:spPr>
          <a:xfrm>
            <a:off x="8366760" y="946404"/>
            <a:ext cx="50292" cy="50292"/>
          </a:xfrm>
          <a:prstGeom prst="ellipse">
            <a:avLst/>
          </a:prstGeom>
          <a:solidFill>
            <a:srgbClr val="D9F201"/>
          </a:solidFill>
          <a:ln w="12700">
            <a:solidFill>
              <a:srgbClr val="D9F201"/>
            </a:solidFill>
            <a:prstDash val="solid"/>
          </a:ln>
        </p:spPr>
        <p:txBody>
          <a:bodyPr/>
          <a:lstStyle/>
          <a:p>
            <a:endParaRPr/>
          </a:p>
        </p:txBody>
      </p:sp>
      <p:sp>
        <p:nvSpPr>
          <p:cNvPr id="33" name="Shape 30"/>
          <p:cNvSpPr/>
          <p:nvPr/>
        </p:nvSpPr>
        <p:spPr>
          <a:xfrm>
            <a:off x="8499348" y="946404"/>
            <a:ext cx="50292" cy="50292"/>
          </a:xfrm>
          <a:prstGeom prst="ellipse">
            <a:avLst/>
          </a:prstGeom>
          <a:solidFill>
            <a:srgbClr val="D9F201"/>
          </a:solidFill>
          <a:ln w="12700">
            <a:solidFill>
              <a:srgbClr val="D9F201"/>
            </a:solidFill>
            <a:prstDash val="solid"/>
          </a:ln>
        </p:spPr>
        <p:txBody>
          <a:bodyPr/>
          <a:lstStyle/>
          <a:p>
            <a:endParaRPr/>
          </a:p>
        </p:txBody>
      </p:sp>
      <p:sp>
        <p:nvSpPr>
          <p:cNvPr id="34" name="Shape 31"/>
          <p:cNvSpPr/>
          <p:nvPr/>
        </p:nvSpPr>
        <p:spPr>
          <a:xfrm>
            <a:off x="8631936" y="946404"/>
            <a:ext cx="50292" cy="50292"/>
          </a:xfrm>
          <a:prstGeom prst="ellipse">
            <a:avLst/>
          </a:prstGeom>
          <a:solidFill>
            <a:srgbClr val="D9F201"/>
          </a:solidFill>
          <a:ln w="12700">
            <a:solidFill>
              <a:srgbClr val="D9F201"/>
            </a:solidFill>
            <a:prstDash val="solid"/>
          </a:ln>
        </p:spPr>
        <p:txBody>
          <a:bodyPr/>
          <a:lstStyle/>
          <a:p>
            <a:endParaRPr/>
          </a:p>
        </p:txBody>
      </p:sp>
      <p:sp>
        <p:nvSpPr>
          <p:cNvPr id="35" name="Shape 32"/>
          <p:cNvSpPr/>
          <p:nvPr/>
        </p:nvSpPr>
        <p:spPr>
          <a:xfrm>
            <a:off x="8366760" y="1078992"/>
            <a:ext cx="50292" cy="50292"/>
          </a:xfrm>
          <a:prstGeom prst="ellipse">
            <a:avLst/>
          </a:prstGeom>
          <a:solidFill>
            <a:srgbClr val="D9F201"/>
          </a:solidFill>
          <a:ln w="12700">
            <a:solidFill>
              <a:srgbClr val="D9F201"/>
            </a:solidFill>
            <a:prstDash val="solid"/>
          </a:ln>
        </p:spPr>
        <p:txBody>
          <a:bodyPr/>
          <a:lstStyle/>
          <a:p>
            <a:endParaRPr/>
          </a:p>
        </p:txBody>
      </p:sp>
      <p:sp>
        <p:nvSpPr>
          <p:cNvPr id="36" name="Shape 33"/>
          <p:cNvSpPr/>
          <p:nvPr/>
        </p:nvSpPr>
        <p:spPr>
          <a:xfrm>
            <a:off x="8499348" y="1078992"/>
            <a:ext cx="50292" cy="50292"/>
          </a:xfrm>
          <a:prstGeom prst="ellipse">
            <a:avLst/>
          </a:prstGeom>
          <a:solidFill>
            <a:srgbClr val="D9F201"/>
          </a:solidFill>
          <a:ln w="12700">
            <a:solidFill>
              <a:srgbClr val="D9F201"/>
            </a:solidFill>
            <a:prstDash val="solid"/>
          </a:ln>
        </p:spPr>
        <p:txBody>
          <a:bodyPr/>
          <a:lstStyle/>
          <a:p>
            <a:endParaRPr/>
          </a:p>
        </p:txBody>
      </p:sp>
      <p:sp>
        <p:nvSpPr>
          <p:cNvPr id="37" name="Shape 34"/>
          <p:cNvSpPr/>
          <p:nvPr/>
        </p:nvSpPr>
        <p:spPr>
          <a:xfrm>
            <a:off x="8631936" y="1078992"/>
            <a:ext cx="50292" cy="50292"/>
          </a:xfrm>
          <a:prstGeom prst="ellipse">
            <a:avLst/>
          </a:prstGeom>
          <a:solidFill>
            <a:srgbClr val="D9F201"/>
          </a:solidFill>
          <a:ln w="12700">
            <a:solidFill>
              <a:srgbClr val="D9F201"/>
            </a:solidFill>
            <a:prstDash val="solid"/>
          </a:ln>
        </p:spPr>
        <p:txBody>
          <a:bodyPr/>
          <a:lstStyle/>
          <a:p>
            <a:endParaRPr/>
          </a:p>
        </p:txBody>
      </p:sp>
      <p:sp>
        <p:nvSpPr>
          <p:cNvPr id="38" name="Shape 35"/>
          <p:cNvSpPr/>
          <p:nvPr/>
        </p:nvSpPr>
        <p:spPr>
          <a:xfrm rot="10800000">
            <a:off x="8275320" y="4297680"/>
            <a:ext cx="365760" cy="365760"/>
          </a:xfrm>
          <a:prstGeom prst="triangle">
            <a:avLst/>
          </a:prstGeom>
          <a:solidFill>
            <a:srgbClr val="D9F201"/>
          </a:solidFill>
          <a:ln w="12700">
            <a:solidFill>
              <a:srgbClr val="D9F201"/>
            </a:solidFill>
            <a:prstDash val="solid"/>
          </a:ln>
        </p:spPr>
        <p:txBody>
          <a:bodyPr/>
          <a:lstStyle/>
          <a:p>
            <a:endParaRPr/>
          </a:p>
        </p:txBody>
      </p:sp>
      <p:sp>
        <p:nvSpPr>
          <p:cNvPr id="39" name="Text 36"/>
          <p:cNvSpPr txBox="1"/>
          <p:nvPr/>
        </p:nvSpPr>
        <p:spPr>
          <a:xfrm>
            <a:off x="566928" y="1481328"/>
            <a:ext cx="7772400" cy="274320"/>
          </a:xfrm>
          <a:prstGeom prst="rect">
            <a:avLst/>
          </a:prstGeom>
          <a:noFill/>
          <a:ln/>
        </p:spPr>
        <p:txBody>
          <a:bodyPr wrap="square" lIns="0" tIns="0" rIns="0" bIns="0" rtlCol="0" anchor="ctr"/>
          <a:lstStyle/>
          <a:p>
            <a:pPr marL="0" indent="0">
              <a:buNone/>
            </a:pPr>
            <a:r>
              <a:rPr lang="en-US" sz="1200" b="1" kern="0" spc="300" dirty="0">
                <a:solidFill>
                  <a:srgbClr val="D9F201"/>
                </a:solidFill>
                <a:latin typeface="Arial" pitchFamily="34" charset="0"/>
                <a:ea typeface="Arial" pitchFamily="34" charset="-122"/>
                <a:cs typeface="Arial" pitchFamily="34" charset="-120"/>
              </a:rPr>
              <a:t>NETWORK PROGRAMMING · UTM</a:t>
            </a:r>
            <a:endParaRPr lang="en-US" sz="1200" dirty="0"/>
          </a:p>
        </p:txBody>
      </p:sp>
      <p:sp>
        <p:nvSpPr>
          <p:cNvPr id="40" name="Text 37"/>
          <p:cNvSpPr txBox="1"/>
          <p:nvPr/>
        </p:nvSpPr>
        <p:spPr>
          <a:xfrm>
            <a:off x="566928" y="1828800"/>
            <a:ext cx="7498080" cy="1371600"/>
          </a:xfrm>
          <a:prstGeom prst="rect">
            <a:avLst/>
          </a:prstGeom>
          <a:noFill/>
          <a:ln/>
        </p:spPr>
        <p:txBody>
          <a:bodyPr wrap="square" lIns="0" tIns="0" rIns="0" bIns="0" rtlCol="0" anchor="ctr"/>
          <a:lstStyle/>
          <a:p>
            <a:pPr marL="0" indent="0">
              <a:lnSpc>
                <a:spcPts val="4600"/>
              </a:lnSpc>
              <a:buNone/>
            </a:pPr>
            <a:r>
              <a:rPr lang="en-US" sz="4400" b="1" dirty="0">
                <a:solidFill>
                  <a:srgbClr val="FFFFFF"/>
                </a:solidFill>
                <a:latin typeface="Arial" pitchFamily="34" charset="0"/>
                <a:ea typeface="Arial" pitchFamily="34" charset="-122"/>
                <a:cs typeface="Arial" pitchFamily="34" charset="-120"/>
              </a:rPr>
              <a:t>Shared state,</a:t>
            </a:r>
            <a:endParaRPr lang="en-US" sz="4400" dirty="0"/>
          </a:p>
          <a:p>
            <a:pPr marL="0" indent="0">
              <a:lnSpc>
                <a:spcPts val="4600"/>
              </a:lnSpc>
              <a:buNone/>
            </a:pPr>
            <a:r>
              <a:rPr lang="en-US" sz="4400" b="1" dirty="0">
                <a:solidFill>
                  <a:srgbClr val="FFFFFF"/>
                </a:solidFill>
                <a:latin typeface="Arial" pitchFamily="34" charset="0"/>
                <a:ea typeface="Arial" pitchFamily="34" charset="-122"/>
                <a:cs typeface="Arial" pitchFamily="34" charset="-120"/>
              </a:rPr>
              <a:t>races and locks</a:t>
            </a:r>
            <a:endParaRPr lang="en-US" sz="4400" dirty="0"/>
          </a:p>
        </p:txBody>
      </p:sp>
      <p:sp>
        <p:nvSpPr>
          <p:cNvPr id="41" name="Shape 38"/>
          <p:cNvSpPr/>
          <p:nvPr/>
        </p:nvSpPr>
        <p:spPr>
          <a:xfrm>
            <a:off x="566928" y="3310128"/>
            <a:ext cx="1005840" cy="25603"/>
          </a:xfrm>
          <a:prstGeom prst="rect">
            <a:avLst/>
          </a:prstGeom>
          <a:solidFill>
            <a:srgbClr val="D9F201"/>
          </a:solidFill>
          <a:ln w="12700">
            <a:solidFill>
              <a:srgbClr val="D9F201"/>
            </a:solidFill>
            <a:prstDash val="solid"/>
          </a:ln>
        </p:spPr>
        <p:txBody>
          <a:bodyPr/>
          <a:lstStyle/>
          <a:p>
            <a:endParaRPr/>
          </a:p>
        </p:txBody>
      </p:sp>
      <p:sp>
        <p:nvSpPr>
          <p:cNvPr id="42" name="Text 39"/>
          <p:cNvSpPr txBox="1"/>
          <p:nvPr/>
        </p:nvSpPr>
        <p:spPr>
          <a:xfrm>
            <a:off x="566928" y="3520440"/>
            <a:ext cx="5486400" cy="274320"/>
          </a:xfrm>
          <a:prstGeom prst="rect">
            <a:avLst/>
          </a:prstGeom>
          <a:noFill/>
          <a:ln/>
        </p:spPr>
        <p:txBody>
          <a:bodyPr wrap="square" lIns="0" tIns="0" rIns="0" bIns="0" rtlCol="0" anchor="ctr"/>
          <a:lstStyle/>
          <a:p>
            <a:pPr marL="0" indent="0">
              <a:buNone/>
            </a:pPr>
            <a:r>
              <a:rPr lang="en-US" sz="1300" dirty="0">
                <a:solidFill>
                  <a:srgbClr val="9AA095"/>
                </a:solidFill>
                <a:latin typeface="Arial" pitchFamily="34" charset="0"/>
                <a:ea typeface="Arial" pitchFamily="34" charset="-122"/>
                <a:cs typeface="Arial" pitchFamily="34" charset="-120"/>
              </a:rPr>
              <a:t>Lecture #2  ·  Ernest Bîtca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rot="5400000">
            <a:off x="8412480" y="457200"/>
            <a:ext cx="384048" cy="384048"/>
          </a:xfrm>
          <a:prstGeom prst="triangle">
            <a:avLst/>
          </a:prstGeom>
          <a:solidFill>
            <a:srgbClr val="D9F201"/>
          </a:solidFill>
          <a:ln w="12700">
            <a:solidFill>
              <a:srgbClr val="D9F201"/>
            </a:solidFill>
            <a:prstDash val="solid"/>
          </a:ln>
        </p:spPr>
        <p:txBody>
          <a:bodyPr/>
          <a:lstStyle/>
          <a:p>
            <a:endParaRPr/>
          </a:p>
        </p:txBody>
      </p:sp>
      <p:sp>
        <p:nvSpPr>
          <p:cNvPr id="4" name="Shape 1"/>
          <p:cNvSpPr/>
          <p:nvPr/>
        </p:nvSpPr>
        <p:spPr>
          <a:xfrm>
            <a:off x="-1353312" y="3218688"/>
            <a:ext cx="3072384" cy="3072384"/>
          </a:xfrm>
          <a:prstGeom prst="ellipse">
            <a:avLst/>
          </a:prstGeom>
          <a:solidFill>
            <a:srgbClr val="000000">
              <a:alpha val="0"/>
            </a:srgbClr>
          </a:solidFill>
          <a:ln w="12700">
            <a:solidFill>
              <a:srgbClr val="5E6357"/>
            </a:solidFill>
            <a:prstDash val="solid"/>
          </a:ln>
        </p:spPr>
        <p:txBody>
          <a:bodyPr/>
          <a:lstStyle/>
          <a:p>
            <a:endParaRPr/>
          </a:p>
        </p:txBody>
      </p:sp>
      <p:sp>
        <p:nvSpPr>
          <p:cNvPr id="5" name="Shape 2"/>
          <p:cNvSpPr/>
          <p:nvPr/>
        </p:nvSpPr>
        <p:spPr>
          <a:xfrm>
            <a:off x="-969264" y="3602736"/>
            <a:ext cx="2304288" cy="2304288"/>
          </a:xfrm>
          <a:prstGeom prst="ellipse">
            <a:avLst/>
          </a:prstGeom>
          <a:solidFill>
            <a:srgbClr val="000000">
              <a:alpha val="0"/>
            </a:srgbClr>
          </a:solidFill>
          <a:ln w="12700">
            <a:solidFill>
              <a:srgbClr val="5E6357"/>
            </a:solidFill>
            <a:prstDash val="solid"/>
          </a:ln>
        </p:spPr>
        <p:txBody>
          <a:bodyPr/>
          <a:lstStyle/>
          <a:p>
            <a:endParaRPr/>
          </a:p>
        </p:txBody>
      </p:sp>
      <p:sp>
        <p:nvSpPr>
          <p:cNvPr id="6" name="Shape 3"/>
          <p:cNvSpPr/>
          <p:nvPr/>
        </p:nvSpPr>
        <p:spPr>
          <a:xfrm>
            <a:off x="-585216" y="3986784"/>
            <a:ext cx="1536192" cy="1536192"/>
          </a:xfrm>
          <a:prstGeom prst="ellipse">
            <a:avLst/>
          </a:prstGeom>
          <a:solidFill>
            <a:srgbClr val="000000">
              <a:alpha val="0"/>
            </a:srgbClr>
          </a:solidFill>
          <a:ln w="12700">
            <a:solidFill>
              <a:srgbClr val="5E6357"/>
            </a:solidFill>
            <a:prstDash val="solid"/>
          </a:ln>
        </p:spPr>
        <p:txBody>
          <a:bodyPr/>
          <a:lstStyle/>
          <a:p>
            <a:endParaRPr/>
          </a:p>
        </p:txBody>
      </p:sp>
      <p:sp>
        <p:nvSpPr>
          <p:cNvPr id="7" name="Shape 4"/>
          <p:cNvSpPr/>
          <p:nvPr/>
        </p:nvSpPr>
        <p:spPr>
          <a:xfrm>
            <a:off x="-201168" y="4370832"/>
            <a:ext cx="768096" cy="768096"/>
          </a:xfrm>
          <a:prstGeom prst="ellipse">
            <a:avLst/>
          </a:prstGeom>
          <a:solidFill>
            <a:srgbClr val="000000">
              <a:alpha val="0"/>
            </a:srgbClr>
          </a:solidFill>
          <a:ln w="12700">
            <a:solidFill>
              <a:srgbClr val="D9F201"/>
            </a:solidFill>
            <a:prstDash val="solid"/>
          </a:ln>
        </p:spPr>
        <p:txBody>
          <a:bodyPr/>
          <a:lstStyle/>
          <a:p>
            <a:endParaRPr/>
          </a:p>
        </p:txBody>
      </p:sp>
      <p:sp>
        <p:nvSpPr>
          <p:cNvPr id="8" name="Shape 5"/>
          <p:cNvSpPr/>
          <p:nvPr/>
        </p:nvSpPr>
        <p:spPr>
          <a:xfrm>
            <a:off x="8321040" y="4114800"/>
            <a:ext cx="50292" cy="50292"/>
          </a:xfrm>
          <a:prstGeom prst="ellipse">
            <a:avLst/>
          </a:prstGeom>
          <a:solidFill>
            <a:srgbClr val="5E6357"/>
          </a:solidFill>
          <a:ln w="12700">
            <a:solidFill>
              <a:srgbClr val="5E6357"/>
            </a:solidFill>
            <a:prstDash val="solid"/>
          </a:ln>
        </p:spPr>
        <p:txBody>
          <a:bodyPr/>
          <a:lstStyle/>
          <a:p>
            <a:endParaRPr/>
          </a:p>
        </p:txBody>
      </p:sp>
      <p:sp>
        <p:nvSpPr>
          <p:cNvPr id="9" name="Shape 6"/>
          <p:cNvSpPr/>
          <p:nvPr/>
        </p:nvSpPr>
        <p:spPr>
          <a:xfrm>
            <a:off x="8453628" y="4114800"/>
            <a:ext cx="50292" cy="50292"/>
          </a:xfrm>
          <a:prstGeom prst="ellipse">
            <a:avLst/>
          </a:prstGeom>
          <a:solidFill>
            <a:srgbClr val="5E6357"/>
          </a:solidFill>
          <a:ln w="12700">
            <a:solidFill>
              <a:srgbClr val="5E6357"/>
            </a:solidFill>
            <a:prstDash val="solid"/>
          </a:ln>
        </p:spPr>
        <p:txBody>
          <a:bodyPr/>
          <a:lstStyle/>
          <a:p>
            <a:endParaRPr/>
          </a:p>
        </p:txBody>
      </p:sp>
      <p:sp>
        <p:nvSpPr>
          <p:cNvPr id="10" name="Shape 7"/>
          <p:cNvSpPr/>
          <p:nvPr/>
        </p:nvSpPr>
        <p:spPr>
          <a:xfrm>
            <a:off x="8586216" y="4114800"/>
            <a:ext cx="50292" cy="50292"/>
          </a:xfrm>
          <a:prstGeom prst="ellipse">
            <a:avLst/>
          </a:prstGeom>
          <a:solidFill>
            <a:srgbClr val="5E6357"/>
          </a:solidFill>
          <a:ln w="12700">
            <a:solidFill>
              <a:srgbClr val="5E6357"/>
            </a:solidFill>
            <a:prstDash val="solid"/>
          </a:ln>
        </p:spPr>
        <p:txBody>
          <a:bodyPr/>
          <a:lstStyle/>
          <a:p>
            <a:endParaRPr/>
          </a:p>
        </p:txBody>
      </p:sp>
      <p:sp>
        <p:nvSpPr>
          <p:cNvPr id="11" name="Shape 8"/>
          <p:cNvSpPr/>
          <p:nvPr/>
        </p:nvSpPr>
        <p:spPr>
          <a:xfrm>
            <a:off x="8321040" y="4247388"/>
            <a:ext cx="50292" cy="50292"/>
          </a:xfrm>
          <a:prstGeom prst="ellipse">
            <a:avLst/>
          </a:prstGeom>
          <a:solidFill>
            <a:srgbClr val="5E6357"/>
          </a:solidFill>
          <a:ln w="12700">
            <a:solidFill>
              <a:srgbClr val="5E6357"/>
            </a:solidFill>
            <a:prstDash val="solid"/>
          </a:ln>
        </p:spPr>
        <p:txBody>
          <a:bodyPr/>
          <a:lstStyle/>
          <a:p>
            <a:endParaRPr/>
          </a:p>
        </p:txBody>
      </p:sp>
      <p:sp>
        <p:nvSpPr>
          <p:cNvPr id="12" name="Shape 9"/>
          <p:cNvSpPr/>
          <p:nvPr/>
        </p:nvSpPr>
        <p:spPr>
          <a:xfrm>
            <a:off x="8453628" y="4247388"/>
            <a:ext cx="50292" cy="50292"/>
          </a:xfrm>
          <a:prstGeom prst="ellipse">
            <a:avLst/>
          </a:prstGeom>
          <a:solidFill>
            <a:srgbClr val="5E6357"/>
          </a:solidFill>
          <a:ln w="12700">
            <a:solidFill>
              <a:srgbClr val="5E6357"/>
            </a:solidFill>
            <a:prstDash val="solid"/>
          </a:ln>
        </p:spPr>
        <p:txBody>
          <a:bodyPr/>
          <a:lstStyle/>
          <a:p>
            <a:endParaRPr/>
          </a:p>
        </p:txBody>
      </p:sp>
      <p:sp>
        <p:nvSpPr>
          <p:cNvPr id="13" name="Shape 10"/>
          <p:cNvSpPr/>
          <p:nvPr/>
        </p:nvSpPr>
        <p:spPr>
          <a:xfrm>
            <a:off x="8586216" y="4247388"/>
            <a:ext cx="50292" cy="50292"/>
          </a:xfrm>
          <a:prstGeom prst="ellipse">
            <a:avLst/>
          </a:prstGeom>
          <a:solidFill>
            <a:srgbClr val="5E6357"/>
          </a:solidFill>
          <a:ln w="12700">
            <a:solidFill>
              <a:srgbClr val="5E6357"/>
            </a:solidFill>
            <a:prstDash val="solid"/>
          </a:ln>
        </p:spPr>
        <p:txBody>
          <a:bodyPr/>
          <a:lstStyle/>
          <a:p>
            <a:endParaRPr/>
          </a:p>
        </p:txBody>
      </p:sp>
      <p:sp>
        <p:nvSpPr>
          <p:cNvPr id="14" name="Shape 11"/>
          <p:cNvSpPr/>
          <p:nvPr/>
        </p:nvSpPr>
        <p:spPr>
          <a:xfrm>
            <a:off x="8321040" y="4379976"/>
            <a:ext cx="50292" cy="50292"/>
          </a:xfrm>
          <a:prstGeom prst="ellipse">
            <a:avLst/>
          </a:prstGeom>
          <a:solidFill>
            <a:srgbClr val="5E6357"/>
          </a:solidFill>
          <a:ln w="12700">
            <a:solidFill>
              <a:srgbClr val="5E6357"/>
            </a:solidFill>
            <a:prstDash val="solid"/>
          </a:ln>
        </p:spPr>
        <p:txBody>
          <a:bodyPr/>
          <a:lstStyle/>
          <a:p>
            <a:endParaRPr/>
          </a:p>
        </p:txBody>
      </p:sp>
      <p:sp>
        <p:nvSpPr>
          <p:cNvPr id="15" name="Shape 12"/>
          <p:cNvSpPr/>
          <p:nvPr/>
        </p:nvSpPr>
        <p:spPr>
          <a:xfrm>
            <a:off x="8453628" y="4379976"/>
            <a:ext cx="50292" cy="50292"/>
          </a:xfrm>
          <a:prstGeom prst="ellipse">
            <a:avLst/>
          </a:prstGeom>
          <a:solidFill>
            <a:srgbClr val="5E6357"/>
          </a:solidFill>
          <a:ln w="12700">
            <a:solidFill>
              <a:srgbClr val="5E6357"/>
            </a:solidFill>
            <a:prstDash val="solid"/>
          </a:ln>
        </p:spPr>
        <p:txBody>
          <a:bodyPr/>
          <a:lstStyle/>
          <a:p>
            <a:endParaRPr/>
          </a:p>
        </p:txBody>
      </p:sp>
      <p:sp>
        <p:nvSpPr>
          <p:cNvPr id="16" name="Shape 13"/>
          <p:cNvSpPr/>
          <p:nvPr/>
        </p:nvSpPr>
        <p:spPr>
          <a:xfrm>
            <a:off x="8586216" y="4379976"/>
            <a:ext cx="50292" cy="50292"/>
          </a:xfrm>
          <a:prstGeom prst="ellipse">
            <a:avLst/>
          </a:prstGeom>
          <a:solidFill>
            <a:srgbClr val="5E6357"/>
          </a:solidFill>
          <a:ln w="12700">
            <a:solidFill>
              <a:srgbClr val="5E6357"/>
            </a:solidFill>
            <a:prstDash val="solid"/>
          </a:ln>
        </p:spPr>
        <p:txBody>
          <a:bodyPr/>
          <a:lstStyle/>
          <a:p>
            <a:endParaRPr/>
          </a:p>
        </p:txBody>
      </p:sp>
      <p:sp>
        <p:nvSpPr>
          <p:cNvPr id="17" name="Text 14"/>
          <p:cNvSpPr txBox="1"/>
          <p:nvPr/>
        </p:nvSpPr>
        <p:spPr>
          <a:xfrm>
            <a:off x="1097280" y="1325880"/>
            <a:ext cx="6949440" cy="2011680"/>
          </a:xfrm>
          <a:prstGeom prst="rect">
            <a:avLst/>
          </a:prstGeom>
          <a:noFill/>
          <a:ln/>
        </p:spPr>
        <p:txBody>
          <a:bodyPr wrap="square" lIns="0" tIns="0" rIns="0" bIns="0" rtlCol="0" anchor="ctr"/>
          <a:lstStyle/>
          <a:p>
            <a:pPr marL="0" indent="0" algn="ctr">
              <a:lnSpc>
                <a:spcPts val="3800"/>
              </a:lnSpc>
              <a:buNone/>
            </a:pPr>
            <a:r>
              <a:rPr lang="en-US" sz="2800" b="1" dirty="0">
                <a:solidFill>
                  <a:srgbClr val="FFFFFF"/>
                </a:solidFill>
                <a:latin typeface="Arial" pitchFamily="34" charset="0"/>
                <a:ea typeface="Arial" pitchFamily="34" charset="-122"/>
                <a:cs typeface="Arial" pitchFamily="34" charset="-120"/>
              </a:rPr>
              <a:t>"Threads discard the most essential and appealing properties of sequential computation: </a:t>
            </a:r>
            <a:r>
              <a:rPr lang="en-US" sz="2800" b="1" dirty="0">
                <a:solidFill>
                  <a:srgbClr val="D9F201"/>
                </a:solidFill>
                <a:latin typeface="Arial" pitchFamily="34" charset="0"/>
                <a:ea typeface="Arial" pitchFamily="34" charset="-122"/>
                <a:cs typeface="Arial" pitchFamily="34" charset="-120"/>
              </a:rPr>
              <a:t>understandability, predictability, and determinism</a:t>
            </a: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18" name="Text 15"/>
          <p:cNvSpPr txBox="1"/>
          <p:nvPr/>
        </p:nvSpPr>
        <p:spPr>
          <a:xfrm>
            <a:off x="1097280" y="3520440"/>
            <a:ext cx="6949440" cy="274320"/>
          </a:xfrm>
          <a:prstGeom prst="rect">
            <a:avLst/>
          </a:prstGeom>
          <a:noFill/>
          <a:ln/>
        </p:spPr>
        <p:txBody>
          <a:bodyPr wrap="square" lIns="0" tIns="0" rIns="0" bIns="0" rtlCol="0" anchor="ctr"/>
          <a:lstStyle/>
          <a:p>
            <a:pPr marL="0" indent="0" algn="ctr">
              <a:buNone/>
            </a:pPr>
            <a:r>
              <a:rPr lang="en-US" sz="1400" dirty="0">
                <a:solidFill>
                  <a:srgbClr val="9AA095"/>
                </a:solidFill>
                <a:latin typeface="Arial" pitchFamily="34" charset="0"/>
                <a:ea typeface="Arial" pitchFamily="34" charset="-122"/>
                <a:cs typeface="Arial" pitchFamily="34" charset="-120"/>
              </a:rPr>
              <a:t>Edward A. Lee  ·  The Problem with Threads  ·  2006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RECAP</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Where we left off</a:t>
            </a:r>
            <a:endParaRPr lang="en-US" sz="3200" dirty="0"/>
          </a:p>
        </p:txBody>
      </p:sp>
      <p:sp>
        <p:nvSpPr>
          <p:cNvPr id="16" name="Shape 13"/>
          <p:cNvSpPr/>
          <p:nvPr/>
        </p:nvSpPr>
        <p:spPr>
          <a:xfrm>
            <a:off x="566928" y="1463040"/>
            <a:ext cx="3931920" cy="2377440"/>
          </a:xfrm>
          <a:prstGeom prst="roundRect">
            <a:avLst>
              <a:gd name="adj" fmla="val 1923"/>
            </a:avLst>
          </a:prstGeom>
          <a:solidFill>
            <a:srgbClr val="141613"/>
          </a:solidFill>
          <a:ln w="12700">
            <a:solidFill>
              <a:srgbClr val="1F231B"/>
            </a:solidFill>
            <a:prstDash val="solid"/>
          </a:ln>
        </p:spPr>
        <p:txBody>
          <a:bodyPr/>
          <a:lstStyle/>
          <a:p>
            <a:endParaRPr/>
          </a:p>
        </p:txBody>
      </p:sp>
      <p:sp>
        <p:nvSpPr>
          <p:cNvPr id="17" name="Text 14"/>
          <p:cNvSpPr txBox="1"/>
          <p:nvPr/>
        </p:nvSpPr>
        <p:spPr>
          <a:xfrm>
            <a:off x="822960" y="1664208"/>
            <a:ext cx="3474720" cy="237744"/>
          </a:xfrm>
          <a:prstGeom prst="rect">
            <a:avLst/>
          </a:prstGeom>
          <a:noFill/>
          <a:ln/>
        </p:spPr>
        <p:txBody>
          <a:bodyPr wrap="square" lIns="0" tIns="0" rIns="0" bIns="0" rtlCol="0" anchor="ctr"/>
          <a:lstStyle/>
          <a:p>
            <a:pPr marL="0" indent="0">
              <a:buNone/>
            </a:pPr>
            <a:r>
              <a:rPr lang="en-US" sz="1100" b="1" kern="0" spc="200" dirty="0">
                <a:solidFill>
                  <a:srgbClr val="D9F201"/>
                </a:solidFill>
                <a:latin typeface="Arial" pitchFamily="34" charset="0"/>
                <a:ea typeface="Arial" pitchFamily="34" charset="-122"/>
                <a:cs typeface="Arial" pitchFamily="34" charset="-120"/>
              </a:rPr>
              <a:t>LECTURE 1 RECAP</a:t>
            </a:r>
            <a:endParaRPr lang="en-US" sz="1100" dirty="0"/>
          </a:p>
        </p:txBody>
      </p:sp>
      <p:sp>
        <p:nvSpPr>
          <p:cNvPr id="18" name="Text 15"/>
          <p:cNvSpPr txBox="1"/>
          <p:nvPr/>
        </p:nvSpPr>
        <p:spPr>
          <a:xfrm>
            <a:off x="822960" y="2011680"/>
            <a:ext cx="3419856" cy="1737360"/>
          </a:xfrm>
          <a:prstGeom prst="rect">
            <a:avLst/>
          </a:prstGeom>
          <a:noFill/>
          <a:ln/>
        </p:spPr>
        <p:txBody>
          <a:bodyPr wrap="square" lIns="0" tIns="0" rIns="0" bIns="0" rtlCol="0" anchor="ctr"/>
          <a:lstStyle/>
          <a:p>
            <a:pPr marL="342900" indent="-342900">
              <a:lnSpc>
                <a:spcPts val="2030"/>
              </a:lnSpc>
              <a:spcAft>
                <a:spcPts val="900"/>
              </a:spcAft>
              <a:buSzPct val="100000"/>
              <a:buChar char="•"/>
            </a:pPr>
            <a:r>
              <a:rPr lang="en-US" sz="1400" dirty="0">
                <a:solidFill>
                  <a:srgbClr val="FFFFFF"/>
                </a:solidFill>
                <a:latin typeface="Arial" pitchFamily="34" charset="0"/>
                <a:ea typeface="Arial" pitchFamily="34" charset="-122"/>
                <a:cs typeface="Arial" pitchFamily="34" charset="-120"/>
              </a:rPr>
              <a:t>Threads share the heap.</a:t>
            </a:r>
            <a:endParaRPr lang="en-US" sz="1400" dirty="0"/>
          </a:p>
          <a:p>
            <a:pPr marL="342900" indent="-342900">
              <a:lnSpc>
                <a:spcPts val="2030"/>
              </a:lnSpc>
              <a:spcAft>
                <a:spcPts val="900"/>
              </a:spcAft>
              <a:buSzPct val="100000"/>
              <a:buChar char="•"/>
            </a:pPr>
            <a:r>
              <a:rPr lang="en-US" sz="1400" dirty="0">
                <a:solidFill>
                  <a:srgbClr val="FFFFFF"/>
                </a:solidFill>
                <a:latin typeface="Arial" pitchFamily="34" charset="0"/>
                <a:ea typeface="Arial" pitchFamily="34" charset="-122"/>
                <a:cs typeface="Arial" pitchFamily="34" charset="-120"/>
              </a:rPr>
              <a:t>The OS can stop a thread between any two instructions.</a:t>
            </a:r>
            <a:endParaRPr lang="en-US" sz="1400" dirty="0"/>
          </a:p>
          <a:p>
            <a:pPr marL="342900" indent="-342900">
              <a:lnSpc>
                <a:spcPts val="2030"/>
              </a:lnSpc>
              <a:spcAft>
                <a:spcPts val="900"/>
              </a:spcAft>
              <a:buSzPct val="100000"/>
              <a:buChar char="•"/>
            </a:pPr>
            <a:r>
              <a:rPr lang="en-US" sz="1400" dirty="0">
                <a:solidFill>
                  <a:srgbClr val="FFFFFF"/>
                </a:solidFill>
                <a:latin typeface="Arial" pitchFamily="34" charset="0"/>
                <a:ea typeface="Arial" pitchFamily="34" charset="-122"/>
                <a:cs typeface="Arial" pitchFamily="34" charset="-120"/>
              </a:rPr>
              <a:t>Five threads printed in five different orders.</a:t>
            </a:r>
            <a:endParaRPr lang="en-US" sz="1400" dirty="0"/>
          </a:p>
        </p:txBody>
      </p:sp>
      <p:sp>
        <p:nvSpPr>
          <p:cNvPr id="19" name="Shape 16"/>
          <p:cNvSpPr/>
          <p:nvPr/>
        </p:nvSpPr>
        <p:spPr>
          <a:xfrm>
            <a:off x="4663440" y="1463040"/>
            <a:ext cx="3913632" cy="2377440"/>
          </a:xfrm>
          <a:prstGeom prst="roundRect">
            <a:avLst>
              <a:gd name="adj" fmla="val 1923"/>
            </a:avLst>
          </a:prstGeom>
          <a:solidFill>
            <a:srgbClr val="141613"/>
          </a:solidFill>
          <a:ln w="19050">
            <a:solidFill>
              <a:srgbClr val="D9F201"/>
            </a:solidFill>
            <a:prstDash val="solid"/>
          </a:ln>
        </p:spPr>
        <p:txBody>
          <a:bodyPr/>
          <a:lstStyle/>
          <a:p>
            <a:endParaRPr/>
          </a:p>
        </p:txBody>
      </p:sp>
      <p:sp>
        <p:nvSpPr>
          <p:cNvPr id="21" name="Text 18"/>
          <p:cNvSpPr txBox="1"/>
          <p:nvPr/>
        </p:nvSpPr>
        <p:spPr>
          <a:xfrm>
            <a:off x="4919472" y="2057400"/>
            <a:ext cx="3401568" cy="822960"/>
          </a:xfrm>
          <a:prstGeom prst="rect">
            <a:avLst/>
          </a:prstGeom>
          <a:noFill/>
          <a:ln/>
        </p:spPr>
        <p:txBody>
          <a:bodyPr wrap="square" lIns="0" tIns="0" rIns="0" bIns="0" rtlCol="0" anchor="ctr"/>
          <a:lstStyle/>
          <a:p>
            <a:pPr marL="0" indent="0">
              <a:lnSpc>
                <a:spcPts val="2200"/>
              </a:lnSpc>
              <a:buNone/>
            </a:pPr>
            <a:r>
              <a:rPr lang="en-US" sz="1600" dirty="0">
                <a:solidFill>
                  <a:srgbClr val="FFFFFF"/>
                </a:solidFill>
                <a:latin typeface="Arial" pitchFamily="34" charset="0"/>
                <a:ea typeface="Arial" pitchFamily="34" charset="-122"/>
                <a:cs typeface="Arial" pitchFamily="34" charset="-120"/>
              </a:rPr>
              <a:t>What if those threads did not just print,</a:t>
            </a:r>
            <a:r>
              <a:rPr lang="en-US" sz="1600" dirty="0"/>
              <a:t> </a:t>
            </a:r>
            <a:r>
              <a:rPr lang="en-US" sz="1600" dirty="0">
                <a:solidFill>
                  <a:srgbClr val="FFFFFF"/>
                </a:solidFill>
                <a:latin typeface="Arial" pitchFamily="34" charset="0"/>
                <a:ea typeface="Arial" pitchFamily="34" charset="-122"/>
                <a:cs typeface="Arial" pitchFamily="34" charset="-120"/>
              </a:rPr>
              <a:t>but all incremented the same variable?</a:t>
            </a:r>
            <a:endParaRPr lang="en-US" sz="1600" dirty="0"/>
          </a:p>
        </p:txBody>
      </p:sp>
      <p:sp>
        <p:nvSpPr>
          <p:cNvPr id="23" name="Text 20"/>
          <p:cNvSpPr txBox="1"/>
          <p:nvPr/>
        </p:nvSpPr>
        <p:spPr>
          <a:xfrm>
            <a:off x="566928" y="4370832"/>
            <a:ext cx="8010144" cy="274320"/>
          </a:xfrm>
          <a:prstGeom prst="rect">
            <a:avLst/>
          </a:prstGeom>
          <a:noFill/>
          <a:ln/>
        </p:spPr>
        <p:txBody>
          <a:bodyPr wrap="square" lIns="0" tIns="0" rIns="0" bIns="0" rtlCol="0" anchor="ctr"/>
          <a:lstStyle/>
          <a:p>
            <a:pPr marL="0" indent="0">
              <a:buNone/>
            </a:pPr>
            <a:r>
              <a:rPr lang="en-US" sz="1300" dirty="0">
                <a:solidFill>
                  <a:srgbClr val="D9F201"/>
                </a:solidFill>
                <a:latin typeface="Arial" pitchFamily="34" charset="0"/>
                <a:ea typeface="Arial" pitchFamily="34" charset="-122"/>
                <a:cs typeface="Arial" pitchFamily="34" charset="-120"/>
              </a:rPr>
              <a:t>Lecture 1 was about speed. This one is about correctness — and a program can be fast and wrong.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Shape 9"/>
          <p:cNvSpPr/>
          <p:nvPr/>
        </p:nvSpPr>
        <p:spPr>
          <a:xfrm>
            <a:off x="8366760" y="900684"/>
            <a:ext cx="50292" cy="50292"/>
          </a:xfrm>
          <a:prstGeom prst="ellipse">
            <a:avLst/>
          </a:prstGeom>
          <a:solidFill>
            <a:srgbClr val="D9F201"/>
          </a:solidFill>
          <a:ln w="12700">
            <a:solidFill>
              <a:srgbClr val="D9F201"/>
            </a:solidFill>
            <a:prstDash val="solid"/>
          </a:ln>
        </p:spPr>
        <p:txBody>
          <a:bodyPr/>
          <a:lstStyle/>
          <a:p>
            <a:endParaRPr/>
          </a:p>
        </p:txBody>
      </p:sp>
      <p:sp>
        <p:nvSpPr>
          <p:cNvPr id="13" name="Shape 10"/>
          <p:cNvSpPr/>
          <p:nvPr/>
        </p:nvSpPr>
        <p:spPr>
          <a:xfrm>
            <a:off x="8499348" y="900684"/>
            <a:ext cx="50292" cy="50292"/>
          </a:xfrm>
          <a:prstGeom prst="ellipse">
            <a:avLst/>
          </a:prstGeom>
          <a:solidFill>
            <a:srgbClr val="D9F201"/>
          </a:solidFill>
          <a:ln w="12700">
            <a:solidFill>
              <a:srgbClr val="D9F201"/>
            </a:solidFill>
            <a:prstDash val="solid"/>
          </a:ln>
        </p:spPr>
        <p:txBody>
          <a:bodyPr/>
          <a:lstStyle/>
          <a:p>
            <a:endParaRPr/>
          </a:p>
        </p:txBody>
      </p:sp>
      <p:sp>
        <p:nvSpPr>
          <p:cNvPr id="14" name="Shape 11"/>
          <p:cNvSpPr/>
          <p:nvPr/>
        </p:nvSpPr>
        <p:spPr>
          <a:xfrm>
            <a:off x="8631936" y="900684"/>
            <a:ext cx="50292" cy="50292"/>
          </a:xfrm>
          <a:prstGeom prst="ellipse">
            <a:avLst/>
          </a:prstGeom>
          <a:solidFill>
            <a:srgbClr val="D9F201"/>
          </a:solidFill>
          <a:ln w="12700">
            <a:solidFill>
              <a:srgbClr val="D9F201"/>
            </a:solidFill>
            <a:prstDash val="solid"/>
          </a:ln>
        </p:spPr>
        <p:txBody>
          <a:bodyPr/>
          <a:lstStyle/>
          <a:p>
            <a:endParaRPr/>
          </a:p>
        </p:txBody>
      </p:sp>
      <p:sp>
        <p:nvSpPr>
          <p:cNvPr id="15" name="Text 12"/>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7" name="Text 14"/>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AGENDA</a:t>
            </a:r>
            <a:endParaRPr lang="en-US" sz="1050" dirty="0"/>
          </a:p>
        </p:txBody>
      </p:sp>
      <p:sp>
        <p:nvSpPr>
          <p:cNvPr id="18" name="Text 15"/>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What we'll cover</a:t>
            </a:r>
            <a:endParaRPr lang="en-US" sz="3200" dirty="0"/>
          </a:p>
        </p:txBody>
      </p:sp>
      <p:sp>
        <p:nvSpPr>
          <p:cNvPr id="19" name="Text 16"/>
          <p:cNvSpPr txBox="1"/>
          <p:nvPr/>
        </p:nvSpPr>
        <p:spPr>
          <a:xfrm>
            <a:off x="566928" y="1783080"/>
            <a:ext cx="914400" cy="457200"/>
          </a:xfrm>
          <a:prstGeom prst="rect">
            <a:avLst/>
          </a:prstGeom>
          <a:noFill/>
          <a:ln/>
        </p:spPr>
        <p:txBody>
          <a:bodyPr wrap="square" lIns="0" tIns="0" rIns="0" bIns="0" rtlCol="0" anchor="ctr"/>
          <a:lstStyle/>
          <a:p>
            <a:pPr marL="0" indent="0">
              <a:buNone/>
            </a:pPr>
            <a:r>
              <a:rPr lang="en-US" sz="3200" b="1" dirty="0">
                <a:solidFill>
                  <a:srgbClr val="D9F201"/>
                </a:solidFill>
                <a:latin typeface="Arial" pitchFamily="34" charset="0"/>
                <a:ea typeface="Arial" pitchFamily="34" charset="-122"/>
                <a:cs typeface="Arial" pitchFamily="34" charset="-120"/>
              </a:rPr>
              <a:t>00</a:t>
            </a:r>
            <a:endParaRPr lang="en-US" sz="3200" dirty="0"/>
          </a:p>
        </p:txBody>
      </p:sp>
      <p:sp>
        <p:nvSpPr>
          <p:cNvPr id="20" name="Shape 17"/>
          <p:cNvSpPr/>
          <p:nvPr/>
        </p:nvSpPr>
        <p:spPr>
          <a:xfrm>
            <a:off x="566928" y="2322576"/>
            <a:ext cx="1737360" cy="18288"/>
          </a:xfrm>
          <a:prstGeom prst="rect">
            <a:avLst/>
          </a:prstGeom>
          <a:solidFill>
            <a:srgbClr val="1F231B"/>
          </a:solidFill>
          <a:ln w="12700">
            <a:solidFill>
              <a:srgbClr val="1F231B"/>
            </a:solidFill>
            <a:prstDash val="solid"/>
          </a:ln>
        </p:spPr>
        <p:txBody>
          <a:bodyPr/>
          <a:lstStyle/>
          <a:p>
            <a:endParaRPr/>
          </a:p>
        </p:txBody>
      </p:sp>
      <p:sp>
        <p:nvSpPr>
          <p:cNvPr id="21" name="Text 18"/>
          <p:cNvSpPr txBox="1"/>
          <p:nvPr/>
        </p:nvSpPr>
        <p:spPr>
          <a:xfrm>
            <a:off x="566928" y="2450592"/>
            <a:ext cx="1783080" cy="731520"/>
          </a:xfrm>
          <a:prstGeom prst="rect">
            <a:avLst/>
          </a:prstGeom>
          <a:noFill/>
          <a:ln/>
        </p:spPr>
        <p:txBody>
          <a:bodyPr wrap="square" lIns="0" tIns="0" rIns="0" bIns="0" rtlCol="0" anchor="ctr"/>
          <a:lstStyle/>
          <a:p>
            <a:pPr marL="0" indent="0">
              <a:lnSpc>
                <a:spcPts val="2000"/>
              </a:lnSpc>
              <a:buNone/>
            </a:pPr>
            <a:r>
              <a:rPr lang="en-US" sz="1600" dirty="0">
                <a:solidFill>
                  <a:srgbClr val="FFFFFF"/>
                </a:solidFill>
                <a:latin typeface="Arial" pitchFamily="34" charset="0"/>
                <a:ea typeface="Arial" pitchFamily="34" charset="-122"/>
                <a:cs typeface="Arial" pitchFamily="34" charset="-120"/>
              </a:rPr>
              <a:t>The thread pool</a:t>
            </a:r>
            <a:endParaRPr lang="en-US" sz="1600" dirty="0"/>
          </a:p>
        </p:txBody>
      </p:sp>
      <p:sp>
        <p:nvSpPr>
          <p:cNvPr id="22" name="Text 19"/>
          <p:cNvSpPr txBox="1"/>
          <p:nvPr/>
        </p:nvSpPr>
        <p:spPr>
          <a:xfrm>
            <a:off x="566928" y="3182112"/>
            <a:ext cx="1783080" cy="457200"/>
          </a:xfrm>
          <a:prstGeom prst="rect">
            <a:avLst/>
          </a:prstGeom>
          <a:noFill/>
          <a:ln/>
        </p:spPr>
        <p:txBody>
          <a:bodyPr wrap="square" lIns="0" tIns="0" rIns="0" bIns="0" rtlCol="0" anchor="ctr"/>
          <a:lstStyle/>
          <a:p>
            <a:pPr marL="0" indent="0">
              <a:lnSpc>
                <a:spcPts val="1500"/>
              </a:lnSpc>
              <a:buNone/>
            </a:pPr>
            <a:r>
              <a:rPr lang="en-US" sz="1200" dirty="0">
                <a:solidFill>
                  <a:srgbClr val="9AA095"/>
                </a:solidFill>
                <a:latin typeface="Arial" pitchFamily="34" charset="0"/>
                <a:ea typeface="Arial" pitchFamily="34" charset="-122"/>
                <a:cs typeface="Arial" pitchFamily="34" charset="-120"/>
              </a:rPr>
              <a:t>a loose end</a:t>
            </a:r>
            <a:endParaRPr lang="en-US" sz="1200" dirty="0"/>
          </a:p>
        </p:txBody>
      </p:sp>
      <p:sp>
        <p:nvSpPr>
          <p:cNvPr id="23" name="Text 20"/>
          <p:cNvSpPr txBox="1"/>
          <p:nvPr/>
        </p:nvSpPr>
        <p:spPr>
          <a:xfrm>
            <a:off x="2578608" y="1783080"/>
            <a:ext cx="914400" cy="457200"/>
          </a:xfrm>
          <a:prstGeom prst="rect">
            <a:avLst/>
          </a:prstGeom>
          <a:noFill/>
          <a:ln/>
        </p:spPr>
        <p:txBody>
          <a:bodyPr wrap="square" lIns="0" tIns="0" rIns="0" bIns="0" rtlCol="0" anchor="ctr"/>
          <a:lstStyle/>
          <a:p>
            <a:pPr marL="0" indent="0">
              <a:buNone/>
            </a:pPr>
            <a:r>
              <a:rPr lang="en-US" sz="3200" b="1" dirty="0">
                <a:solidFill>
                  <a:srgbClr val="D9F201"/>
                </a:solidFill>
                <a:latin typeface="Arial" pitchFamily="34" charset="0"/>
                <a:ea typeface="Arial" pitchFamily="34" charset="-122"/>
                <a:cs typeface="Arial" pitchFamily="34" charset="-120"/>
              </a:rPr>
              <a:t>01</a:t>
            </a:r>
            <a:endParaRPr lang="en-US" sz="3200" dirty="0"/>
          </a:p>
        </p:txBody>
      </p:sp>
      <p:sp>
        <p:nvSpPr>
          <p:cNvPr id="24" name="Shape 21"/>
          <p:cNvSpPr/>
          <p:nvPr/>
        </p:nvSpPr>
        <p:spPr>
          <a:xfrm>
            <a:off x="2578608" y="2322576"/>
            <a:ext cx="1737360" cy="18288"/>
          </a:xfrm>
          <a:prstGeom prst="rect">
            <a:avLst/>
          </a:prstGeom>
          <a:solidFill>
            <a:srgbClr val="1F231B"/>
          </a:solidFill>
          <a:ln w="12700">
            <a:solidFill>
              <a:srgbClr val="1F231B"/>
            </a:solidFill>
            <a:prstDash val="solid"/>
          </a:ln>
        </p:spPr>
        <p:txBody>
          <a:bodyPr/>
          <a:lstStyle/>
          <a:p>
            <a:endParaRPr/>
          </a:p>
        </p:txBody>
      </p:sp>
      <p:sp>
        <p:nvSpPr>
          <p:cNvPr id="25" name="Text 22"/>
          <p:cNvSpPr txBox="1"/>
          <p:nvPr/>
        </p:nvSpPr>
        <p:spPr>
          <a:xfrm>
            <a:off x="2578608" y="2450592"/>
            <a:ext cx="1783080" cy="731520"/>
          </a:xfrm>
          <a:prstGeom prst="rect">
            <a:avLst/>
          </a:prstGeom>
          <a:noFill/>
          <a:ln/>
        </p:spPr>
        <p:txBody>
          <a:bodyPr wrap="square" lIns="0" tIns="0" rIns="0" bIns="0" rtlCol="0" anchor="ctr"/>
          <a:lstStyle/>
          <a:p>
            <a:pPr marL="0" indent="0">
              <a:lnSpc>
                <a:spcPts val="2000"/>
              </a:lnSpc>
              <a:buNone/>
            </a:pPr>
            <a:r>
              <a:rPr lang="en-US" sz="1600" dirty="0">
                <a:solidFill>
                  <a:srgbClr val="FFFFFF"/>
                </a:solidFill>
                <a:latin typeface="Arial" pitchFamily="34" charset="0"/>
                <a:ea typeface="Arial" pitchFamily="34" charset="-122"/>
                <a:cs typeface="Arial" pitchFamily="34" charset="-120"/>
              </a:rPr>
              <a:t>The race</a:t>
            </a:r>
            <a:endParaRPr lang="en-US" sz="1600" dirty="0"/>
          </a:p>
        </p:txBody>
      </p:sp>
      <p:sp>
        <p:nvSpPr>
          <p:cNvPr id="26" name="Text 23"/>
          <p:cNvSpPr txBox="1"/>
          <p:nvPr/>
        </p:nvSpPr>
        <p:spPr>
          <a:xfrm>
            <a:off x="2578608" y="3182112"/>
            <a:ext cx="1783080" cy="457200"/>
          </a:xfrm>
          <a:prstGeom prst="rect">
            <a:avLst/>
          </a:prstGeom>
          <a:noFill/>
          <a:ln/>
        </p:spPr>
        <p:txBody>
          <a:bodyPr wrap="square" lIns="0" tIns="0" rIns="0" bIns="0" rtlCol="0" anchor="ctr"/>
          <a:lstStyle/>
          <a:p>
            <a:pPr marL="0" indent="0">
              <a:lnSpc>
                <a:spcPts val="1500"/>
              </a:lnSpc>
              <a:buNone/>
            </a:pPr>
            <a:r>
              <a:rPr lang="en-US" sz="1200" dirty="0">
                <a:solidFill>
                  <a:srgbClr val="9AA095"/>
                </a:solidFill>
                <a:latin typeface="Arial" pitchFamily="34" charset="0"/>
                <a:ea typeface="Arial" pitchFamily="34" charset="-122"/>
                <a:cs typeface="Arial" pitchFamily="34" charset="-120"/>
              </a:rPr>
              <a:t>and why tests miss it</a:t>
            </a:r>
            <a:endParaRPr lang="en-US" sz="1200" dirty="0"/>
          </a:p>
        </p:txBody>
      </p:sp>
      <p:sp>
        <p:nvSpPr>
          <p:cNvPr id="27" name="Text 24"/>
          <p:cNvSpPr txBox="1"/>
          <p:nvPr/>
        </p:nvSpPr>
        <p:spPr>
          <a:xfrm>
            <a:off x="4590288" y="1783080"/>
            <a:ext cx="914400" cy="457200"/>
          </a:xfrm>
          <a:prstGeom prst="rect">
            <a:avLst/>
          </a:prstGeom>
          <a:noFill/>
          <a:ln/>
        </p:spPr>
        <p:txBody>
          <a:bodyPr wrap="square" lIns="0" tIns="0" rIns="0" bIns="0" rtlCol="0" anchor="ctr"/>
          <a:lstStyle/>
          <a:p>
            <a:pPr marL="0" indent="0">
              <a:buNone/>
            </a:pPr>
            <a:r>
              <a:rPr lang="en-US" sz="3200" b="1" dirty="0">
                <a:solidFill>
                  <a:srgbClr val="D9F201"/>
                </a:solidFill>
                <a:latin typeface="Arial" pitchFamily="34" charset="0"/>
                <a:ea typeface="Arial" pitchFamily="34" charset="-122"/>
                <a:cs typeface="Arial" pitchFamily="34" charset="-120"/>
              </a:rPr>
              <a:t>02</a:t>
            </a:r>
            <a:endParaRPr lang="en-US" sz="3200" dirty="0"/>
          </a:p>
        </p:txBody>
      </p:sp>
      <p:sp>
        <p:nvSpPr>
          <p:cNvPr id="28" name="Shape 25"/>
          <p:cNvSpPr/>
          <p:nvPr/>
        </p:nvSpPr>
        <p:spPr>
          <a:xfrm>
            <a:off x="4590288" y="2322576"/>
            <a:ext cx="1737360" cy="18288"/>
          </a:xfrm>
          <a:prstGeom prst="rect">
            <a:avLst/>
          </a:prstGeom>
          <a:solidFill>
            <a:srgbClr val="1F231B"/>
          </a:solidFill>
          <a:ln w="12700">
            <a:solidFill>
              <a:srgbClr val="1F231B"/>
            </a:solidFill>
            <a:prstDash val="solid"/>
          </a:ln>
        </p:spPr>
        <p:txBody>
          <a:bodyPr/>
          <a:lstStyle/>
          <a:p>
            <a:endParaRPr/>
          </a:p>
        </p:txBody>
      </p:sp>
      <p:sp>
        <p:nvSpPr>
          <p:cNvPr id="29" name="Text 26"/>
          <p:cNvSpPr txBox="1"/>
          <p:nvPr/>
        </p:nvSpPr>
        <p:spPr>
          <a:xfrm>
            <a:off x="4590288" y="2450592"/>
            <a:ext cx="1783080" cy="731520"/>
          </a:xfrm>
          <a:prstGeom prst="rect">
            <a:avLst/>
          </a:prstGeom>
          <a:noFill/>
          <a:ln/>
        </p:spPr>
        <p:txBody>
          <a:bodyPr wrap="square" lIns="0" tIns="0" rIns="0" bIns="0" rtlCol="0" anchor="ctr"/>
          <a:lstStyle/>
          <a:p>
            <a:pPr marL="0" indent="0">
              <a:lnSpc>
                <a:spcPts val="2000"/>
              </a:lnSpc>
              <a:buNone/>
            </a:pPr>
            <a:r>
              <a:rPr lang="en-US" sz="1600" dirty="0">
                <a:solidFill>
                  <a:srgbClr val="FFFFFF"/>
                </a:solidFill>
                <a:latin typeface="Arial" pitchFamily="34" charset="0"/>
                <a:ea typeface="Arial" pitchFamily="34" charset="-122"/>
                <a:cs typeface="Arial" pitchFamily="34" charset="-120"/>
              </a:rPr>
              <a:t>The ladder of fixes</a:t>
            </a:r>
            <a:endParaRPr lang="en-US" sz="1600" dirty="0"/>
          </a:p>
        </p:txBody>
      </p:sp>
      <p:sp>
        <p:nvSpPr>
          <p:cNvPr id="30" name="Text 27"/>
          <p:cNvSpPr txBox="1"/>
          <p:nvPr/>
        </p:nvSpPr>
        <p:spPr>
          <a:xfrm>
            <a:off x="4590288" y="3182112"/>
            <a:ext cx="1783080" cy="457200"/>
          </a:xfrm>
          <a:prstGeom prst="rect">
            <a:avLst/>
          </a:prstGeom>
          <a:noFill/>
          <a:ln/>
        </p:spPr>
        <p:txBody>
          <a:bodyPr wrap="square" lIns="0" tIns="0" rIns="0" bIns="0" rtlCol="0" anchor="ctr"/>
          <a:lstStyle/>
          <a:p>
            <a:pPr marL="0" indent="0">
              <a:lnSpc>
                <a:spcPts val="1500"/>
              </a:lnSpc>
              <a:buNone/>
            </a:pPr>
            <a:r>
              <a:rPr lang="en-US" sz="1200" dirty="0">
                <a:solidFill>
                  <a:srgbClr val="9AA095"/>
                </a:solidFill>
                <a:latin typeface="Arial" pitchFamily="34" charset="0"/>
                <a:ea typeface="Arial" pitchFamily="34" charset="-122"/>
                <a:cs typeface="Arial" pitchFamily="34" charset="-120"/>
              </a:rPr>
              <a:t>four steps</a:t>
            </a:r>
            <a:endParaRPr lang="en-US" sz="1200" dirty="0"/>
          </a:p>
        </p:txBody>
      </p:sp>
      <p:sp>
        <p:nvSpPr>
          <p:cNvPr id="31" name="Text 28"/>
          <p:cNvSpPr txBox="1"/>
          <p:nvPr/>
        </p:nvSpPr>
        <p:spPr>
          <a:xfrm>
            <a:off x="6601968" y="1783080"/>
            <a:ext cx="914400" cy="457200"/>
          </a:xfrm>
          <a:prstGeom prst="rect">
            <a:avLst/>
          </a:prstGeom>
          <a:noFill/>
          <a:ln/>
        </p:spPr>
        <p:txBody>
          <a:bodyPr wrap="square" lIns="0" tIns="0" rIns="0" bIns="0" rtlCol="0" anchor="ctr"/>
          <a:lstStyle/>
          <a:p>
            <a:pPr marL="0" indent="0">
              <a:buNone/>
            </a:pPr>
            <a:r>
              <a:rPr lang="en-US" sz="3200" b="1" dirty="0">
                <a:solidFill>
                  <a:srgbClr val="D9F201"/>
                </a:solidFill>
                <a:latin typeface="Arial" pitchFamily="34" charset="0"/>
                <a:ea typeface="Arial" pitchFamily="34" charset="-122"/>
                <a:cs typeface="Arial" pitchFamily="34" charset="-120"/>
              </a:rPr>
              <a:t>03</a:t>
            </a:r>
            <a:endParaRPr lang="en-US" sz="3200" dirty="0"/>
          </a:p>
        </p:txBody>
      </p:sp>
      <p:sp>
        <p:nvSpPr>
          <p:cNvPr id="32" name="Shape 29"/>
          <p:cNvSpPr/>
          <p:nvPr/>
        </p:nvSpPr>
        <p:spPr>
          <a:xfrm>
            <a:off x="6601968" y="2322576"/>
            <a:ext cx="1737360" cy="18288"/>
          </a:xfrm>
          <a:prstGeom prst="rect">
            <a:avLst/>
          </a:prstGeom>
          <a:solidFill>
            <a:srgbClr val="1F231B"/>
          </a:solidFill>
          <a:ln w="12700">
            <a:solidFill>
              <a:srgbClr val="1F231B"/>
            </a:solidFill>
            <a:prstDash val="solid"/>
          </a:ln>
        </p:spPr>
        <p:txBody>
          <a:bodyPr/>
          <a:lstStyle/>
          <a:p>
            <a:endParaRPr/>
          </a:p>
        </p:txBody>
      </p:sp>
      <p:sp>
        <p:nvSpPr>
          <p:cNvPr id="33" name="Text 30"/>
          <p:cNvSpPr txBox="1"/>
          <p:nvPr/>
        </p:nvSpPr>
        <p:spPr>
          <a:xfrm>
            <a:off x="6601968" y="2450592"/>
            <a:ext cx="1783080" cy="731520"/>
          </a:xfrm>
          <a:prstGeom prst="rect">
            <a:avLst/>
          </a:prstGeom>
          <a:noFill/>
          <a:ln/>
        </p:spPr>
        <p:txBody>
          <a:bodyPr wrap="square" lIns="0" tIns="0" rIns="0" bIns="0" rtlCol="0" anchor="ctr"/>
          <a:lstStyle/>
          <a:p>
            <a:pPr marL="0" indent="0">
              <a:lnSpc>
                <a:spcPts val="2000"/>
              </a:lnSpc>
              <a:buNone/>
            </a:pPr>
            <a:r>
              <a:rPr lang="en-US" sz="1600" dirty="0">
                <a:solidFill>
                  <a:srgbClr val="FFFFFF"/>
                </a:solidFill>
                <a:latin typeface="Arial" pitchFamily="34" charset="0"/>
                <a:ea typeface="Arial" pitchFamily="34" charset="-122"/>
                <a:cs typeface="Arial" pitchFamily="34" charset="-120"/>
              </a:rPr>
              <a:t>Deadlock</a:t>
            </a:r>
            <a:endParaRPr lang="en-US" sz="1600" dirty="0"/>
          </a:p>
        </p:txBody>
      </p:sp>
      <p:sp>
        <p:nvSpPr>
          <p:cNvPr id="34" name="Text 31"/>
          <p:cNvSpPr txBox="1"/>
          <p:nvPr/>
        </p:nvSpPr>
        <p:spPr>
          <a:xfrm>
            <a:off x="6601968" y="3182112"/>
            <a:ext cx="1783080" cy="457200"/>
          </a:xfrm>
          <a:prstGeom prst="rect">
            <a:avLst/>
          </a:prstGeom>
          <a:noFill/>
          <a:ln/>
        </p:spPr>
        <p:txBody>
          <a:bodyPr wrap="square" lIns="0" tIns="0" rIns="0" bIns="0" rtlCol="0" anchor="ctr"/>
          <a:lstStyle/>
          <a:p>
            <a:pPr marL="0" indent="0">
              <a:lnSpc>
                <a:spcPts val="1500"/>
              </a:lnSpc>
              <a:buNone/>
            </a:pPr>
            <a:r>
              <a:rPr lang="en-US" sz="1200" dirty="0">
                <a:solidFill>
                  <a:srgbClr val="9AA095"/>
                </a:solidFill>
                <a:latin typeface="Arial" pitchFamily="34" charset="0"/>
                <a:ea typeface="Arial" pitchFamily="34" charset="-122"/>
                <a:cs typeface="Arial" pitchFamily="34" charset="-120"/>
              </a:rPr>
              <a:t>livelock, starvation, coordination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rot="2700000">
            <a:off x="-137160" y="-91440"/>
            <a:ext cx="23774" cy="502920"/>
          </a:xfrm>
          <a:prstGeom prst="rect">
            <a:avLst/>
          </a:prstGeom>
          <a:solidFill>
            <a:srgbClr val="FFFFFF"/>
          </a:solidFill>
          <a:ln w="12700">
            <a:solidFill>
              <a:srgbClr val="FFFFFF"/>
            </a:solidFill>
            <a:prstDash val="solid"/>
          </a:ln>
        </p:spPr>
        <p:txBody>
          <a:bodyPr/>
          <a:lstStyle/>
          <a:p>
            <a:endParaRPr/>
          </a:p>
        </p:txBody>
      </p:sp>
      <p:sp>
        <p:nvSpPr>
          <p:cNvPr id="4" name="Shape 1"/>
          <p:cNvSpPr/>
          <p:nvPr/>
        </p:nvSpPr>
        <p:spPr>
          <a:xfrm rot="2700000">
            <a:off x="-68580" y="-91440"/>
            <a:ext cx="23774" cy="502920"/>
          </a:xfrm>
          <a:prstGeom prst="rect">
            <a:avLst/>
          </a:prstGeom>
          <a:solidFill>
            <a:srgbClr val="FFFFFF"/>
          </a:solidFill>
          <a:ln w="12700">
            <a:solidFill>
              <a:srgbClr val="FFFFFF"/>
            </a:solidFill>
            <a:prstDash val="solid"/>
          </a:ln>
        </p:spPr>
        <p:txBody>
          <a:bodyPr/>
          <a:lstStyle/>
          <a:p>
            <a:endParaRPr/>
          </a:p>
        </p:txBody>
      </p:sp>
      <p:sp>
        <p:nvSpPr>
          <p:cNvPr id="5" name="Shape 2"/>
          <p:cNvSpPr/>
          <p:nvPr/>
        </p:nvSpPr>
        <p:spPr>
          <a:xfrm rot="2700000">
            <a:off x="0" y="-91440"/>
            <a:ext cx="23774" cy="502920"/>
          </a:xfrm>
          <a:prstGeom prst="rect">
            <a:avLst/>
          </a:prstGeom>
          <a:solidFill>
            <a:srgbClr val="FFFFFF"/>
          </a:solidFill>
          <a:ln w="12700">
            <a:solidFill>
              <a:srgbClr val="FFFFFF"/>
            </a:solidFill>
            <a:prstDash val="solid"/>
          </a:ln>
        </p:spPr>
        <p:txBody>
          <a:bodyPr/>
          <a:lstStyle/>
          <a:p>
            <a:endParaRPr/>
          </a:p>
        </p:txBody>
      </p:sp>
      <p:sp>
        <p:nvSpPr>
          <p:cNvPr id="6" name="Shape 3"/>
          <p:cNvSpPr/>
          <p:nvPr/>
        </p:nvSpPr>
        <p:spPr>
          <a:xfrm rot="2700000">
            <a:off x="68580" y="-91440"/>
            <a:ext cx="23774" cy="502920"/>
          </a:xfrm>
          <a:prstGeom prst="rect">
            <a:avLst/>
          </a:prstGeom>
          <a:solidFill>
            <a:srgbClr val="FFFFFF"/>
          </a:solidFill>
          <a:ln w="12700">
            <a:solidFill>
              <a:srgbClr val="FFFFFF"/>
            </a:solidFill>
            <a:prstDash val="solid"/>
          </a:ln>
        </p:spPr>
        <p:txBody>
          <a:bodyPr/>
          <a:lstStyle/>
          <a:p>
            <a:endParaRPr/>
          </a:p>
        </p:txBody>
      </p:sp>
      <p:sp>
        <p:nvSpPr>
          <p:cNvPr id="7" name="Shape 4"/>
          <p:cNvSpPr/>
          <p:nvPr/>
        </p:nvSpPr>
        <p:spPr>
          <a:xfrm rot="2700000">
            <a:off x="137160" y="-91440"/>
            <a:ext cx="23774" cy="502920"/>
          </a:xfrm>
          <a:prstGeom prst="rect">
            <a:avLst/>
          </a:prstGeom>
          <a:solidFill>
            <a:srgbClr val="FFFFFF"/>
          </a:solidFill>
          <a:ln w="12700">
            <a:solidFill>
              <a:srgbClr val="FFFFFF"/>
            </a:solidFill>
            <a:prstDash val="solid"/>
          </a:ln>
        </p:spPr>
        <p:txBody>
          <a:bodyPr/>
          <a:lstStyle/>
          <a:p>
            <a:endParaRPr/>
          </a:p>
        </p:txBody>
      </p:sp>
      <p:sp>
        <p:nvSpPr>
          <p:cNvPr id="8" name="Shape 5"/>
          <p:cNvSpPr/>
          <p:nvPr/>
        </p:nvSpPr>
        <p:spPr>
          <a:xfrm rot="2700000">
            <a:off x="205740" y="-91440"/>
            <a:ext cx="23774" cy="502920"/>
          </a:xfrm>
          <a:prstGeom prst="rect">
            <a:avLst/>
          </a:prstGeom>
          <a:solidFill>
            <a:srgbClr val="FFFFFF"/>
          </a:solidFill>
          <a:ln w="12700">
            <a:solidFill>
              <a:srgbClr val="FFFFFF"/>
            </a:solidFill>
            <a:prstDash val="solid"/>
          </a:ln>
        </p:spPr>
        <p:txBody>
          <a:bodyPr/>
          <a:lstStyle/>
          <a:p>
            <a:endParaRPr/>
          </a:p>
        </p:txBody>
      </p:sp>
      <p:sp>
        <p:nvSpPr>
          <p:cNvPr id="9" name="Shape 6"/>
          <p:cNvSpPr/>
          <p:nvPr/>
        </p:nvSpPr>
        <p:spPr>
          <a:xfrm rot="2700000">
            <a:off x="274320" y="-91440"/>
            <a:ext cx="23774" cy="502920"/>
          </a:xfrm>
          <a:prstGeom prst="rect">
            <a:avLst/>
          </a:prstGeom>
          <a:solidFill>
            <a:srgbClr val="FFFFFF"/>
          </a:solidFill>
          <a:ln w="12700">
            <a:solidFill>
              <a:srgbClr val="FFFFFF"/>
            </a:solidFill>
            <a:prstDash val="solid"/>
          </a:ln>
        </p:spPr>
        <p:txBody>
          <a:bodyPr/>
          <a:lstStyle/>
          <a:p>
            <a:endParaRPr/>
          </a:p>
        </p:txBody>
      </p:sp>
      <p:sp>
        <p:nvSpPr>
          <p:cNvPr id="10" name="Shape 7"/>
          <p:cNvSpPr/>
          <p:nvPr/>
        </p:nvSpPr>
        <p:spPr>
          <a:xfrm rot="2700000">
            <a:off x="342900" y="-91440"/>
            <a:ext cx="23774" cy="502920"/>
          </a:xfrm>
          <a:prstGeom prst="rect">
            <a:avLst/>
          </a:prstGeom>
          <a:solidFill>
            <a:srgbClr val="FFFFFF"/>
          </a:solidFill>
          <a:ln w="12700">
            <a:solidFill>
              <a:srgbClr val="FFFFFF"/>
            </a:solidFill>
            <a:prstDash val="solid"/>
          </a:ln>
        </p:spPr>
        <p:txBody>
          <a:bodyPr/>
          <a:lstStyle/>
          <a:p>
            <a:endParaRPr/>
          </a:p>
        </p:txBody>
      </p:sp>
      <p:sp>
        <p:nvSpPr>
          <p:cNvPr id="11" name="Shape 8"/>
          <p:cNvSpPr/>
          <p:nvPr/>
        </p:nvSpPr>
        <p:spPr>
          <a:xfrm rot="2700000">
            <a:off x="411480" y="-91440"/>
            <a:ext cx="23774" cy="502920"/>
          </a:xfrm>
          <a:prstGeom prst="rect">
            <a:avLst/>
          </a:prstGeom>
          <a:solidFill>
            <a:srgbClr val="FFFFFF"/>
          </a:solidFill>
          <a:ln w="12700">
            <a:solidFill>
              <a:srgbClr val="FFFFFF"/>
            </a:solidFill>
            <a:prstDash val="solid"/>
          </a:ln>
        </p:spPr>
        <p:txBody>
          <a:bodyPr/>
          <a:lstStyle/>
          <a:p>
            <a:endParaRPr/>
          </a:p>
        </p:txBody>
      </p:sp>
      <p:sp>
        <p:nvSpPr>
          <p:cNvPr id="12" name="Shape 9"/>
          <p:cNvSpPr/>
          <p:nvPr/>
        </p:nvSpPr>
        <p:spPr>
          <a:xfrm rot="2700000">
            <a:off x="480060" y="-91440"/>
            <a:ext cx="23774" cy="502920"/>
          </a:xfrm>
          <a:prstGeom prst="rect">
            <a:avLst/>
          </a:prstGeom>
          <a:solidFill>
            <a:srgbClr val="FFFFFF"/>
          </a:solidFill>
          <a:ln w="12700">
            <a:solidFill>
              <a:srgbClr val="FFFFFF"/>
            </a:solidFill>
            <a:prstDash val="solid"/>
          </a:ln>
        </p:spPr>
        <p:txBody>
          <a:bodyPr/>
          <a:lstStyle/>
          <a:p>
            <a:endParaRPr/>
          </a:p>
        </p:txBody>
      </p:sp>
      <p:sp>
        <p:nvSpPr>
          <p:cNvPr id="13" name="Shape 10"/>
          <p:cNvSpPr/>
          <p:nvPr/>
        </p:nvSpPr>
        <p:spPr>
          <a:xfrm rot="2700000">
            <a:off x="548640" y="-91440"/>
            <a:ext cx="23774" cy="502920"/>
          </a:xfrm>
          <a:prstGeom prst="rect">
            <a:avLst/>
          </a:prstGeom>
          <a:solidFill>
            <a:srgbClr val="FFFFFF"/>
          </a:solidFill>
          <a:ln w="12700">
            <a:solidFill>
              <a:srgbClr val="FFFFFF"/>
            </a:solidFill>
            <a:prstDash val="solid"/>
          </a:ln>
        </p:spPr>
        <p:txBody>
          <a:bodyPr/>
          <a:lstStyle/>
          <a:p>
            <a:endParaRPr/>
          </a:p>
        </p:txBody>
      </p:sp>
      <p:sp>
        <p:nvSpPr>
          <p:cNvPr id="14" name="Shape 11"/>
          <p:cNvSpPr/>
          <p:nvPr/>
        </p:nvSpPr>
        <p:spPr>
          <a:xfrm rot="2700000">
            <a:off x="617220" y="-91440"/>
            <a:ext cx="23774" cy="502920"/>
          </a:xfrm>
          <a:prstGeom prst="rect">
            <a:avLst/>
          </a:prstGeom>
          <a:solidFill>
            <a:srgbClr val="FFFFFF"/>
          </a:solidFill>
          <a:ln w="12700">
            <a:solidFill>
              <a:srgbClr val="FFFFFF"/>
            </a:solidFill>
            <a:prstDash val="solid"/>
          </a:ln>
        </p:spPr>
        <p:txBody>
          <a:bodyPr/>
          <a:lstStyle/>
          <a:p>
            <a:endParaRPr/>
          </a:p>
        </p:txBody>
      </p:sp>
      <p:sp>
        <p:nvSpPr>
          <p:cNvPr id="15" name="Shape 12"/>
          <p:cNvSpPr/>
          <p:nvPr/>
        </p:nvSpPr>
        <p:spPr>
          <a:xfrm rot="2700000">
            <a:off x="685800" y="-91440"/>
            <a:ext cx="23774" cy="502920"/>
          </a:xfrm>
          <a:prstGeom prst="rect">
            <a:avLst/>
          </a:prstGeom>
          <a:solidFill>
            <a:srgbClr val="FFFFFF"/>
          </a:solidFill>
          <a:ln w="12700">
            <a:solidFill>
              <a:srgbClr val="FFFFFF"/>
            </a:solidFill>
            <a:prstDash val="solid"/>
          </a:ln>
        </p:spPr>
        <p:txBody>
          <a:bodyPr/>
          <a:lstStyle/>
          <a:p>
            <a:endParaRPr/>
          </a:p>
        </p:txBody>
      </p:sp>
      <p:sp>
        <p:nvSpPr>
          <p:cNvPr id="16" name="Shape 13"/>
          <p:cNvSpPr/>
          <p:nvPr/>
        </p:nvSpPr>
        <p:spPr>
          <a:xfrm>
            <a:off x="-1463040" y="3200400"/>
            <a:ext cx="3291840" cy="3291840"/>
          </a:xfrm>
          <a:prstGeom prst="ellipse">
            <a:avLst/>
          </a:prstGeom>
          <a:solidFill>
            <a:srgbClr val="000000">
              <a:alpha val="0"/>
            </a:srgbClr>
          </a:solidFill>
          <a:ln w="12700">
            <a:solidFill>
              <a:srgbClr val="5E6357"/>
            </a:solidFill>
            <a:prstDash val="solid"/>
          </a:ln>
        </p:spPr>
        <p:txBody>
          <a:bodyPr/>
          <a:lstStyle/>
          <a:p>
            <a:endParaRPr/>
          </a:p>
        </p:txBody>
      </p:sp>
      <p:sp>
        <p:nvSpPr>
          <p:cNvPr id="17" name="Shape 14"/>
          <p:cNvSpPr/>
          <p:nvPr/>
        </p:nvSpPr>
        <p:spPr>
          <a:xfrm>
            <a:off x="-1051560" y="3611880"/>
            <a:ext cx="2468880" cy="2468880"/>
          </a:xfrm>
          <a:prstGeom prst="ellipse">
            <a:avLst/>
          </a:prstGeom>
          <a:solidFill>
            <a:srgbClr val="000000">
              <a:alpha val="0"/>
            </a:srgbClr>
          </a:solidFill>
          <a:ln w="12700">
            <a:solidFill>
              <a:srgbClr val="5E6357"/>
            </a:solidFill>
            <a:prstDash val="solid"/>
          </a:ln>
        </p:spPr>
        <p:txBody>
          <a:bodyPr/>
          <a:lstStyle/>
          <a:p>
            <a:endParaRPr/>
          </a:p>
        </p:txBody>
      </p:sp>
      <p:sp>
        <p:nvSpPr>
          <p:cNvPr id="18" name="Shape 15"/>
          <p:cNvSpPr/>
          <p:nvPr/>
        </p:nvSpPr>
        <p:spPr>
          <a:xfrm>
            <a:off x="-640080" y="4023360"/>
            <a:ext cx="1645920" cy="1645920"/>
          </a:xfrm>
          <a:prstGeom prst="ellipse">
            <a:avLst/>
          </a:prstGeom>
          <a:solidFill>
            <a:srgbClr val="000000">
              <a:alpha val="0"/>
            </a:srgbClr>
          </a:solidFill>
          <a:ln w="12700">
            <a:solidFill>
              <a:srgbClr val="5E6357"/>
            </a:solidFill>
            <a:prstDash val="solid"/>
          </a:ln>
        </p:spPr>
        <p:txBody>
          <a:bodyPr/>
          <a:lstStyle/>
          <a:p>
            <a:endParaRPr/>
          </a:p>
        </p:txBody>
      </p:sp>
      <p:sp>
        <p:nvSpPr>
          <p:cNvPr id="19" name="Shape 16"/>
          <p:cNvSpPr/>
          <p:nvPr/>
        </p:nvSpPr>
        <p:spPr>
          <a:xfrm>
            <a:off x="-228600" y="4434840"/>
            <a:ext cx="822960" cy="822960"/>
          </a:xfrm>
          <a:prstGeom prst="ellipse">
            <a:avLst/>
          </a:prstGeom>
          <a:solidFill>
            <a:srgbClr val="000000">
              <a:alpha val="0"/>
            </a:srgbClr>
          </a:solidFill>
          <a:ln w="12700">
            <a:solidFill>
              <a:srgbClr val="D9F201"/>
            </a:solidFill>
            <a:prstDash val="solid"/>
          </a:ln>
        </p:spPr>
        <p:txBody>
          <a:bodyPr/>
          <a:lstStyle/>
          <a:p>
            <a:endParaRPr/>
          </a:p>
        </p:txBody>
      </p:sp>
      <p:sp>
        <p:nvSpPr>
          <p:cNvPr id="20" name="Shape 17"/>
          <p:cNvSpPr/>
          <p:nvPr/>
        </p:nvSpPr>
        <p:spPr>
          <a:xfrm rot="5400000">
            <a:off x="8321040" y="457200"/>
            <a:ext cx="411480" cy="411480"/>
          </a:xfrm>
          <a:prstGeom prst="triangle">
            <a:avLst/>
          </a:prstGeom>
          <a:solidFill>
            <a:srgbClr val="D9F201"/>
          </a:solidFill>
          <a:ln w="12700">
            <a:solidFill>
              <a:srgbClr val="D9F201"/>
            </a:solidFill>
            <a:prstDash val="solid"/>
          </a:ln>
        </p:spPr>
        <p:txBody>
          <a:bodyPr/>
          <a:lstStyle/>
          <a:p>
            <a:endParaRPr/>
          </a:p>
        </p:txBody>
      </p:sp>
      <p:sp>
        <p:nvSpPr>
          <p:cNvPr id="21" name="Shape 18"/>
          <p:cNvSpPr/>
          <p:nvPr/>
        </p:nvSpPr>
        <p:spPr>
          <a:xfrm>
            <a:off x="8138160" y="4206240"/>
            <a:ext cx="50292" cy="50292"/>
          </a:xfrm>
          <a:prstGeom prst="ellipse">
            <a:avLst/>
          </a:prstGeom>
          <a:solidFill>
            <a:srgbClr val="5E6357"/>
          </a:solidFill>
          <a:ln w="12700">
            <a:solidFill>
              <a:srgbClr val="5E6357"/>
            </a:solidFill>
            <a:prstDash val="solid"/>
          </a:ln>
        </p:spPr>
        <p:txBody>
          <a:bodyPr/>
          <a:lstStyle/>
          <a:p>
            <a:endParaRPr/>
          </a:p>
        </p:txBody>
      </p:sp>
      <p:sp>
        <p:nvSpPr>
          <p:cNvPr id="22" name="Shape 19"/>
          <p:cNvSpPr/>
          <p:nvPr/>
        </p:nvSpPr>
        <p:spPr>
          <a:xfrm>
            <a:off x="8270748" y="4206240"/>
            <a:ext cx="50292" cy="50292"/>
          </a:xfrm>
          <a:prstGeom prst="ellipse">
            <a:avLst/>
          </a:prstGeom>
          <a:solidFill>
            <a:srgbClr val="5E6357"/>
          </a:solidFill>
          <a:ln w="12700">
            <a:solidFill>
              <a:srgbClr val="5E6357"/>
            </a:solidFill>
            <a:prstDash val="solid"/>
          </a:ln>
        </p:spPr>
        <p:txBody>
          <a:bodyPr/>
          <a:lstStyle/>
          <a:p>
            <a:endParaRPr/>
          </a:p>
        </p:txBody>
      </p:sp>
      <p:sp>
        <p:nvSpPr>
          <p:cNvPr id="23" name="Shape 20"/>
          <p:cNvSpPr/>
          <p:nvPr/>
        </p:nvSpPr>
        <p:spPr>
          <a:xfrm>
            <a:off x="8403336" y="4206240"/>
            <a:ext cx="50292" cy="50292"/>
          </a:xfrm>
          <a:prstGeom prst="ellipse">
            <a:avLst/>
          </a:prstGeom>
          <a:solidFill>
            <a:srgbClr val="5E6357"/>
          </a:solidFill>
          <a:ln w="12700">
            <a:solidFill>
              <a:srgbClr val="5E6357"/>
            </a:solidFill>
            <a:prstDash val="solid"/>
          </a:ln>
        </p:spPr>
        <p:txBody>
          <a:bodyPr/>
          <a:lstStyle/>
          <a:p>
            <a:endParaRPr/>
          </a:p>
        </p:txBody>
      </p:sp>
      <p:sp>
        <p:nvSpPr>
          <p:cNvPr id="24" name="Shape 21"/>
          <p:cNvSpPr/>
          <p:nvPr/>
        </p:nvSpPr>
        <p:spPr>
          <a:xfrm>
            <a:off x="8535924" y="4206240"/>
            <a:ext cx="50292" cy="50292"/>
          </a:xfrm>
          <a:prstGeom prst="ellipse">
            <a:avLst/>
          </a:prstGeom>
          <a:solidFill>
            <a:srgbClr val="5E6357"/>
          </a:solidFill>
          <a:ln w="12700">
            <a:solidFill>
              <a:srgbClr val="5E6357"/>
            </a:solidFill>
            <a:prstDash val="solid"/>
          </a:ln>
        </p:spPr>
        <p:txBody>
          <a:bodyPr/>
          <a:lstStyle/>
          <a:p>
            <a:endParaRPr/>
          </a:p>
        </p:txBody>
      </p:sp>
      <p:sp>
        <p:nvSpPr>
          <p:cNvPr id="25" name="Shape 22"/>
          <p:cNvSpPr/>
          <p:nvPr/>
        </p:nvSpPr>
        <p:spPr>
          <a:xfrm>
            <a:off x="8138160" y="4338828"/>
            <a:ext cx="50292" cy="50292"/>
          </a:xfrm>
          <a:prstGeom prst="ellipse">
            <a:avLst/>
          </a:prstGeom>
          <a:solidFill>
            <a:srgbClr val="5E6357"/>
          </a:solidFill>
          <a:ln w="12700">
            <a:solidFill>
              <a:srgbClr val="5E6357"/>
            </a:solidFill>
            <a:prstDash val="solid"/>
          </a:ln>
        </p:spPr>
        <p:txBody>
          <a:bodyPr/>
          <a:lstStyle/>
          <a:p>
            <a:endParaRPr/>
          </a:p>
        </p:txBody>
      </p:sp>
      <p:sp>
        <p:nvSpPr>
          <p:cNvPr id="26" name="Shape 23"/>
          <p:cNvSpPr/>
          <p:nvPr/>
        </p:nvSpPr>
        <p:spPr>
          <a:xfrm>
            <a:off x="8270748" y="4338828"/>
            <a:ext cx="50292" cy="50292"/>
          </a:xfrm>
          <a:prstGeom prst="ellipse">
            <a:avLst/>
          </a:prstGeom>
          <a:solidFill>
            <a:srgbClr val="5E6357"/>
          </a:solidFill>
          <a:ln w="12700">
            <a:solidFill>
              <a:srgbClr val="5E6357"/>
            </a:solidFill>
            <a:prstDash val="solid"/>
          </a:ln>
        </p:spPr>
        <p:txBody>
          <a:bodyPr/>
          <a:lstStyle/>
          <a:p>
            <a:endParaRPr/>
          </a:p>
        </p:txBody>
      </p:sp>
      <p:sp>
        <p:nvSpPr>
          <p:cNvPr id="27" name="Shape 24"/>
          <p:cNvSpPr/>
          <p:nvPr/>
        </p:nvSpPr>
        <p:spPr>
          <a:xfrm>
            <a:off x="8403336" y="4338828"/>
            <a:ext cx="50292" cy="50292"/>
          </a:xfrm>
          <a:prstGeom prst="ellipse">
            <a:avLst/>
          </a:prstGeom>
          <a:solidFill>
            <a:srgbClr val="5E6357"/>
          </a:solidFill>
          <a:ln w="12700">
            <a:solidFill>
              <a:srgbClr val="5E6357"/>
            </a:solidFill>
            <a:prstDash val="solid"/>
          </a:ln>
        </p:spPr>
        <p:txBody>
          <a:bodyPr/>
          <a:lstStyle/>
          <a:p>
            <a:endParaRPr/>
          </a:p>
        </p:txBody>
      </p:sp>
      <p:sp>
        <p:nvSpPr>
          <p:cNvPr id="28" name="Shape 25"/>
          <p:cNvSpPr/>
          <p:nvPr/>
        </p:nvSpPr>
        <p:spPr>
          <a:xfrm>
            <a:off x="8535924" y="4338828"/>
            <a:ext cx="50292" cy="50292"/>
          </a:xfrm>
          <a:prstGeom prst="ellipse">
            <a:avLst/>
          </a:prstGeom>
          <a:solidFill>
            <a:srgbClr val="5E6357"/>
          </a:solidFill>
          <a:ln w="12700">
            <a:solidFill>
              <a:srgbClr val="5E6357"/>
            </a:solidFill>
            <a:prstDash val="solid"/>
          </a:ln>
        </p:spPr>
        <p:txBody>
          <a:bodyPr/>
          <a:lstStyle/>
          <a:p>
            <a:endParaRPr/>
          </a:p>
        </p:txBody>
      </p:sp>
      <p:sp>
        <p:nvSpPr>
          <p:cNvPr id="29" name="Shape 26"/>
          <p:cNvSpPr/>
          <p:nvPr/>
        </p:nvSpPr>
        <p:spPr>
          <a:xfrm>
            <a:off x="8138160" y="4471416"/>
            <a:ext cx="50292" cy="50292"/>
          </a:xfrm>
          <a:prstGeom prst="ellipse">
            <a:avLst/>
          </a:prstGeom>
          <a:solidFill>
            <a:srgbClr val="5E6357"/>
          </a:solidFill>
          <a:ln w="12700">
            <a:solidFill>
              <a:srgbClr val="5E6357"/>
            </a:solidFill>
            <a:prstDash val="solid"/>
          </a:ln>
        </p:spPr>
        <p:txBody>
          <a:bodyPr/>
          <a:lstStyle/>
          <a:p>
            <a:endParaRPr/>
          </a:p>
        </p:txBody>
      </p:sp>
      <p:sp>
        <p:nvSpPr>
          <p:cNvPr id="30" name="Shape 27"/>
          <p:cNvSpPr/>
          <p:nvPr/>
        </p:nvSpPr>
        <p:spPr>
          <a:xfrm>
            <a:off x="8270748" y="4471416"/>
            <a:ext cx="50292" cy="50292"/>
          </a:xfrm>
          <a:prstGeom prst="ellipse">
            <a:avLst/>
          </a:prstGeom>
          <a:solidFill>
            <a:srgbClr val="5E6357"/>
          </a:solidFill>
          <a:ln w="12700">
            <a:solidFill>
              <a:srgbClr val="5E6357"/>
            </a:solidFill>
            <a:prstDash val="solid"/>
          </a:ln>
        </p:spPr>
        <p:txBody>
          <a:bodyPr/>
          <a:lstStyle/>
          <a:p>
            <a:endParaRPr/>
          </a:p>
        </p:txBody>
      </p:sp>
      <p:sp>
        <p:nvSpPr>
          <p:cNvPr id="31" name="Shape 28"/>
          <p:cNvSpPr/>
          <p:nvPr/>
        </p:nvSpPr>
        <p:spPr>
          <a:xfrm>
            <a:off x="8403336" y="4471416"/>
            <a:ext cx="50292" cy="50292"/>
          </a:xfrm>
          <a:prstGeom prst="ellipse">
            <a:avLst/>
          </a:prstGeom>
          <a:solidFill>
            <a:srgbClr val="5E6357"/>
          </a:solidFill>
          <a:ln w="12700">
            <a:solidFill>
              <a:srgbClr val="5E6357"/>
            </a:solidFill>
            <a:prstDash val="solid"/>
          </a:ln>
        </p:spPr>
        <p:txBody>
          <a:bodyPr/>
          <a:lstStyle/>
          <a:p>
            <a:endParaRPr/>
          </a:p>
        </p:txBody>
      </p:sp>
      <p:sp>
        <p:nvSpPr>
          <p:cNvPr id="32" name="Shape 29"/>
          <p:cNvSpPr/>
          <p:nvPr/>
        </p:nvSpPr>
        <p:spPr>
          <a:xfrm>
            <a:off x="8535924" y="4471416"/>
            <a:ext cx="50292" cy="50292"/>
          </a:xfrm>
          <a:prstGeom prst="ellipse">
            <a:avLst/>
          </a:prstGeom>
          <a:solidFill>
            <a:srgbClr val="5E6357"/>
          </a:solidFill>
          <a:ln w="12700">
            <a:solidFill>
              <a:srgbClr val="5E6357"/>
            </a:solidFill>
            <a:prstDash val="solid"/>
          </a:ln>
        </p:spPr>
        <p:txBody>
          <a:bodyPr/>
          <a:lstStyle/>
          <a:p>
            <a:endParaRPr/>
          </a:p>
        </p:txBody>
      </p:sp>
      <p:sp>
        <p:nvSpPr>
          <p:cNvPr id="33" name="Text 30"/>
          <p:cNvSpPr txBox="1"/>
          <p:nvPr/>
        </p:nvSpPr>
        <p:spPr>
          <a:xfrm>
            <a:off x="566928" y="1600200"/>
            <a:ext cx="2011680" cy="1371600"/>
          </a:xfrm>
          <a:prstGeom prst="rect">
            <a:avLst/>
          </a:prstGeom>
          <a:noFill/>
          <a:ln/>
        </p:spPr>
        <p:txBody>
          <a:bodyPr wrap="square" lIns="0" tIns="0" rIns="0" bIns="0" rtlCol="0" anchor="ctr"/>
          <a:lstStyle/>
          <a:p>
            <a:pPr marL="0" indent="0">
              <a:buNone/>
            </a:pPr>
            <a:r>
              <a:rPr lang="en-US" sz="9600" b="1" dirty="0">
                <a:solidFill>
                  <a:srgbClr val="D9F201"/>
                </a:solidFill>
                <a:latin typeface="Arial" pitchFamily="34" charset="0"/>
                <a:ea typeface="Arial" pitchFamily="34" charset="-122"/>
                <a:cs typeface="Arial" pitchFamily="34" charset="-120"/>
              </a:rPr>
              <a:t>00</a:t>
            </a:r>
            <a:endParaRPr lang="en-US" sz="9600" dirty="0"/>
          </a:p>
        </p:txBody>
      </p:sp>
      <p:sp>
        <p:nvSpPr>
          <p:cNvPr id="34" name="Text 31"/>
          <p:cNvSpPr txBox="1"/>
          <p:nvPr/>
        </p:nvSpPr>
        <p:spPr>
          <a:xfrm>
            <a:off x="2514600" y="1874520"/>
            <a:ext cx="5760720" cy="68580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The thread pool</a:t>
            </a:r>
            <a:endParaRPr lang="en-US" sz="3400" dirty="0"/>
          </a:p>
        </p:txBody>
      </p:sp>
      <p:sp>
        <p:nvSpPr>
          <p:cNvPr id="35" name="Text 32"/>
          <p:cNvSpPr txBox="1"/>
          <p:nvPr/>
        </p:nvSpPr>
        <p:spPr>
          <a:xfrm>
            <a:off x="2542032" y="2578608"/>
            <a:ext cx="5760720" cy="320040"/>
          </a:xfrm>
          <a:prstGeom prst="rect">
            <a:avLst/>
          </a:prstGeom>
          <a:noFill/>
          <a:ln/>
        </p:spPr>
        <p:txBody>
          <a:bodyPr wrap="square" lIns="0" tIns="0" rIns="0" bIns="0" rtlCol="0" anchor="ctr"/>
          <a:lstStyle/>
          <a:p>
            <a:pPr marL="0" indent="0">
              <a:buNone/>
            </a:pPr>
            <a:r>
              <a:rPr lang="en-US" sz="1500" dirty="0">
                <a:solidFill>
                  <a:srgbClr val="9AA095"/>
                </a:solidFill>
                <a:latin typeface="Arial" pitchFamily="34" charset="0"/>
                <a:ea typeface="Arial" pitchFamily="34" charset="-122"/>
                <a:cs typeface="Arial" pitchFamily="34" charset="-120"/>
              </a:rPr>
              <a:t>One loose end from last time — then the real subject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C#</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Submitting work, not threads</a:t>
            </a:r>
            <a:endParaRPr lang="en-US" sz="3200" dirty="0"/>
          </a:p>
        </p:txBody>
      </p:sp>
      <p:sp>
        <p:nvSpPr>
          <p:cNvPr id="16" name="Shape 13"/>
          <p:cNvSpPr/>
          <p:nvPr/>
        </p:nvSpPr>
        <p:spPr>
          <a:xfrm>
            <a:off x="566928" y="1444752"/>
            <a:ext cx="8010144" cy="2651760"/>
          </a:xfrm>
          <a:prstGeom prst="roundRect">
            <a:avLst>
              <a:gd name="adj" fmla="val 1724"/>
            </a:avLst>
          </a:prstGeom>
          <a:solidFill>
            <a:srgbClr val="141613"/>
          </a:solidFill>
          <a:ln w="12700">
            <a:solidFill>
              <a:srgbClr val="1F231B"/>
            </a:solidFill>
            <a:prstDash val="solid"/>
          </a:ln>
        </p:spPr>
        <p:txBody>
          <a:bodyPr/>
          <a:lstStyle/>
          <a:p>
            <a:endParaRPr/>
          </a:p>
        </p:txBody>
      </p:sp>
      <p:sp>
        <p:nvSpPr>
          <p:cNvPr id="17" name="Text 14"/>
          <p:cNvSpPr txBox="1"/>
          <p:nvPr/>
        </p:nvSpPr>
        <p:spPr>
          <a:xfrm>
            <a:off x="822960" y="1627632"/>
            <a:ext cx="7498080" cy="2331720"/>
          </a:xfrm>
          <a:prstGeom prst="rect">
            <a:avLst/>
          </a:prstGeom>
          <a:noFill/>
          <a:ln/>
        </p:spPr>
        <p:txBody>
          <a:bodyPr wrap="square" lIns="0" tIns="0" rIns="0" bIns="0" rtlCol="0" anchor="t"/>
          <a:lstStyle/>
          <a:p>
            <a:pPr marL="0" indent="0">
              <a:lnSpc>
                <a:spcPts val="1800"/>
              </a:lnSpc>
              <a:buNone/>
            </a:pPr>
            <a:r>
              <a:rPr lang="en-US" sz="1350" dirty="0">
                <a:solidFill>
                  <a:srgbClr val="5E6357"/>
                </a:solidFill>
                <a:latin typeface="Courier New" pitchFamily="34" charset="0"/>
                <a:ea typeface="Courier New" pitchFamily="34" charset="-122"/>
                <a:cs typeface="Courier New" pitchFamily="34" charset="-120"/>
              </a:rPr>
              <a:t>// lecture 1: you own the thread, you pay for it</a:t>
            </a:r>
            <a:endParaRPr lang="en-US" sz="1350" dirty="0"/>
          </a:p>
          <a:p>
            <a:pPr marL="0" indent="0">
              <a:lnSpc>
                <a:spcPts val="1800"/>
              </a:lnSpc>
              <a:buNone/>
            </a:pPr>
            <a:r>
              <a:rPr lang="en-US" sz="1350" dirty="0">
                <a:solidFill>
                  <a:srgbClr val="35E0C8"/>
                </a:solidFill>
                <a:latin typeface="Courier New" pitchFamily="34" charset="0"/>
                <a:ea typeface="Courier New" pitchFamily="34" charset="-122"/>
                <a:cs typeface="Courier New" pitchFamily="34" charset="-120"/>
              </a:rPr>
              <a:t>Thread</a:t>
            </a:r>
            <a:r>
              <a:rPr lang="en-US" sz="1350" dirty="0">
                <a:solidFill>
                  <a:srgbClr val="FFFFFF"/>
                </a:solidFill>
                <a:latin typeface="Courier New" pitchFamily="34" charset="0"/>
                <a:ea typeface="Courier New" pitchFamily="34" charset="-122"/>
                <a:cs typeface="Courier New" pitchFamily="34" charset="-120"/>
              </a:rPr>
              <a:t> t = </a:t>
            </a:r>
            <a:r>
              <a:rPr lang="en-US" sz="1350" dirty="0">
                <a:solidFill>
                  <a:srgbClr val="D9F201"/>
                </a:solidFill>
                <a:latin typeface="Courier New" pitchFamily="34" charset="0"/>
                <a:ea typeface="Courier New" pitchFamily="34" charset="-122"/>
                <a:cs typeface="Courier New" pitchFamily="34" charset="-120"/>
              </a:rPr>
              <a:t>new</a:t>
            </a:r>
            <a:r>
              <a:rPr lang="en-US" sz="1350" dirty="0">
                <a:solidFill>
                  <a:srgbClr val="FFFFFF"/>
                </a:solidFill>
                <a:latin typeface="Courier New" pitchFamily="34" charset="0"/>
                <a:ea typeface="Courier New" pitchFamily="34" charset="-122"/>
                <a:cs typeface="Courier New" pitchFamily="34" charset="-120"/>
              </a:rPr>
              <a:t> Thread(Work);</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t.Start();</a:t>
            </a:r>
            <a:endParaRPr lang="en-US" sz="1350" dirty="0"/>
          </a:p>
          <a:p>
            <a:pPr marL="0" indent="0">
              <a:lnSpc>
                <a:spcPts val="1800"/>
              </a:lnSpc>
              <a:buNone/>
            </a:pPr>
            <a:endParaRPr lang="en-US" sz="1350" dirty="0"/>
          </a:p>
          <a:p>
            <a:pPr marL="0" indent="0">
              <a:lnSpc>
                <a:spcPts val="1800"/>
              </a:lnSpc>
              <a:buNone/>
            </a:pPr>
            <a:r>
              <a:rPr lang="en-US" sz="1350" dirty="0">
                <a:solidFill>
                  <a:srgbClr val="5E6357"/>
                </a:solidFill>
                <a:latin typeface="Courier New" pitchFamily="34" charset="0"/>
                <a:ea typeface="Courier New" pitchFamily="34" charset="-122"/>
                <a:cs typeface="Courier New" pitchFamily="34" charset="-120"/>
              </a:rPr>
              <a:t>// now: you own the work, the runtime owns the threads</a:t>
            </a:r>
            <a:endParaRPr lang="en-US" sz="1350" dirty="0"/>
          </a:p>
          <a:p>
            <a:pPr marL="0" indent="0">
              <a:lnSpc>
                <a:spcPts val="1800"/>
              </a:lnSpc>
              <a:buNone/>
            </a:pPr>
            <a:r>
              <a:rPr lang="en-US" sz="1350" dirty="0">
                <a:solidFill>
                  <a:srgbClr val="35E0C8"/>
                </a:solidFill>
                <a:latin typeface="Courier New" pitchFamily="34" charset="0"/>
                <a:ea typeface="Courier New" pitchFamily="34" charset="-122"/>
                <a:cs typeface="Courier New" pitchFamily="34" charset="-120"/>
              </a:rPr>
              <a:t>ThreadPool</a:t>
            </a:r>
            <a:r>
              <a:rPr lang="en-US" sz="1350" dirty="0">
                <a:solidFill>
                  <a:srgbClr val="FFFFFF"/>
                </a:solidFill>
                <a:latin typeface="Courier New" pitchFamily="34" charset="0"/>
                <a:ea typeface="Courier New" pitchFamily="34" charset="-122"/>
                <a:cs typeface="Courier New" pitchFamily="34" charset="-120"/>
              </a:rPr>
              <a:t>.QueueUserWorkItem(_ =&gt; Work());</a:t>
            </a:r>
            <a:endParaRPr lang="en-US" sz="1350" dirty="0"/>
          </a:p>
          <a:p>
            <a:pPr marL="0" indent="0">
              <a:lnSpc>
                <a:spcPts val="1800"/>
              </a:lnSpc>
              <a:buNone/>
            </a:pPr>
            <a:endParaRPr lang="en-US" sz="1350" dirty="0"/>
          </a:p>
          <a:p>
            <a:pPr marL="0" indent="0">
              <a:lnSpc>
                <a:spcPts val="1800"/>
              </a:lnSpc>
              <a:buNone/>
            </a:pPr>
            <a:r>
              <a:rPr lang="en-US" sz="1350" dirty="0">
                <a:solidFill>
                  <a:srgbClr val="5E6357"/>
                </a:solidFill>
                <a:latin typeface="Courier New" pitchFamily="34" charset="0"/>
                <a:ea typeface="Courier New" pitchFamily="34" charset="-122"/>
                <a:cs typeface="Courier New" pitchFamily="34" charset="-120"/>
              </a:rPr>
              <a:t>// the modern spelling of the same thing</a:t>
            </a:r>
            <a:endParaRPr lang="en-US" sz="1350" dirty="0"/>
          </a:p>
          <a:p>
            <a:pPr marL="0" indent="0">
              <a:lnSpc>
                <a:spcPts val="1800"/>
              </a:lnSpc>
              <a:buNone/>
            </a:pPr>
            <a:r>
              <a:rPr lang="en-US" sz="1350" dirty="0">
                <a:solidFill>
                  <a:srgbClr val="35E0C8"/>
                </a:solidFill>
                <a:latin typeface="Courier New" pitchFamily="34" charset="0"/>
                <a:ea typeface="Courier New" pitchFamily="34" charset="-122"/>
                <a:cs typeface="Courier New" pitchFamily="34" charset="-120"/>
              </a:rPr>
              <a:t>Task</a:t>
            </a:r>
            <a:r>
              <a:rPr lang="en-US" sz="1350" dirty="0">
                <a:solidFill>
                  <a:srgbClr val="FFFFFF"/>
                </a:solidFill>
                <a:latin typeface="Courier New" pitchFamily="34" charset="0"/>
                <a:ea typeface="Courier New" pitchFamily="34" charset="-122"/>
                <a:cs typeface="Courier New" pitchFamily="34" charset="-120"/>
              </a:rPr>
              <a:t>.Run(() =&gt; Work());</a:t>
            </a:r>
            <a:endParaRPr lang="en-US" sz="1350" dirty="0"/>
          </a:p>
        </p:txBody>
      </p:sp>
      <p:sp>
        <p:nvSpPr>
          <p:cNvPr id="18" name="Text 15"/>
          <p:cNvSpPr txBox="1"/>
          <p:nvPr/>
        </p:nvSpPr>
        <p:spPr>
          <a:xfrm>
            <a:off x="566928" y="4261104"/>
            <a:ext cx="8010144" cy="274320"/>
          </a:xfrm>
          <a:prstGeom prst="rect">
            <a:avLst/>
          </a:prstGeom>
          <a:noFill/>
          <a:ln/>
        </p:spPr>
        <p:txBody>
          <a:bodyPr wrap="square" lIns="0" tIns="0" rIns="0" bIns="0" rtlCol="0" anchor="ctr"/>
          <a:lstStyle/>
          <a:p>
            <a:pPr marL="0" indent="0">
              <a:buNone/>
            </a:pPr>
            <a:r>
              <a:rPr lang="en-US" sz="1300" i="1" dirty="0">
                <a:solidFill>
                  <a:srgbClr val="D9F201"/>
                </a:solidFill>
                <a:latin typeface="Arial" pitchFamily="34" charset="0"/>
                <a:ea typeface="Arial" pitchFamily="34" charset="-122"/>
                <a:cs typeface="Arial" pitchFamily="34" charset="-120"/>
              </a:rPr>
              <a:t>Task.Run does not create a thread. It borrows one from the pool.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pic>
        <p:nvPicPr>
          <p:cNvPr id="3" name="Image 0" descr="/home/claude/L2-01-threadpool.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THE ONE RULE</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Never block a pool thread</a:t>
            </a:r>
            <a:endParaRPr lang="en-US" sz="3200" dirty="0"/>
          </a:p>
        </p:txBody>
      </p:sp>
      <p:sp>
        <p:nvSpPr>
          <p:cNvPr id="16" name="Shape 13"/>
          <p:cNvSpPr/>
          <p:nvPr/>
        </p:nvSpPr>
        <p:spPr>
          <a:xfrm>
            <a:off x="566928" y="1463040"/>
            <a:ext cx="3931920" cy="2578608"/>
          </a:xfrm>
          <a:prstGeom prst="roundRect">
            <a:avLst>
              <a:gd name="adj" fmla="val 1773"/>
            </a:avLst>
          </a:prstGeom>
          <a:solidFill>
            <a:srgbClr val="141613"/>
          </a:solidFill>
          <a:ln w="19050">
            <a:solidFill>
              <a:srgbClr val="FF5A54"/>
            </a:solidFill>
            <a:prstDash val="solid"/>
          </a:ln>
        </p:spPr>
        <p:txBody>
          <a:bodyPr/>
          <a:lstStyle/>
          <a:p>
            <a:endParaRPr/>
          </a:p>
        </p:txBody>
      </p:sp>
      <p:sp>
        <p:nvSpPr>
          <p:cNvPr id="17" name="Text 14"/>
          <p:cNvSpPr txBox="1"/>
          <p:nvPr/>
        </p:nvSpPr>
        <p:spPr>
          <a:xfrm>
            <a:off x="822960" y="1664208"/>
            <a:ext cx="3474720" cy="237744"/>
          </a:xfrm>
          <a:prstGeom prst="rect">
            <a:avLst/>
          </a:prstGeom>
          <a:noFill/>
          <a:ln/>
        </p:spPr>
        <p:txBody>
          <a:bodyPr wrap="square" lIns="0" tIns="0" rIns="0" bIns="0" rtlCol="0" anchor="ctr"/>
          <a:lstStyle/>
          <a:p>
            <a:pPr marL="0" indent="0">
              <a:buNone/>
            </a:pPr>
            <a:r>
              <a:rPr lang="en-US" sz="1100" b="1" kern="0" spc="200" dirty="0">
                <a:solidFill>
                  <a:srgbClr val="FF5A54"/>
                </a:solidFill>
                <a:latin typeface="Arial" pitchFamily="34" charset="0"/>
                <a:ea typeface="Arial" pitchFamily="34" charset="-122"/>
                <a:cs typeface="Arial" pitchFamily="34" charset="-120"/>
              </a:rPr>
              <a:t>WHAT HAPPENS</a:t>
            </a:r>
            <a:endParaRPr lang="en-US" sz="1100" dirty="0"/>
          </a:p>
        </p:txBody>
      </p:sp>
      <p:sp>
        <p:nvSpPr>
          <p:cNvPr id="18" name="Text 15"/>
          <p:cNvSpPr txBox="1"/>
          <p:nvPr/>
        </p:nvSpPr>
        <p:spPr>
          <a:xfrm>
            <a:off x="822960" y="2011680"/>
            <a:ext cx="3419856" cy="1828800"/>
          </a:xfrm>
          <a:prstGeom prst="rect">
            <a:avLst/>
          </a:prstGeom>
          <a:noFill/>
          <a:ln/>
        </p:spPr>
        <p:txBody>
          <a:bodyPr wrap="square" lIns="0" tIns="0" rIns="0" bIns="0" rtlCol="0" anchor="ctr"/>
          <a:lstStyle/>
          <a:p>
            <a:pPr marL="342900" indent="-342900">
              <a:lnSpc>
                <a:spcPts val="1885"/>
              </a:lnSpc>
              <a:spcAft>
                <a:spcPts val="900"/>
              </a:spcAft>
              <a:buSzPct val="100000"/>
              <a:buChar char="•"/>
            </a:pPr>
            <a:r>
              <a:rPr lang="en-US" sz="1300" dirty="0">
                <a:solidFill>
                  <a:srgbClr val="FFFFFF"/>
                </a:solidFill>
                <a:latin typeface="Arial" pitchFamily="34" charset="0"/>
                <a:ea typeface="Arial" pitchFamily="34" charset="-122"/>
                <a:cs typeface="Arial" pitchFamily="34" charset="-120"/>
              </a:rPr>
              <a:t>The pool has a limited number of threads.</a:t>
            </a:r>
            <a:endParaRPr lang="en-US" sz="1300" dirty="0"/>
          </a:p>
          <a:p>
            <a:pPr marL="342900" indent="-342900">
              <a:lnSpc>
                <a:spcPts val="1885"/>
              </a:lnSpc>
              <a:spcAft>
                <a:spcPts val="900"/>
              </a:spcAft>
              <a:buSzPct val="100000"/>
              <a:buChar char="•"/>
            </a:pPr>
            <a:r>
              <a:rPr lang="en-US" sz="1300" dirty="0">
                <a:solidFill>
                  <a:srgbClr val="FFFFFF"/>
                </a:solidFill>
                <a:latin typeface="Arial" pitchFamily="34" charset="0"/>
                <a:ea typeface="Arial" pitchFamily="34" charset="-122"/>
                <a:cs typeface="Arial" pitchFamily="34" charset="-120"/>
              </a:rPr>
              <a:t>You block one waiting for something slow.</a:t>
            </a:r>
            <a:endParaRPr lang="en-US" sz="1300" dirty="0"/>
          </a:p>
          <a:p>
            <a:pPr marL="342900" indent="-342900">
              <a:lnSpc>
                <a:spcPts val="1885"/>
              </a:lnSpc>
              <a:spcAft>
                <a:spcPts val="900"/>
              </a:spcAft>
              <a:buSzPct val="100000"/>
              <a:buChar char="•"/>
            </a:pPr>
            <a:r>
              <a:rPr lang="en-US" sz="1300" dirty="0">
                <a:solidFill>
                  <a:srgbClr val="FFFFFF"/>
                </a:solidFill>
                <a:latin typeface="Arial" pitchFamily="34" charset="0"/>
                <a:ea typeface="Arial" pitchFamily="34" charset="-122"/>
                <a:cs typeface="Arial" pitchFamily="34" charset="-120"/>
              </a:rPr>
              <a:t>It cannot serve anyone else while it waits.</a:t>
            </a:r>
            <a:endParaRPr lang="en-US" sz="1300" dirty="0"/>
          </a:p>
          <a:p>
            <a:pPr marL="342900" indent="-342900">
              <a:lnSpc>
                <a:spcPts val="1885"/>
              </a:lnSpc>
              <a:spcAft>
                <a:spcPts val="900"/>
              </a:spcAft>
              <a:buSzPct val="100000"/>
              <a:buChar char="•"/>
            </a:pPr>
            <a:r>
              <a:rPr lang="en-US" sz="1300" dirty="0">
                <a:solidFill>
                  <a:srgbClr val="FFFFFF"/>
                </a:solidFill>
                <a:latin typeface="Arial" pitchFamily="34" charset="0"/>
                <a:ea typeface="Arial" pitchFamily="34" charset="-122"/>
                <a:cs typeface="Arial" pitchFamily="34" charset="-120"/>
              </a:rPr>
              <a:t>Block enough and the whole application stops responding.</a:t>
            </a:r>
            <a:endParaRPr lang="en-US" sz="1300" dirty="0"/>
          </a:p>
        </p:txBody>
      </p:sp>
      <p:sp>
        <p:nvSpPr>
          <p:cNvPr id="19" name="Shape 16"/>
          <p:cNvSpPr/>
          <p:nvPr/>
        </p:nvSpPr>
        <p:spPr>
          <a:xfrm>
            <a:off x="4663440" y="1463040"/>
            <a:ext cx="3913632" cy="2578608"/>
          </a:xfrm>
          <a:prstGeom prst="roundRect">
            <a:avLst>
              <a:gd name="adj" fmla="val 1773"/>
            </a:avLst>
          </a:prstGeom>
          <a:solidFill>
            <a:srgbClr val="141613"/>
          </a:solidFill>
          <a:ln w="12700">
            <a:solidFill>
              <a:srgbClr val="1F231B"/>
            </a:solidFill>
            <a:prstDash val="solid"/>
          </a:ln>
        </p:spPr>
        <p:txBody>
          <a:bodyPr/>
          <a:lstStyle/>
          <a:p>
            <a:endParaRPr/>
          </a:p>
        </p:txBody>
      </p:sp>
      <p:sp>
        <p:nvSpPr>
          <p:cNvPr id="20" name="Text 17"/>
          <p:cNvSpPr txBox="1"/>
          <p:nvPr/>
        </p:nvSpPr>
        <p:spPr>
          <a:xfrm>
            <a:off x="4919472" y="1664208"/>
            <a:ext cx="3474720" cy="237744"/>
          </a:xfrm>
          <a:prstGeom prst="rect">
            <a:avLst/>
          </a:prstGeom>
          <a:noFill/>
          <a:ln/>
        </p:spPr>
        <p:txBody>
          <a:bodyPr wrap="square" lIns="0" tIns="0" rIns="0" bIns="0" rtlCol="0" anchor="ctr"/>
          <a:lstStyle/>
          <a:p>
            <a:pPr marL="0" indent="0">
              <a:buNone/>
            </a:pPr>
            <a:r>
              <a:rPr lang="en-US" sz="1100" b="1" kern="0" spc="200" dirty="0">
                <a:solidFill>
                  <a:srgbClr val="D9F201"/>
                </a:solidFill>
                <a:latin typeface="Arial" pitchFamily="34" charset="0"/>
                <a:ea typeface="Arial" pitchFamily="34" charset="-122"/>
                <a:cs typeface="Arial" pitchFamily="34" charset="-120"/>
              </a:rPr>
              <a:t>WHY IT MATTERS HERE</a:t>
            </a:r>
            <a:endParaRPr lang="en-US" sz="1100" dirty="0"/>
          </a:p>
        </p:txBody>
      </p:sp>
      <p:sp>
        <p:nvSpPr>
          <p:cNvPr id="21" name="Text 18"/>
          <p:cNvSpPr txBox="1"/>
          <p:nvPr/>
        </p:nvSpPr>
        <p:spPr>
          <a:xfrm>
            <a:off x="4919472" y="2011680"/>
            <a:ext cx="3401568" cy="1828800"/>
          </a:xfrm>
          <a:prstGeom prst="rect">
            <a:avLst/>
          </a:prstGeom>
          <a:noFill/>
          <a:ln/>
        </p:spPr>
        <p:txBody>
          <a:bodyPr wrap="square" lIns="0" tIns="0" rIns="0" bIns="0" rtlCol="0" anchor="ctr"/>
          <a:lstStyle/>
          <a:p>
            <a:pPr marL="342900" indent="-342900">
              <a:lnSpc>
                <a:spcPts val="1885"/>
              </a:lnSpc>
              <a:spcAft>
                <a:spcPts val="900"/>
              </a:spcAft>
              <a:buSzPct val="100000"/>
              <a:buChar char="•"/>
            </a:pPr>
            <a:r>
              <a:rPr lang="en-US" sz="1300" dirty="0">
                <a:solidFill>
                  <a:srgbClr val="FFFFFF"/>
                </a:solidFill>
                <a:latin typeface="Arial" pitchFamily="34" charset="0"/>
                <a:ea typeface="Arial" pitchFamily="34" charset="-122"/>
                <a:cs typeface="Arial" pitchFamily="34" charset="-120"/>
              </a:rPr>
              <a:t>This is not a performance problem — the program is CORRECT and still unusable.</a:t>
            </a:r>
            <a:endParaRPr lang="en-US" sz="1300" dirty="0"/>
          </a:p>
          <a:p>
            <a:pPr marL="342900" indent="-342900">
              <a:lnSpc>
                <a:spcPts val="1885"/>
              </a:lnSpc>
              <a:spcAft>
                <a:spcPts val="900"/>
              </a:spcAft>
              <a:buSzPct val="100000"/>
              <a:buChar char="•"/>
            </a:pPr>
            <a:r>
              <a:rPr lang="en-US" sz="1300" dirty="0">
                <a:solidFill>
                  <a:srgbClr val="FFFFFF"/>
                </a:solidFill>
                <a:latin typeface="Arial" pitchFamily="34" charset="0"/>
                <a:ea typeface="Arial" pitchFamily="34" charset="-122"/>
                <a:cs typeface="Arial" pitchFamily="34" charset="-120"/>
              </a:rPr>
              <a:t>The pool is designed for easy and short tasks.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rot="2700000">
            <a:off x="-137160" y="-91440"/>
            <a:ext cx="23774" cy="502920"/>
          </a:xfrm>
          <a:prstGeom prst="rect">
            <a:avLst/>
          </a:prstGeom>
          <a:solidFill>
            <a:srgbClr val="FFFFFF"/>
          </a:solidFill>
          <a:ln w="12700">
            <a:solidFill>
              <a:srgbClr val="FFFFFF"/>
            </a:solidFill>
            <a:prstDash val="solid"/>
          </a:ln>
        </p:spPr>
        <p:txBody>
          <a:bodyPr/>
          <a:lstStyle/>
          <a:p>
            <a:endParaRPr/>
          </a:p>
        </p:txBody>
      </p:sp>
      <p:sp>
        <p:nvSpPr>
          <p:cNvPr id="4" name="Shape 1"/>
          <p:cNvSpPr/>
          <p:nvPr/>
        </p:nvSpPr>
        <p:spPr>
          <a:xfrm rot="2700000">
            <a:off x="-68580" y="-91440"/>
            <a:ext cx="23774" cy="502920"/>
          </a:xfrm>
          <a:prstGeom prst="rect">
            <a:avLst/>
          </a:prstGeom>
          <a:solidFill>
            <a:srgbClr val="FFFFFF"/>
          </a:solidFill>
          <a:ln w="12700">
            <a:solidFill>
              <a:srgbClr val="FFFFFF"/>
            </a:solidFill>
            <a:prstDash val="solid"/>
          </a:ln>
        </p:spPr>
        <p:txBody>
          <a:bodyPr/>
          <a:lstStyle/>
          <a:p>
            <a:endParaRPr/>
          </a:p>
        </p:txBody>
      </p:sp>
      <p:sp>
        <p:nvSpPr>
          <p:cNvPr id="5" name="Shape 2"/>
          <p:cNvSpPr/>
          <p:nvPr/>
        </p:nvSpPr>
        <p:spPr>
          <a:xfrm rot="2700000">
            <a:off x="0" y="-91440"/>
            <a:ext cx="23774" cy="502920"/>
          </a:xfrm>
          <a:prstGeom prst="rect">
            <a:avLst/>
          </a:prstGeom>
          <a:solidFill>
            <a:srgbClr val="FFFFFF"/>
          </a:solidFill>
          <a:ln w="12700">
            <a:solidFill>
              <a:srgbClr val="FFFFFF"/>
            </a:solidFill>
            <a:prstDash val="solid"/>
          </a:ln>
        </p:spPr>
        <p:txBody>
          <a:bodyPr/>
          <a:lstStyle/>
          <a:p>
            <a:endParaRPr/>
          </a:p>
        </p:txBody>
      </p:sp>
      <p:sp>
        <p:nvSpPr>
          <p:cNvPr id="6" name="Shape 3"/>
          <p:cNvSpPr/>
          <p:nvPr/>
        </p:nvSpPr>
        <p:spPr>
          <a:xfrm rot="2700000">
            <a:off x="68580" y="-91440"/>
            <a:ext cx="23774" cy="502920"/>
          </a:xfrm>
          <a:prstGeom prst="rect">
            <a:avLst/>
          </a:prstGeom>
          <a:solidFill>
            <a:srgbClr val="FFFFFF"/>
          </a:solidFill>
          <a:ln w="12700">
            <a:solidFill>
              <a:srgbClr val="FFFFFF"/>
            </a:solidFill>
            <a:prstDash val="solid"/>
          </a:ln>
        </p:spPr>
        <p:txBody>
          <a:bodyPr/>
          <a:lstStyle/>
          <a:p>
            <a:endParaRPr/>
          </a:p>
        </p:txBody>
      </p:sp>
      <p:sp>
        <p:nvSpPr>
          <p:cNvPr id="7" name="Shape 4"/>
          <p:cNvSpPr/>
          <p:nvPr/>
        </p:nvSpPr>
        <p:spPr>
          <a:xfrm rot="2700000">
            <a:off x="137160" y="-91440"/>
            <a:ext cx="23774" cy="502920"/>
          </a:xfrm>
          <a:prstGeom prst="rect">
            <a:avLst/>
          </a:prstGeom>
          <a:solidFill>
            <a:srgbClr val="FFFFFF"/>
          </a:solidFill>
          <a:ln w="12700">
            <a:solidFill>
              <a:srgbClr val="FFFFFF"/>
            </a:solidFill>
            <a:prstDash val="solid"/>
          </a:ln>
        </p:spPr>
        <p:txBody>
          <a:bodyPr/>
          <a:lstStyle/>
          <a:p>
            <a:endParaRPr/>
          </a:p>
        </p:txBody>
      </p:sp>
      <p:sp>
        <p:nvSpPr>
          <p:cNvPr id="8" name="Shape 5"/>
          <p:cNvSpPr/>
          <p:nvPr/>
        </p:nvSpPr>
        <p:spPr>
          <a:xfrm rot="2700000">
            <a:off x="205740" y="-91440"/>
            <a:ext cx="23774" cy="502920"/>
          </a:xfrm>
          <a:prstGeom prst="rect">
            <a:avLst/>
          </a:prstGeom>
          <a:solidFill>
            <a:srgbClr val="FFFFFF"/>
          </a:solidFill>
          <a:ln w="12700">
            <a:solidFill>
              <a:srgbClr val="FFFFFF"/>
            </a:solidFill>
            <a:prstDash val="solid"/>
          </a:ln>
        </p:spPr>
        <p:txBody>
          <a:bodyPr/>
          <a:lstStyle/>
          <a:p>
            <a:endParaRPr/>
          </a:p>
        </p:txBody>
      </p:sp>
      <p:sp>
        <p:nvSpPr>
          <p:cNvPr id="9" name="Shape 6"/>
          <p:cNvSpPr/>
          <p:nvPr/>
        </p:nvSpPr>
        <p:spPr>
          <a:xfrm rot="2700000">
            <a:off x="274320" y="-91440"/>
            <a:ext cx="23774" cy="502920"/>
          </a:xfrm>
          <a:prstGeom prst="rect">
            <a:avLst/>
          </a:prstGeom>
          <a:solidFill>
            <a:srgbClr val="FFFFFF"/>
          </a:solidFill>
          <a:ln w="12700">
            <a:solidFill>
              <a:srgbClr val="FFFFFF"/>
            </a:solidFill>
            <a:prstDash val="solid"/>
          </a:ln>
        </p:spPr>
        <p:txBody>
          <a:bodyPr/>
          <a:lstStyle/>
          <a:p>
            <a:endParaRPr/>
          </a:p>
        </p:txBody>
      </p:sp>
      <p:sp>
        <p:nvSpPr>
          <p:cNvPr id="10" name="Shape 7"/>
          <p:cNvSpPr/>
          <p:nvPr/>
        </p:nvSpPr>
        <p:spPr>
          <a:xfrm rot="2700000">
            <a:off x="342900" y="-91440"/>
            <a:ext cx="23774" cy="502920"/>
          </a:xfrm>
          <a:prstGeom prst="rect">
            <a:avLst/>
          </a:prstGeom>
          <a:solidFill>
            <a:srgbClr val="FFFFFF"/>
          </a:solidFill>
          <a:ln w="12700">
            <a:solidFill>
              <a:srgbClr val="FFFFFF"/>
            </a:solidFill>
            <a:prstDash val="solid"/>
          </a:ln>
        </p:spPr>
        <p:txBody>
          <a:bodyPr/>
          <a:lstStyle/>
          <a:p>
            <a:endParaRPr/>
          </a:p>
        </p:txBody>
      </p:sp>
      <p:sp>
        <p:nvSpPr>
          <p:cNvPr id="11" name="Shape 8"/>
          <p:cNvSpPr/>
          <p:nvPr/>
        </p:nvSpPr>
        <p:spPr>
          <a:xfrm rot="2700000">
            <a:off x="411480" y="-91440"/>
            <a:ext cx="23774" cy="502920"/>
          </a:xfrm>
          <a:prstGeom prst="rect">
            <a:avLst/>
          </a:prstGeom>
          <a:solidFill>
            <a:srgbClr val="FFFFFF"/>
          </a:solidFill>
          <a:ln w="12700">
            <a:solidFill>
              <a:srgbClr val="FFFFFF"/>
            </a:solidFill>
            <a:prstDash val="solid"/>
          </a:ln>
        </p:spPr>
        <p:txBody>
          <a:bodyPr/>
          <a:lstStyle/>
          <a:p>
            <a:endParaRPr/>
          </a:p>
        </p:txBody>
      </p:sp>
      <p:sp>
        <p:nvSpPr>
          <p:cNvPr id="12" name="Shape 9"/>
          <p:cNvSpPr/>
          <p:nvPr/>
        </p:nvSpPr>
        <p:spPr>
          <a:xfrm rot="2700000">
            <a:off x="480060" y="-91440"/>
            <a:ext cx="23774" cy="502920"/>
          </a:xfrm>
          <a:prstGeom prst="rect">
            <a:avLst/>
          </a:prstGeom>
          <a:solidFill>
            <a:srgbClr val="FFFFFF"/>
          </a:solidFill>
          <a:ln w="12700">
            <a:solidFill>
              <a:srgbClr val="FFFFFF"/>
            </a:solidFill>
            <a:prstDash val="solid"/>
          </a:ln>
        </p:spPr>
        <p:txBody>
          <a:bodyPr/>
          <a:lstStyle/>
          <a:p>
            <a:endParaRPr/>
          </a:p>
        </p:txBody>
      </p:sp>
      <p:sp>
        <p:nvSpPr>
          <p:cNvPr id="13" name="Shape 10"/>
          <p:cNvSpPr/>
          <p:nvPr/>
        </p:nvSpPr>
        <p:spPr>
          <a:xfrm rot="2700000">
            <a:off x="548640" y="-91440"/>
            <a:ext cx="23774" cy="502920"/>
          </a:xfrm>
          <a:prstGeom prst="rect">
            <a:avLst/>
          </a:prstGeom>
          <a:solidFill>
            <a:srgbClr val="FFFFFF"/>
          </a:solidFill>
          <a:ln w="12700">
            <a:solidFill>
              <a:srgbClr val="FFFFFF"/>
            </a:solidFill>
            <a:prstDash val="solid"/>
          </a:ln>
        </p:spPr>
        <p:txBody>
          <a:bodyPr/>
          <a:lstStyle/>
          <a:p>
            <a:endParaRPr/>
          </a:p>
        </p:txBody>
      </p:sp>
      <p:sp>
        <p:nvSpPr>
          <p:cNvPr id="14" name="Shape 11"/>
          <p:cNvSpPr/>
          <p:nvPr/>
        </p:nvSpPr>
        <p:spPr>
          <a:xfrm rot="2700000">
            <a:off x="617220" y="-91440"/>
            <a:ext cx="23774" cy="502920"/>
          </a:xfrm>
          <a:prstGeom prst="rect">
            <a:avLst/>
          </a:prstGeom>
          <a:solidFill>
            <a:srgbClr val="FFFFFF"/>
          </a:solidFill>
          <a:ln w="12700">
            <a:solidFill>
              <a:srgbClr val="FFFFFF"/>
            </a:solidFill>
            <a:prstDash val="solid"/>
          </a:ln>
        </p:spPr>
        <p:txBody>
          <a:bodyPr/>
          <a:lstStyle/>
          <a:p>
            <a:endParaRPr/>
          </a:p>
        </p:txBody>
      </p:sp>
      <p:sp>
        <p:nvSpPr>
          <p:cNvPr id="15" name="Shape 12"/>
          <p:cNvSpPr/>
          <p:nvPr/>
        </p:nvSpPr>
        <p:spPr>
          <a:xfrm rot="2700000">
            <a:off x="685800" y="-91440"/>
            <a:ext cx="23774" cy="502920"/>
          </a:xfrm>
          <a:prstGeom prst="rect">
            <a:avLst/>
          </a:prstGeom>
          <a:solidFill>
            <a:srgbClr val="FFFFFF"/>
          </a:solidFill>
          <a:ln w="12700">
            <a:solidFill>
              <a:srgbClr val="FFFFFF"/>
            </a:solidFill>
            <a:prstDash val="solid"/>
          </a:ln>
        </p:spPr>
        <p:txBody>
          <a:bodyPr/>
          <a:lstStyle/>
          <a:p>
            <a:endParaRPr/>
          </a:p>
        </p:txBody>
      </p:sp>
      <p:sp>
        <p:nvSpPr>
          <p:cNvPr id="16" name="Shape 13"/>
          <p:cNvSpPr/>
          <p:nvPr/>
        </p:nvSpPr>
        <p:spPr>
          <a:xfrm>
            <a:off x="-1463040" y="3200400"/>
            <a:ext cx="3291840" cy="3291840"/>
          </a:xfrm>
          <a:prstGeom prst="ellipse">
            <a:avLst/>
          </a:prstGeom>
          <a:solidFill>
            <a:srgbClr val="000000">
              <a:alpha val="0"/>
            </a:srgbClr>
          </a:solidFill>
          <a:ln w="12700">
            <a:solidFill>
              <a:srgbClr val="5E6357"/>
            </a:solidFill>
            <a:prstDash val="solid"/>
          </a:ln>
        </p:spPr>
        <p:txBody>
          <a:bodyPr/>
          <a:lstStyle/>
          <a:p>
            <a:endParaRPr/>
          </a:p>
        </p:txBody>
      </p:sp>
      <p:sp>
        <p:nvSpPr>
          <p:cNvPr id="17" name="Shape 14"/>
          <p:cNvSpPr/>
          <p:nvPr/>
        </p:nvSpPr>
        <p:spPr>
          <a:xfrm>
            <a:off x="-1051560" y="3611880"/>
            <a:ext cx="2468880" cy="2468880"/>
          </a:xfrm>
          <a:prstGeom prst="ellipse">
            <a:avLst/>
          </a:prstGeom>
          <a:solidFill>
            <a:srgbClr val="000000">
              <a:alpha val="0"/>
            </a:srgbClr>
          </a:solidFill>
          <a:ln w="12700">
            <a:solidFill>
              <a:srgbClr val="5E6357"/>
            </a:solidFill>
            <a:prstDash val="solid"/>
          </a:ln>
        </p:spPr>
        <p:txBody>
          <a:bodyPr/>
          <a:lstStyle/>
          <a:p>
            <a:endParaRPr/>
          </a:p>
        </p:txBody>
      </p:sp>
      <p:sp>
        <p:nvSpPr>
          <p:cNvPr id="18" name="Shape 15"/>
          <p:cNvSpPr/>
          <p:nvPr/>
        </p:nvSpPr>
        <p:spPr>
          <a:xfrm>
            <a:off x="-640080" y="4023360"/>
            <a:ext cx="1645920" cy="1645920"/>
          </a:xfrm>
          <a:prstGeom prst="ellipse">
            <a:avLst/>
          </a:prstGeom>
          <a:solidFill>
            <a:srgbClr val="000000">
              <a:alpha val="0"/>
            </a:srgbClr>
          </a:solidFill>
          <a:ln w="12700">
            <a:solidFill>
              <a:srgbClr val="5E6357"/>
            </a:solidFill>
            <a:prstDash val="solid"/>
          </a:ln>
        </p:spPr>
        <p:txBody>
          <a:bodyPr/>
          <a:lstStyle/>
          <a:p>
            <a:endParaRPr/>
          </a:p>
        </p:txBody>
      </p:sp>
      <p:sp>
        <p:nvSpPr>
          <p:cNvPr id="19" name="Shape 16"/>
          <p:cNvSpPr/>
          <p:nvPr/>
        </p:nvSpPr>
        <p:spPr>
          <a:xfrm>
            <a:off x="-228600" y="4434840"/>
            <a:ext cx="822960" cy="822960"/>
          </a:xfrm>
          <a:prstGeom prst="ellipse">
            <a:avLst/>
          </a:prstGeom>
          <a:solidFill>
            <a:srgbClr val="000000">
              <a:alpha val="0"/>
            </a:srgbClr>
          </a:solidFill>
          <a:ln w="12700">
            <a:solidFill>
              <a:srgbClr val="D9F201"/>
            </a:solidFill>
            <a:prstDash val="solid"/>
          </a:ln>
        </p:spPr>
        <p:txBody>
          <a:bodyPr/>
          <a:lstStyle/>
          <a:p>
            <a:endParaRPr/>
          </a:p>
        </p:txBody>
      </p:sp>
      <p:sp>
        <p:nvSpPr>
          <p:cNvPr id="20" name="Shape 17"/>
          <p:cNvSpPr/>
          <p:nvPr/>
        </p:nvSpPr>
        <p:spPr>
          <a:xfrm rot="5400000">
            <a:off x="8321040" y="457200"/>
            <a:ext cx="411480" cy="411480"/>
          </a:xfrm>
          <a:prstGeom prst="triangle">
            <a:avLst/>
          </a:prstGeom>
          <a:solidFill>
            <a:srgbClr val="D9F201"/>
          </a:solidFill>
          <a:ln w="12700">
            <a:solidFill>
              <a:srgbClr val="D9F201"/>
            </a:solidFill>
            <a:prstDash val="solid"/>
          </a:ln>
        </p:spPr>
        <p:txBody>
          <a:bodyPr/>
          <a:lstStyle/>
          <a:p>
            <a:endParaRPr/>
          </a:p>
        </p:txBody>
      </p:sp>
      <p:sp>
        <p:nvSpPr>
          <p:cNvPr id="21" name="Shape 18"/>
          <p:cNvSpPr/>
          <p:nvPr/>
        </p:nvSpPr>
        <p:spPr>
          <a:xfrm>
            <a:off x="8138160" y="4206240"/>
            <a:ext cx="50292" cy="50292"/>
          </a:xfrm>
          <a:prstGeom prst="ellipse">
            <a:avLst/>
          </a:prstGeom>
          <a:solidFill>
            <a:srgbClr val="5E6357"/>
          </a:solidFill>
          <a:ln w="12700">
            <a:solidFill>
              <a:srgbClr val="5E6357"/>
            </a:solidFill>
            <a:prstDash val="solid"/>
          </a:ln>
        </p:spPr>
        <p:txBody>
          <a:bodyPr/>
          <a:lstStyle/>
          <a:p>
            <a:endParaRPr/>
          </a:p>
        </p:txBody>
      </p:sp>
      <p:sp>
        <p:nvSpPr>
          <p:cNvPr id="22" name="Shape 19"/>
          <p:cNvSpPr/>
          <p:nvPr/>
        </p:nvSpPr>
        <p:spPr>
          <a:xfrm>
            <a:off x="8270748" y="4206240"/>
            <a:ext cx="50292" cy="50292"/>
          </a:xfrm>
          <a:prstGeom prst="ellipse">
            <a:avLst/>
          </a:prstGeom>
          <a:solidFill>
            <a:srgbClr val="5E6357"/>
          </a:solidFill>
          <a:ln w="12700">
            <a:solidFill>
              <a:srgbClr val="5E6357"/>
            </a:solidFill>
            <a:prstDash val="solid"/>
          </a:ln>
        </p:spPr>
        <p:txBody>
          <a:bodyPr/>
          <a:lstStyle/>
          <a:p>
            <a:endParaRPr/>
          </a:p>
        </p:txBody>
      </p:sp>
      <p:sp>
        <p:nvSpPr>
          <p:cNvPr id="23" name="Shape 20"/>
          <p:cNvSpPr/>
          <p:nvPr/>
        </p:nvSpPr>
        <p:spPr>
          <a:xfrm>
            <a:off x="8403336" y="4206240"/>
            <a:ext cx="50292" cy="50292"/>
          </a:xfrm>
          <a:prstGeom prst="ellipse">
            <a:avLst/>
          </a:prstGeom>
          <a:solidFill>
            <a:srgbClr val="5E6357"/>
          </a:solidFill>
          <a:ln w="12700">
            <a:solidFill>
              <a:srgbClr val="5E6357"/>
            </a:solidFill>
            <a:prstDash val="solid"/>
          </a:ln>
        </p:spPr>
        <p:txBody>
          <a:bodyPr/>
          <a:lstStyle/>
          <a:p>
            <a:endParaRPr/>
          </a:p>
        </p:txBody>
      </p:sp>
      <p:sp>
        <p:nvSpPr>
          <p:cNvPr id="24" name="Shape 21"/>
          <p:cNvSpPr/>
          <p:nvPr/>
        </p:nvSpPr>
        <p:spPr>
          <a:xfrm>
            <a:off x="8535924" y="4206240"/>
            <a:ext cx="50292" cy="50292"/>
          </a:xfrm>
          <a:prstGeom prst="ellipse">
            <a:avLst/>
          </a:prstGeom>
          <a:solidFill>
            <a:srgbClr val="5E6357"/>
          </a:solidFill>
          <a:ln w="12700">
            <a:solidFill>
              <a:srgbClr val="5E6357"/>
            </a:solidFill>
            <a:prstDash val="solid"/>
          </a:ln>
        </p:spPr>
        <p:txBody>
          <a:bodyPr/>
          <a:lstStyle/>
          <a:p>
            <a:endParaRPr/>
          </a:p>
        </p:txBody>
      </p:sp>
      <p:sp>
        <p:nvSpPr>
          <p:cNvPr id="25" name="Shape 22"/>
          <p:cNvSpPr/>
          <p:nvPr/>
        </p:nvSpPr>
        <p:spPr>
          <a:xfrm>
            <a:off x="8138160" y="4338828"/>
            <a:ext cx="50292" cy="50292"/>
          </a:xfrm>
          <a:prstGeom prst="ellipse">
            <a:avLst/>
          </a:prstGeom>
          <a:solidFill>
            <a:srgbClr val="5E6357"/>
          </a:solidFill>
          <a:ln w="12700">
            <a:solidFill>
              <a:srgbClr val="5E6357"/>
            </a:solidFill>
            <a:prstDash val="solid"/>
          </a:ln>
        </p:spPr>
        <p:txBody>
          <a:bodyPr/>
          <a:lstStyle/>
          <a:p>
            <a:endParaRPr/>
          </a:p>
        </p:txBody>
      </p:sp>
      <p:sp>
        <p:nvSpPr>
          <p:cNvPr id="26" name="Shape 23"/>
          <p:cNvSpPr/>
          <p:nvPr/>
        </p:nvSpPr>
        <p:spPr>
          <a:xfrm>
            <a:off x="8270748" y="4338828"/>
            <a:ext cx="50292" cy="50292"/>
          </a:xfrm>
          <a:prstGeom prst="ellipse">
            <a:avLst/>
          </a:prstGeom>
          <a:solidFill>
            <a:srgbClr val="5E6357"/>
          </a:solidFill>
          <a:ln w="12700">
            <a:solidFill>
              <a:srgbClr val="5E6357"/>
            </a:solidFill>
            <a:prstDash val="solid"/>
          </a:ln>
        </p:spPr>
        <p:txBody>
          <a:bodyPr/>
          <a:lstStyle/>
          <a:p>
            <a:endParaRPr/>
          </a:p>
        </p:txBody>
      </p:sp>
      <p:sp>
        <p:nvSpPr>
          <p:cNvPr id="27" name="Shape 24"/>
          <p:cNvSpPr/>
          <p:nvPr/>
        </p:nvSpPr>
        <p:spPr>
          <a:xfrm>
            <a:off x="8403336" y="4338828"/>
            <a:ext cx="50292" cy="50292"/>
          </a:xfrm>
          <a:prstGeom prst="ellipse">
            <a:avLst/>
          </a:prstGeom>
          <a:solidFill>
            <a:srgbClr val="5E6357"/>
          </a:solidFill>
          <a:ln w="12700">
            <a:solidFill>
              <a:srgbClr val="5E6357"/>
            </a:solidFill>
            <a:prstDash val="solid"/>
          </a:ln>
        </p:spPr>
        <p:txBody>
          <a:bodyPr/>
          <a:lstStyle/>
          <a:p>
            <a:endParaRPr/>
          </a:p>
        </p:txBody>
      </p:sp>
      <p:sp>
        <p:nvSpPr>
          <p:cNvPr id="28" name="Shape 25"/>
          <p:cNvSpPr/>
          <p:nvPr/>
        </p:nvSpPr>
        <p:spPr>
          <a:xfrm>
            <a:off x="8535924" y="4338828"/>
            <a:ext cx="50292" cy="50292"/>
          </a:xfrm>
          <a:prstGeom prst="ellipse">
            <a:avLst/>
          </a:prstGeom>
          <a:solidFill>
            <a:srgbClr val="5E6357"/>
          </a:solidFill>
          <a:ln w="12700">
            <a:solidFill>
              <a:srgbClr val="5E6357"/>
            </a:solidFill>
            <a:prstDash val="solid"/>
          </a:ln>
        </p:spPr>
        <p:txBody>
          <a:bodyPr/>
          <a:lstStyle/>
          <a:p>
            <a:endParaRPr/>
          </a:p>
        </p:txBody>
      </p:sp>
      <p:sp>
        <p:nvSpPr>
          <p:cNvPr id="29" name="Shape 26"/>
          <p:cNvSpPr/>
          <p:nvPr/>
        </p:nvSpPr>
        <p:spPr>
          <a:xfrm>
            <a:off x="8138160" y="4471416"/>
            <a:ext cx="50292" cy="50292"/>
          </a:xfrm>
          <a:prstGeom prst="ellipse">
            <a:avLst/>
          </a:prstGeom>
          <a:solidFill>
            <a:srgbClr val="5E6357"/>
          </a:solidFill>
          <a:ln w="12700">
            <a:solidFill>
              <a:srgbClr val="5E6357"/>
            </a:solidFill>
            <a:prstDash val="solid"/>
          </a:ln>
        </p:spPr>
        <p:txBody>
          <a:bodyPr/>
          <a:lstStyle/>
          <a:p>
            <a:endParaRPr/>
          </a:p>
        </p:txBody>
      </p:sp>
      <p:sp>
        <p:nvSpPr>
          <p:cNvPr id="30" name="Shape 27"/>
          <p:cNvSpPr/>
          <p:nvPr/>
        </p:nvSpPr>
        <p:spPr>
          <a:xfrm>
            <a:off x="8270748" y="4471416"/>
            <a:ext cx="50292" cy="50292"/>
          </a:xfrm>
          <a:prstGeom prst="ellipse">
            <a:avLst/>
          </a:prstGeom>
          <a:solidFill>
            <a:srgbClr val="5E6357"/>
          </a:solidFill>
          <a:ln w="12700">
            <a:solidFill>
              <a:srgbClr val="5E6357"/>
            </a:solidFill>
            <a:prstDash val="solid"/>
          </a:ln>
        </p:spPr>
        <p:txBody>
          <a:bodyPr/>
          <a:lstStyle/>
          <a:p>
            <a:endParaRPr/>
          </a:p>
        </p:txBody>
      </p:sp>
      <p:sp>
        <p:nvSpPr>
          <p:cNvPr id="31" name="Shape 28"/>
          <p:cNvSpPr/>
          <p:nvPr/>
        </p:nvSpPr>
        <p:spPr>
          <a:xfrm>
            <a:off x="8403336" y="4471416"/>
            <a:ext cx="50292" cy="50292"/>
          </a:xfrm>
          <a:prstGeom prst="ellipse">
            <a:avLst/>
          </a:prstGeom>
          <a:solidFill>
            <a:srgbClr val="5E6357"/>
          </a:solidFill>
          <a:ln w="12700">
            <a:solidFill>
              <a:srgbClr val="5E6357"/>
            </a:solidFill>
            <a:prstDash val="solid"/>
          </a:ln>
        </p:spPr>
        <p:txBody>
          <a:bodyPr/>
          <a:lstStyle/>
          <a:p>
            <a:endParaRPr/>
          </a:p>
        </p:txBody>
      </p:sp>
      <p:sp>
        <p:nvSpPr>
          <p:cNvPr id="32" name="Shape 29"/>
          <p:cNvSpPr/>
          <p:nvPr/>
        </p:nvSpPr>
        <p:spPr>
          <a:xfrm>
            <a:off x="8535924" y="4471416"/>
            <a:ext cx="50292" cy="50292"/>
          </a:xfrm>
          <a:prstGeom prst="ellipse">
            <a:avLst/>
          </a:prstGeom>
          <a:solidFill>
            <a:srgbClr val="5E6357"/>
          </a:solidFill>
          <a:ln w="12700">
            <a:solidFill>
              <a:srgbClr val="5E6357"/>
            </a:solidFill>
            <a:prstDash val="solid"/>
          </a:ln>
        </p:spPr>
        <p:txBody>
          <a:bodyPr/>
          <a:lstStyle/>
          <a:p>
            <a:endParaRPr/>
          </a:p>
        </p:txBody>
      </p:sp>
      <p:sp>
        <p:nvSpPr>
          <p:cNvPr id="33" name="Text 30"/>
          <p:cNvSpPr txBox="1"/>
          <p:nvPr/>
        </p:nvSpPr>
        <p:spPr>
          <a:xfrm>
            <a:off x="566928" y="1600200"/>
            <a:ext cx="2011680" cy="1371600"/>
          </a:xfrm>
          <a:prstGeom prst="rect">
            <a:avLst/>
          </a:prstGeom>
          <a:noFill/>
          <a:ln/>
        </p:spPr>
        <p:txBody>
          <a:bodyPr wrap="square" lIns="0" tIns="0" rIns="0" bIns="0" rtlCol="0" anchor="ctr"/>
          <a:lstStyle/>
          <a:p>
            <a:pPr marL="0" indent="0">
              <a:buNone/>
            </a:pPr>
            <a:r>
              <a:rPr lang="en-US" sz="9600" b="1" dirty="0">
                <a:solidFill>
                  <a:srgbClr val="D9F201"/>
                </a:solidFill>
                <a:latin typeface="Arial" pitchFamily="34" charset="0"/>
                <a:ea typeface="Arial" pitchFamily="34" charset="-122"/>
                <a:cs typeface="Arial" pitchFamily="34" charset="-120"/>
              </a:rPr>
              <a:t>01</a:t>
            </a:r>
            <a:endParaRPr lang="en-US" sz="9600" dirty="0"/>
          </a:p>
        </p:txBody>
      </p:sp>
      <p:sp>
        <p:nvSpPr>
          <p:cNvPr id="34" name="Text 31"/>
          <p:cNvSpPr txBox="1"/>
          <p:nvPr/>
        </p:nvSpPr>
        <p:spPr>
          <a:xfrm>
            <a:off x="2514600" y="1874520"/>
            <a:ext cx="5760720" cy="68580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The race</a:t>
            </a:r>
            <a:endParaRPr lang="en-US" sz="3400" dirty="0"/>
          </a:p>
        </p:txBody>
      </p:sp>
      <p:sp>
        <p:nvSpPr>
          <p:cNvPr id="35" name="Text 32"/>
          <p:cNvSpPr txBox="1"/>
          <p:nvPr/>
        </p:nvSpPr>
        <p:spPr>
          <a:xfrm>
            <a:off x="2542032" y="2578608"/>
            <a:ext cx="5760720" cy="320040"/>
          </a:xfrm>
          <a:prstGeom prst="rect">
            <a:avLst/>
          </a:prstGeom>
          <a:noFill/>
          <a:ln/>
        </p:spPr>
        <p:txBody>
          <a:bodyPr wrap="square" lIns="0" tIns="0" rIns="0" bIns="0" rtlCol="0" anchor="ctr"/>
          <a:lstStyle/>
          <a:p>
            <a:pPr marL="0" indent="0">
              <a:buNone/>
            </a:pPr>
            <a:r>
              <a:rPr lang="en-US" sz="1500" dirty="0">
                <a:solidFill>
                  <a:srgbClr val="9AA095"/>
                </a:solidFill>
                <a:latin typeface="Arial" pitchFamily="34" charset="0"/>
                <a:ea typeface="Arial" pitchFamily="34" charset="-122"/>
                <a:cs typeface="Arial" pitchFamily="34" charset="-120"/>
              </a:rPr>
              <a:t>The question from last lecture, answered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C# — RUN IT LIVE</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Eight threads, one counter</a:t>
            </a:r>
            <a:endParaRPr lang="en-US" sz="3200" dirty="0"/>
          </a:p>
        </p:txBody>
      </p:sp>
      <p:sp>
        <p:nvSpPr>
          <p:cNvPr id="16" name="Shape 13"/>
          <p:cNvSpPr/>
          <p:nvPr/>
        </p:nvSpPr>
        <p:spPr>
          <a:xfrm>
            <a:off x="566928" y="1444752"/>
            <a:ext cx="8010144" cy="3032760"/>
          </a:xfrm>
          <a:prstGeom prst="roundRect">
            <a:avLst>
              <a:gd name="adj" fmla="val 1724"/>
            </a:avLst>
          </a:prstGeom>
          <a:solidFill>
            <a:srgbClr val="141613"/>
          </a:solidFill>
          <a:ln w="12700">
            <a:solidFill>
              <a:srgbClr val="1F231B"/>
            </a:solidFill>
            <a:prstDash val="solid"/>
          </a:ln>
        </p:spPr>
        <p:txBody>
          <a:bodyPr/>
          <a:lstStyle/>
          <a:p>
            <a:endParaRPr/>
          </a:p>
        </p:txBody>
      </p:sp>
      <p:sp>
        <p:nvSpPr>
          <p:cNvPr id="17" name="TextBox 16"/>
          <p:cNvSpPr txBox="1"/>
          <p:nvPr/>
        </p:nvSpPr>
        <p:spPr>
          <a:xfrm>
            <a:off x="822960" y="1627632"/>
            <a:ext cx="7498080" cy="2667000"/>
          </a:xfrm>
          <a:prstGeom prst="rect">
            <a:avLst/>
          </a:prstGeom>
          <a:noFill/>
        </p:spPr>
        <p:txBody>
          <a:bodyPr wrap="square" lIns="0" tIns="0" rIns="0" bIns="0" rtlCol="0" anchor="t"/>
          <a:lstStyle/>
          <a:p>
            <a:pPr marL="0" indent="0" algn="l">
              <a:lnSpc>
                <a:spcPts val="1400"/>
              </a:lnSpc>
              <a:buNone/>
            </a:pPr>
            <a:r>
              <a:rPr sz="1050" dirty="0">
                <a:solidFill>
                  <a:srgbClr val="D9F201"/>
                </a:solidFill>
                <a:latin typeface="Courier New"/>
              </a:rPr>
              <a:t>int</a:t>
            </a:r>
            <a:r>
              <a:rPr sz="1050" dirty="0">
                <a:solidFill>
                  <a:srgbClr val="FFFFFF"/>
                </a:solidFill>
                <a:latin typeface="Courier New"/>
              </a:rPr>
              <a:t> counter = </a:t>
            </a:r>
            <a:r>
              <a:rPr sz="1050" dirty="0">
                <a:solidFill>
                  <a:srgbClr val="35E0C8"/>
                </a:solidFill>
                <a:latin typeface="Courier New"/>
              </a:rPr>
              <a:t>0</a:t>
            </a:r>
            <a:r>
              <a:rPr sz="1050" dirty="0">
                <a:solidFill>
                  <a:srgbClr val="FFFFFF"/>
                </a:solidFill>
                <a:latin typeface="Courier New"/>
              </a:rPr>
              <a:t>;</a:t>
            </a:r>
          </a:p>
          <a:p>
            <a:pPr marL="0" indent="0" algn="l">
              <a:lnSpc>
                <a:spcPts val="1400"/>
              </a:lnSpc>
              <a:buNone/>
            </a:pPr>
            <a:r>
              <a:rPr sz="1050" dirty="0">
                <a:solidFill>
                  <a:srgbClr val="35E0C8"/>
                </a:solidFill>
                <a:latin typeface="Courier New"/>
              </a:rPr>
              <a:t>Thread</a:t>
            </a:r>
            <a:r>
              <a:rPr sz="1050" dirty="0">
                <a:solidFill>
                  <a:srgbClr val="FFFFFF"/>
                </a:solidFill>
                <a:latin typeface="Courier New"/>
              </a:rPr>
              <a:t>[] threads = </a:t>
            </a:r>
            <a:r>
              <a:rPr sz="1050" dirty="0">
                <a:solidFill>
                  <a:srgbClr val="D9F201"/>
                </a:solidFill>
                <a:latin typeface="Courier New"/>
              </a:rPr>
              <a:t>new</a:t>
            </a:r>
            <a:r>
              <a:rPr sz="1050" dirty="0">
                <a:solidFill>
                  <a:srgbClr val="FFFFFF"/>
                </a:solidFill>
                <a:latin typeface="Courier New"/>
              </a:rPr>
              <a:t> Thread[</a:t>
            </a:r>
            <a:r>
              <a:rPr sz="1050" dirty="0">
                <a:solidFill>
                  <a:srgbClr val="35E0C8"/>
                </a:solidFill>
                <a:latin typeface="Courier New"/>
              </a:rPr>
              <a:t>8</a:t>
            </a:r>
            <a:r>
              <a:rPr sz="1050" dirty="0">
                <a:solidFill>
                  <a:srgbClr val="FFFFFF"/>
                </a:solidFill>
                <a:latin typeface="Courier New"/>
              </a:rPr>
              <a:t>];</a:t>
            </a:r>
          </a:p>
          <a:p>
            <a:pPr marL="0" indent="0" algn="l">
              <a:lnSpc>
                <a:spcPts val="1400"/>
              </a:lnSpc>
              <a:buNone/>
            </a:pPr>
            <a:endParaRPr sz="1050" dirty="0">
              <a:solidFill>
                <a:srgbClr val="FFFFFF"/>
              </a:solidFill>
              <a:latin typeface="Courier New"/>
            </a:endParaRPr>
          </a:p>
          <a:p>
            <a:pPr marL="0" indent="0" algn="l">
              <a:lnSpc>
                <a:spcPts val="1400"/>
              </a:lnSpc>
              <a:buNone/>
            </a:pPr>
            <a:r>
              <a:rPr sz="1050" dirty="0">
                <a:solidFill>
                  <a:srgbClr val="D9F201"/>
                </a:solidFill>
                <a:latin typeface="Courier New"/>
              </a:rPr>
              <a:t>for</a:t>
            </a:r>
            <a:r>
              <a:rPr sz="1050" dirty="0">
                <a:solidFill>
                  <a:srgbClr val="FFFFFF"/>
                </a:solidFill>
                <a:latin typeface="Courier New"/>
              </a:rPr>
              <a:t> (</a:t>
            </a:r>
            <a:r>
              <a:rPr sz="1050" dirty="0">
                <a:solidFill>
                  <a:srgbClr val="D9F201"/>
                </a:solidFill>
                <a:latin typeface="Courier New"/>
              </a:rPr>
              <a:t>int</a:t>
            </a:r>
            <a:r>
              <a:rPr sz="1050" dirty="0">
                <a:solidFill>
                  <a:srgbClr val="FFFFFF"/>
                </a:solidFill>
                <a:latin typeface="Courier New"/>
              </a:rPr>
              <a:t> </a:t>
            </a:r>
            <a:r>
              <a:rPr sz="1050" dirty="0" err="1">
                <a:solidFill>
                  <a:srgbClr val="FFFFFF"/>
                </a:solidFill>
                <a:latin typeface="Courier New"/>
              </a:rPr>
              <a:t>i</a:t>
            </a:r>
            <a:r>
              <a:rPr sz="1050" dirty="0">
                <a:solidFill>
                  <a:srgbClr val="FFFFFF"/>
                </a:solidFill>
                <a:latin typeface="Courier New"/>
              </a:rPr>
              <a:t> = </a:t>
            </a:r>
            <a:r>
              <a:rPr sz="1050" dirty="0">
                <a:solidFill>
                  <a:srgbClr val="35E0C8"/>
                </a:solidFill>
                <a:latin typeface="Courier New"/>
              </a:rPr>
              <a:t>0</a:t>
            </a:r>
            <a:r>
              <a:rPr sz="1050" dirty="0">
                <a:solidFill>
                  <a:srgbClr val="FFFFFF"/>
                </a:solidFill>
                <a:latin typeface="Courier New"/>
              </a:rPr>
              <a:t>; </a:t>
            </a:r>
            <a:r>
              <a:rPr sz="1050" dirty="0" err="1">
                <a:solidFill>
                  <a:srgbClr val="FFFFFF"/>
                </a:solidFill>
                <a:latin typeface="Courier New"/>
              </a:rPr>
              <a:t>i</a:t>
            </a:r>
            <a:r>
              <a:rPr sz="1050" dirty="0">
                <a:solidFill>
                  <a:srgbClr val="FFFFFF"/>
                </a:solidFill>
                <a:latin typeface="Courier New"/>
              </a:rPr>
              <a:t> &lt; </a:t>
            </a:r>
            <a:r>
              <a:rPr sz="1050" dirty="0">
                <a:solidFill>
                  <a:srgbClr val="35E0C8"/>
                </a:solidFill>
                <a:latin typeface="Courier New"/>
              </a:rPr>
              <a:t>8</a:t>
            </a:r>
            <a:r>
              <a:rPr sz="1050" dirty="0">
                <a:solidFill>
                  <a:srgbClr val="FFFFFF"/>
                </a:solidFill>
                <a:latin typeface="Courier New"/>
              </a:rPr>
              <a:t>; </a:t>
            </a:r>
            <a:r>
              <a:rPr sz="1050" dirty="0" err="1">
                <a:solidFill>
                  <a:srgbClr val="FFFFFF"/>
                </a:solidFill>
                <a:latin typeface="Courier New"/>
              </a:rPr>
              <a:t>i</a:t>
            </a:r>
            <a:r>
              <a:rPr sz="1050" dirty="0">
                <a:solidFill>
                  <a:srgbClr val="FFFFFF"/>
                </a:solidFill>
                <a:latin typeface="Courier New"/>
              </a:rPr>
              <a:t>++)</a:t>
            </a:r>
          </a:p>
          <a:p>
            <a:pPr marL="0" indent="0" algn="l">
              <a:lnSpc>
                <a:spcPts val="1400"/>
              </a:lnSpc>
              <a:buNone/>
            </a:pPr>
            <a:r>
              <a:rPr sz="1050" dirty="0">
                <a:solidFill>
                  <a:srgbClr val="FFFFFF"/>
                </a:solidFill>
                <a:latin typeface="Courier New"/>
              </a:rPr>
              <a:t>{</a:t>
            </a:r>
          </a:p>
          <a:p>
            <a:pPr marL="0" indent="0" algn="l">
              <a:lnSpc>
                <a:spcPts val="1400"/>
              </a:lnSpc>
              <a:buNone/>
            </a:pPr>
            <a:r>
              <a:rPr sz="1050" dirty="0">
                <a:solidFill>
                  <a:srgbClr val="FFFFFF"/>
                </a:solidFill>
                <a:latin typeface="Courier New"/>
              </a:rPr>
              <a:t>    threads[</a:t>
            </a:r>
            <a:r>
              <a:rPr sz="1050" dirty="0" err="1">
                <a:solidFill>
                  <a:srgbClr val="FFFFFF"/>
                </a:solidFill>
                <a:latin typeface="Courier New"/>
              </a:rPr>
              <a:t>i</a:t>
            </a:r>
            <a:r>
              <a:rPr sz="1050" dirty="0">
                <a:solidFill>
                  <a:srgbClr val="FFFFFF"/>
                </a:solidFill>
                <a:latin typeface="Courier New"/>
              </a:rPr>
              <a:t>] = </a:t>
            </a:r>
            <a:r>
              <a:rPr sz="1050" dirty="0">
                <a:solidFill>
                  <a:srgbClr val="D9F201"/>
                </a:solidFill>
                <a:latin typeface="Courier New"/>
              </a:rPr>
              <a:t>new</a:t>
            </a:r>
            <a:r>
              <a:rPr sz="1050" dirty="0">
                <a:solidFill>
                  <a:srgbClr val="FFFFFF"/>
                </a:solidFill>
                <a:latin typeface="Courier New"/>
              </a:rPr>
              <a:t> Thread(() =&gt;</a:t>
            </a:r>
          </a:p>
          <a:p>
            <a:pPr marL="0" indent="0" algn="l">
              <a:lnSpc>
                <a:spcPts val="1400"/>
              </a:lnSpc>
              <a:buNone/>
            </a:pPr>
            <a:r>
              <a:rPr sz="1050" dirty="0">
                <a:solidFill>
                  <a:srgbClr val="FFFFFF"/>
                </a:solidFill>
                <a:latin typeface="Courier New"/>
              </a:rPr>
              <a:t>    {</a:t>
            </a:r>
          </a:p>
          <a:p>
            <a:pPr marL="0" indent="0" algn="l">
              <a:lnSpc>
                <a:spcPts val="1400"/>
              </a:lnSpc>
              <a:buNone/>
            </a:pPr>
            <a:r>
              <a:rPr sz="1050" dirty="0">
                <a:solidFill>
                  <a:srgbClr val="FFFFFF"/>
                </a:solidFill>
                <a:latin typeface="Courier New"/>
              </a:rPr>
              <a:t>        </a:t>
            </a:r>
            <a:r>
              <a:rPr sz="1050" dirty="0">
                <a:solidFill>
                  <a:srgbClr val="D9F201"/>
                </a:solidFill>
                <a:latin typeface="Courier New"/>
              </a:rPr>
              <a:t>for</a:t>
            </a:r>
            <a:r>
              <a:rPr sz="1050" dirty="0">
                <a:solidFill>
                  <a:srgbClr val="FFFFFF"/>
                </a:solidFill>
                <a:latin typeface="Courier New"/>
              </a:rPr>
              <a:t> (</a:t>
            </a:r>
            <a:r>
              <a:rPr sz="1050" dirty="0">
                <a:solidFill>
                  <a:srgbClr val="D9F201"/>
                </a:solidFill>
                <a:latin typeface="Courier New"/>
              </a:rPr>
              <a:t>int</a:t>
            </a:r>
            <a:r>
              <a:rPr sz="1050" dirty="0">
                <a:solidFill>
                  <a:srgbClr val="FFFFFF"/>
                </a:solidFill>
                <a:latin typeface="Courier New"/>
              </a:rPr>
              <a:t> k = </a:t>
            </a:r>
            <a:r>
              <a:rPr sz="1050" dirty="0">
                <a:solidFill>
                  <a:srgbClr val="35E0C8"/>
                </a:solidFill>
                <a:latin typeface="Courier New"/>
              </a:rPr>
              <a:t>0</a:t>
            </a:r>
            <a:r>
              <a:rPr sz="1050" dirty="0">
                <a:solidFill>
                  <a:srgbClr val="FFFFFF"/>
                </a:solidFill>
                <a:latin typeface="Courier New"/>
              </a:rPr>
              <a:t>; k &lt; </a:t>
            </a:r>
            <a:r>
              <a:rPr sz="1050" dirty="0">
                <a:solidFill>
                  <a:srgbClr val="35E0C8"/>
                </a:solidFill>
                <a:latin typeface="Courier New"/>
              </a:rPr>
              <a:t>1_000_000</a:t>
            </a:r>
            <a:r>
              <a:rPr sz="1050" dirty="0">
                <a:solidFill>
                  <a:srgbClr val="FFFFFF"/>
                </a:solidFill>
                <a:latin typeface="Courier New"/>
              </a:rPr>
              <a:t>; k++)</a:t>
            </a:r>
          </a:p>
          <a:p>
            <a:pPr marL="0" indent="0" algn="l">
              <a:lnSpc>
                <a:spcPts val="1400"/>
              </a:lnSpc>
              <a:buNone/>
            </a:pPr>
            <a:r>
              <a:rPr sz="1050" dirty="0">
                <a:solidFill>
                  <a:srgbClr val="FFFFFF"/>
                </a:solidFill>
                <a:latin typeface="Courier New"/>
              </a:rPr>
              <a:t>            counter++;      </a:t>
            </a:r>
            <a:r>
              <a:rPr sz="1050" dirty="0">
                <a:solidFill>
                  <a:srgbClr val="5E6357"/>
                </a:solidFill>
                <a:latin typeface="Courier New"/>
              </a:rPr>
              <a:t>// three operations, not one</a:t>
            </a:r>
          </a:p>
          <a:p>
            <a:pPr marL="0" indent="0" algn="l">
              <a:lnSpc>
                <a:spcPts val="1400"/>
              </a:lnSpc>
              <a:buNone/>
            </a:pPr>
            <a:r>
              <a:rPr sz="1050" dirty="0">
                <a:solidFill>
                  <a:srgbClr val="FFFFFF"/>
                </a:solidFill>
                <a:latin typeface="Courier New"/>
              </a:rPr>
              <a:t>    });</a:t>
            </a:r>
          </a:p>
          <a:p>
            <a:pPr marL="0" indent="0" algn="l">
              <a:lnSpc>
                <a:spcPts val="1400"/>
              </a:lnSpc>
              <a:buNone/>
            </a:pPr>
            <a:r>
              <a:rPr sz="1050" dirty="0">
                <a:solidFill>
                  <a:srgbClr val="FFFFFF"/>
                </a:solidFill>
                <a:latin typeface="Courier New"/>
              </a:rPr>
              <a:t>    threads[</a:t>
            </a:r>
            <a:r>
              <a:rPr sz="1050" dirty="0" err="1">
                <a:solidFill>
                  <a:srgbClr val="FFFFFF"/>
                </a:solidFill>
                <a:latin typeface="Courier New"/>
              </a:rPr>
              <a:t>i</a:t>
            </a:r>
            <a:r>
              <a:rPr sz="1050" dirty="0">
                <a:solidFill>
                  <a:srgbClr val="FFFFFF"/>
                </a:solidFill>
                <a:latin typeface="Courier New"/>
              </a:rPr>
              <a:t>].Start();</a:t>
            </a:r>
          </a:p>
          <a:p>
            <a:pPr marL="0" indent="0" algn="l">
              <a:lnSpc>
                <a:spcPts val="1400"/>
              </a:lnSpc>
              <a:buNone/>
            </a:pPr>
            <a:r>
              <a:rPr sz="1050" dirty="0">
                <a:solidFill>
                  <a:srgbClr val="FFFFFF"/>
                </a:solidFill>
                <a:latin typeface="Courier New"/>
              </a:rPr>
              <a:t>}</a:t>
            </a:r>
          </a:p>
          <a:p>
            <a:pPr marL="0" indent="0" algn="l">
              <a:lnSpc>
                <a:spcPts val="1400"/>
              </a:lnSpc>
              <a:buNone/>
            </a:pPr>
            <a:r>
              <a:rPr sz="1050" dirty="0">
                <a:solidFill>
                  <a:srgbClr val="D9F201"/>
                </a:solidFill>
                <a:latin typeface="Courier New"/>
              </a:rPr>
              <a:t>foreach</a:t>
            </a:r>
            <a:r>
              <a:rPr sz="1050" dirty="0">
                <a:solidFill>
                  <a:srgbClr val="FFFFFF"/>
                </a:solidFill>
                <a:latin typeface="Courier New"/>
              </a:rPr>
              <a:t> (Thread t </a:t>
            </a:r>
            <a:r>
              <a:rPr sz="1050" dirty="0">
                <a:solidFill>
                  <a:srgbClr val="D9F201"/>
                </a:solidFill>
                <a:latin typeface="Courier New"/>
              </a:rPr>
              <a:t>in</a:t>
            </a:r>
            <a:r>
              <a:rPr sz="1050" dirty="0">
                <a:solidFill>
                  <a:srgbClr val="FFFFFF"/>
                </a:solidFill>
                <a:latin typeface="Courier New"/>
              </a:rPr>
              <a:t> threads) </a:t>
            </a:r>
            <a:r>
              <a:rPr sz="1050" dirty="0" err="1">
                <a:solidFill>
                  <a:srgbClr val="FFFFFF"/>
                </a:solidFill>
                <a:latin typeface="Courier New"/>
              </a:rPr>
              <a:t>t.Join</a:t>
            </a:r>
            <a:r>
              <a:rPr sz="1050" dirty="0">
                <a:solidFill>
                  <a:srgbClr val="FFFFFF"/>
                </a:solidFill>
                <a:latin typeface="Courier New"/>
              </a:rPr>
              <a:t>();</a:t>
            </a:r>
          </a:p>
          <a:p>
            <a:pPr marL="0" indent="0" algn="l">
              <a:lnSpc>
                <a:spcPts val="1400"/>
              </a:lnSpc>
              <a:buNone/>
            </a:pPr>
            <a:endParaRPr sz="1050" dirty="0">
              <a:solidFill>
                <a:srgbClr val="FFFFFF"/>
              </a:solidFill>
              <a:latin typeface="Courier New"/>
            </a:endParaRPr>
          </a:p>
          <a:p>
            <a:pPr marL="0" indent="0" algn="l">
              <a:lnSpc>
                <a:spcPts val="1400"/>
              </a:lnSpc>
              <a:buNone/>
            </a:pPr>
            <a:r>
              <a:rPr sz="1050" dirty="0" err="1">
                <a:solidFill>
                  <a:srgbClr val="35E0C8"/>
                </a:solidFill>
                <a:latin typeface="Courier New"/>
              </a:rPr>
              <a:t>Console</a:t>
            </a:r>
            <a:r>
              <a:rPr sz="1050" dirty="0" err="1">
                <a:solidFill>
                  <a:srgbClr val="FFFFFF"/>
                </a:solidFill>
                <a:latin typeface="Courier New"/>
              </a:rPr>
              <a:t>.WriteLine</a:t>
            </a:r>
            <a:r>
              <a:rPr sz="1050" dirty="0">
                <a:solidFill>
                  <a:srgbClr val="FFFFFF"/>
                </a:solidFill>
                <a:latin typeface="Courier New"/>
              </a:rPr>
              <a:t>(counter);   </a:t>
            </a:r>
            <a:r>
              <a:rPr sz="1050" dirty="0">
                <a:solidFill>
                  <a:srgbClr val="5E6357"/>
                </a:solidFill>
                <a:latin typeface="Courier New"/>
              </a:rPr>
              <a:t>// expected: 8 000 000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pic>
        <p:nvPicPr>
          <p:cNvPr id="3" name="Image 0" descr="/home/claude/L2-02-race-steps.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DEFINITION</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Race condition</a:t>
            </a:r>
            <a:endParaRPr lang="en-US" sz="3200" dirty="0"/>
          </a:p>
        </p:txBody>
      </p:sp>
      <p:sp>
        <p:nvSpPr>
          <p:cNvPr id="16" name="Shape 13"/>
          <p:cNvSpPr/>
          <p:nvPr/>
        </p:nvSpPr>
        <p:spPr>
          <a:xfrm>
            <a:off x="566928" y="1444752"/>
            <a:ext cx="8010144" cy="1051560"/>
          </a:xfrm>
          <a:prstGeom prst="roundRect">
            <a:avLst>
              <a:gd name="adj" fmla="val 4348"/>
            </a:avLst>
          </a:prstGeom>
          <a:solidFill>
            <a:srgbClr val="141613"/>
          </a:solidFill>
          <a:ln w="19050">
            <a:solidFill>
              <a:srgbClr val="D9F201"/>
            </a:solidFill>
            <a:prstDash val="solid"/>
          </a:ln>
        </p:spPr>
        <p:txBody>
          <a:bodyPr/>
          <a:lstStyle/>
          <a:p>
            <a:endParaRPr/>
          </a:p>
        </p:txBody>
      </p:sp>
      <p:sp>
        <p:nvSpPr>
          <p:cNvPr id="17" name="Text 14"/>
          <p:cNvSpPr txBox="1"/>
          <p:nvPr/>
        </p:nvSpPr>
        <p:spPr>
          <a:xfrm>
            <a:off x="886968" y="1664208"/>
            <a:ext cx="7406640" cy="640080"/>
          </a:xfrm>
          <a:prstGeom prst="rect">
            <a:avLst/>
          </a:prstGeom>
          <a:noFill/>
          <a:ln/>
        </p:spPr>
        <p:txBody>
          <a:bodyPr wrap="square" lIns="0" tIns="0" rIns="0" bIns="0" rtlCol="0" anchor="ctr"/>
          <a:lstStyle/>
          <a:p>
            <a:pPr marL="0" indent="0">
              <a:lnSpc>
                <a:spcPts val="2600"/>
              </a:lnSpc>
              <a:buNone/>
            </a:pPr>
            <a:r>
              <a:rPr lang="en-US" sz="1900" dirty="0">
                <a:solidFill>
                  <a:srgbClr val="FFFFFF"/>
                </a:solidFill>
                <a:latin typeface="Arial" pitchFamily="34" charset="0"/>
                <a:ea typeface="Arial" pitchFamily="34" charset="-122"/>
                <a:cs typeface="Arial" pitchFamily="34" charset="-120"/>
              </a:rPr>
              <a:t>A race condition is when the correctness of a program depends on the timing of threads that nobody controls.</a:t>
            </a:r>
            <a:endParaRPr lang="en-US" sz="1900" dirty="0"/>
          </a:p>
        </p:txBody>
      </p:sp>
      <p:sp>
        <p:nvSpPr>
          <p:cNvPr id="18" name="Text 15"/>
          <p:cNvSpPr txBox="1"/>
          <p:nvPr/>
        </p:nvSpPr>
        <p:spPr>
          <a:xfrm>
            <a:off x="566928" y="2743200"/>
            <a:ext cx="8010144" cy="1463040"/>
          </a:xfrm>
          <a:prstGeom prst="rect">
            <a:avLst/>
          </a:prstGeom>
          <a:noFill/>
          <a:ln/>
        </p:spPr>
        <p:txBody>
          <a:bodyPr wrap="square" lIns="0" tIns="0" rIns="0" bIns="0" rtlCol="0" anchor="ctr"/>
          <a:lstStyle/>
          <a:p>
            <a:pPr marL="342900" indent="-342900">
              <a:lnSpc>
                <a:spcPts val="2320"/>
              </a:lnSpc>
              <a:spcAft>
                <a:spcPts val="900"/>
              </a:spcAft>
              <a:buSzPct val="100000"/>
              <a:buChar char="•"/>
            </a:pPr>
            <a:r>
              <a:rPr lang="en-US" sz="1600" dirty="0">
                <a:solidFill>
                  <a:srgbClr val="FFFFFF"/>
                </a:solidFill>
                <a:latin typeface="Arial" pitchFamily="34" charset="0"/>
                <a:ea typeface="Arial" pitchFamily="34" charset="-122"/>
                <a:cs typeface="Arial" pitchFamily="34" charset="-120"/>
              </a:rPr>
              <a:t>It needs two things: shared mutable state, and more than one thread reaching it.</a:t>
            </a:r>
            <a:endParaRPr lang="en-US" sz="1600" dirty="0"/>
          </a:p>
          <a:p>
            <a:pPr marL="342900" indent="-342900">
              <a:lnSpc>
                <a:spcPts val="2320"/>
              </a:lnSpc>
              <a:spcAft>
                <a:spcPts val="900"/>
              </a:spcAft>
              <a:buSzPct val="100000"/>
              <a:buChar char="•"/>
            </a:pPr>
            <a:r>
              <a:rPr lang="en-US" sz="1600" dirty="0">
                <a:solidFill>
                  <a:srgbClr val="FFFFFF"/>
                </a:solidFill>
                <a:latin typeface="Arial" pitchFamily="34" charset="0"/>
                <a:ea typeface="Arial" pitchFamily="34" charset="-122"/>
                <a:cs typeface="Arial" pitchFamily="34" charset="-120"/>
              </a:rPr>
              <a:t>Remove either one and the race is impossible — that is the whole of today's ladder.</a:t>
            </a:r>
            <a:endParaRPr lang="en-US" sz="1600" dirty="0"/>
          </a:p>
          <a:p>
            <a:pPr marL="342900" indent="-342900">
              <a:lnSpc>
                <a:spcPts val="2320"/>
              </a:lnSpc>
              <a:spcAft>
                <a:spcPts val="900"/>
              </a:spcAft>
              <a:buSzPct val="100000"/>
              <a:buChar char="•"/>
            </a:pPr>
            <a:r>
              <a:rPr lang="en-US" sz="1600" dirty="0">
                <a:solidFill>
                  <a:srgbClr val="FFFFFF"/>
                </a:solidFill>
                <a:latin typeface="Arial" pitchFamily="34" charset="0"/>
                <a:ea typeface="Arial" pitchFamily="34" charset="-122"/>
                <a:cs typeface="Arial" pitchFamily="34" charset="-120"/>
              </a:rPr>
              <a:t>The result is not random. It is worse than random: it is usually right.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pic>
        <p:nvPicPr>
          <p:cNvPr id="3" name="Image 0" descr="/home/claude/L2-03-tests-lie.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rot="2700000">
            <a:off x="-137160" y="-91440"/>
            <a:ext cx="23774" cy="502920"/>
          </a:xfrm>
          <a:prstGeom prst="rect">
            <a:avLst/>
          </a:prstGeom>
          <a:solidFill>
            <a:srgbClr val="FFFFFF"/>
          </a:solidFill>
          <a:ln w="12700">
            <a:solidFill>
              <a:srgbClr val="FFFFFF"/>
            </a:solidFill>
            <a:prstDash val="solid"/>
          </a:ln>
        </p:spPr>
        <p:txBody>
          <a:bodyPr/>
          <a:lstStyle/>
          <a:p>
            <a:endParaRPr/>
          </a:p>
        </p:txBody>
      </p:sp>
      <p:sp>
        <p:nvSpPr>
          <p:cNvPr id="4" name="Shape 1"/>
          <p:cNvSpPr/>
          <p:nvPr/>
        </p:nvSpPr>
        <p:spPr>
          <a:xfrm rot="2700000">
            <a:off x="-68580" y="-91440"/>
            <a:ext cx="23774" cy="502920"/>
          </a:xfrm>
          <a:prstGeom prst="rect">
            <a:avLst/>
          </a:prstGeom>
          <a:solidFill>
            <a:srgbClr val="FFFFFF"/>
          </a:solidFill>
          <a:ln w="12700">
            <a:solidFill>
              <a:srgbClr val="FFFFFF"/>
            </a:solidFill>
            <a:prstDash val="solid"/>
          </a:ln>
        </p:spPr>
        <p:txBody>
          <a:bodyPr/>
          <a:lstStyle/>
          <a:p>
            <a:endParaRPr/>
          </a:p>
        </p:txBody>
      </p:sp>
      <p:sp>
        <p:nvSpPr>
          <p:cNvPr id="5" name="Shape 2"/>
          <p:cNvSpPr/>
          <p:nvPr/>
        </p:nvSpPr>
        <p:spPr>
          <a:xfrm rot="2700000">
            <a:off x="0" y="-91440"/>
            <a:ext cx="23774" cy="502920"/>
          </a:xfrm>
          <a:prstGeom prst="rect">
            <a:avLst/>
          </a:prstGeom>
          <a:solidFill>
            <a:srgbClr val="FFFFFF"/>
          </a:solidFill>
          <a:ln w="12700">
            <a:solidFill>
              <a:srgbClr val="FFFFFF"/>
            </a:solidFill>
            <a:prstDash val="solid"/>
          </a:ln>
        </p:spPr>
        <p:txBody>
          <a:bodyPr/>
          <a:lstStyle/>
          <a:p>
            <a:endParaRPr/>
          </a:p>
        </p:txBody>
      </p:sp>
      <p:sp>
        <p:nvSpPr>
          <p:cNvPr id="6" name="Shape 3"/>
          <p:cNvSpPr/>
          <p:nvPr/>
        </p:nvSpPr>
        <p:spPr>
          <a:xfrm rot="2700000">
            <a:off x="68580" y="-91440"/>
            <a:ext cx="23774" cy="502920"/>
          </a:xfrm>
          <a:prstGeom prst="rect">
            <a:avLst/>
          </a:prstGeom>
          <a:solidFill>
            <a:srgbClr val="FFFFFF"/>
          </a:solidFill>
          <a:ln w="12700">
            <a:solidFill>
              <a:srgbClr val="FFFFFF"/>
            </a:solidFill>
            <a:prstDash val="solid"/>
          </a:ln>
        </p:spPr>
        <p:txBody>
          <a:bodyPr/>
          <a:lstStyle/>
          <a:p>
            <a:endParaRPr/>
          </a:p>
        </p:txBody>
      </p:sp>
      <p:sp>
        <p:nvSpPr>
          <p:cNvPr id="7" name="Shape 4"/>
          <p:cNvSpPr/>
          <p:nvPr/>
        </p:nvSpPr>
        <p:spPr>
          <a:xfrm rot="2700000">
            <a:off x="137160" y="-91440"/>
            <a:ext cx="23774" cy="502920"/>
          </a:xfrm>
          <a:prstGeom prst="rect">
            <a:avLst/>
          </a:prstGeom>
          <a:solidFill>
            <a:srgbClr val="FFFFFF"/>
          </a:solidFill>
          <a:ln w="12700">
            <a:solidFill>
              <a:srgbClr val="FFFFFF"/>
            </a:solidFill>
            <a:prstDash val="solid"/>
          </a:ln>
        </p:spPr>
        <p:txBody>
          <a:bodyPr/>
          <a:lstStyle/>
          <a:p>
            <a:endParaRPr/>
          </a:p>
        </p:txBody>
      </p:sp>
      <p:sp>
        <p:nvSpPr>
          <p:cNvPr id="8" name="Shape 5"/>
          <p:cNvSpPr/>
          <p:nvPr/>
        </p:nvSpPr>
        <p:spPr>
          <a:xfrm rot="2700000">
            <a:off x="205740" y="-91440"/>
            <a:ext cx="23774" cy="502920"/>
          </a:xfrm>
          <a:prstGeom prst="rect">
            <a:avLst/>
          </a:prstGeom>
          <a:solidFill>
            <a:srgbClr val="FFFFFF"/>
          </a:solidFill>
          <a:ln w="12700">
            <a:solidFill>
              <a:srgbClr val="FFFFFF"/>
            </a:solidFill>
            <a:prstDash val="solid"/>
          </a:ln>
        </p:spPr>
        <p:txBody>
          <a:bodyPr/>
          <a:lstStyle/>
          <a:p>
            <a:endParaRPr/>
          </a:p>
        </p:txBody>
      </p:sp>
      <p:sp>
        <p:nvSpPr>
          <p:cNvPr id="9" name="Shape 6"/>
          <p:cNvSpPr/>
          <p:nvPr/>
        </p:nvSpPr>
        <p:spPr>
          <a:xfrm rot="2700000">
            <a:off x="274320" y="-91440"/>
            <a:ext cx="23774" cy="502920"/>
          </a:xfrm>
          <a:prstGeom prst="rect">
            <a:avLst/>
          </a:prstGeom>
          <a:solidFill>
            <a:srgbClr val="FFFFFF"/>
          </a:solidFill>
          <a:ln w="12700">
            <a:solidFill>
              <a:srgbClr val="FFFFFF"/>
            </a:solidFill>
            <a:prstDash val="solid"/>
          </a:ln>
        </p:spPr>
        <p:txBody>
          <a:bodyPr/>
          <a:lstStyle/>
          <a:p>
            <a:endParaRPr/>
          </a:p>
        </p:txBody>
      </p:sp>
      <p:sp>
        <p:nvSpPr>
          <p:cNvPr id="10" name="Shape 7"/>
          <p:cNvSpPr/>
          <p:nvPr/>
        </p:nvSpPr>
        <p:spPr>
          <a:xfrm rot="2700000">
            <a:off x="342900" y="-91440"/>
            <a:ext cx="23774" cy="502920"/>
          </a:xfrm>
          <a:prstGeom prst="rect">
            <a:avLst/>
          </a:prstGeom>
          <a:solidFill>
            <a:srgbClr val="FFFFFF"/>
          </a:solidFill>
          <a:ln w="12700">
            <a:solidFill>
              <a:srgbClr val="FFFFFF"/>
            </a:solidFill>
            <a:prstDash val="solid"/>
          </a:ln>
        </p:spPr>
        <p:txBody>
          <a:bodyPr/>
          <a:lstStyle/>
          <a:p>
            <a:endParaRPr/>
          </a:p>
        </p:txBody>
      </p:sp>
      <p:sp>
        <p:nvSpPr>
          <p:cNvPr id="11" name="Shape 8"/>
          <p:cNvSpPr/>
          <p:nvPr/>
        </p:nvSpPr>
        <p:spPr>
          <a:xfrm rot="2700000">
            <a:off x="411480" y="-91440"/>
            <a:ext cx="23774" cy="502920"/>
          </a:xfrm>
          <a:prstGeom prst="rect">
            <a:avLst/>
          </a:prstGeom>
          <a:solidFill>
            <a:srgbClr val="FFFFFF"/>
          </a:solidFill>
          <a:ln w="12700">
            <a:solidFill>
              <a:srgbClr val="FFFFFF"/>
            </a:solidFill>
            <a:prstDash val="solid"/>
          </a:ln>
        </p:spPr>
        <p:txBody>
          <a:bodyPr/>
          <a:lstStyle/>
          <a:p>
            <a:endParaRPr/>
          </a:p>
        </p:txBody>
      </p:sp>
      <p:sp>
        <p:nvSpPr>
          <p:cNvPr id="12" name="Shape 9"/>
          <p:cNvSpPr/>
          <p:nvPr/>
        </p:nvSpPr>
        <p:spPr>
          <a:xfrm rot="2700000">
            <a:off x="480060" y="-91440"/>
            <a:ext cx="23774" cy="502920"/>
          </a:xfrm>
          <a:prstGeom prst="rect">
            <a:avLst/>
          </a:prstGeom>
          <a:solidFill>
            <a:srgbClr val="FFFFFF"/>
          </a:solidFill>
          <a:ln w="12700">
            <a:solidFill>
              <a:srgbClr val="FFFFFF"/>
            </a:solidFill>
            <a:prstDash val="solid"/>
          </a:ln>
        </p:spPr>
        <p:txBody>
          <a:bodyPr/>
          <a:lstStyle/>
          <a:p>
            <a:endParaRPr/>
          </a:p>
        </p:txBody>
      </p:sp>
      <p:sp>
        <p:nvSpPr>
          <p:cNvPr id="13" name="Shape 10"/>
          <p:cNvSpPr/>
          <p:nvPr/>
        </p:nvSpPr>
        <p:spPr>
          <a:xfrm rot="2700000">
            <a:off x="548640" y="-91440"/>
            <a:ext cx="23774" cy="502920"/>
          </a:xfrm>
          <a:prstGeom prst="rect">
            <a:avLst/>
          </a:prstGeom>
          <a:solidFill>
            <a:srgbClr val="FFFFFF"/>
          </a:solidFill>
          <a:ln w="12700">
            <a:solidFill>
              <a:srgbClr val="FFFFFF"/>
            </a:solidFill>
            <a:prstDash val="solid"/>
          </a:ln>
        </p:spPr>
        <p:txBody>
          <a:bodyPr/>
          <a:lstStyle/>
          <a:p>
            <a:endParaRPr/>
          </a:p>
        </p:txBody>
      </p:sp>
      <p:sp>
        <p:nvSpPr>
          <p:cNvPr id="14" name="Shape 11"/>
          <p:cNvSpPr/>
          <p:nvPr/>
        </p:nvSpPr>
        <p:spPr>
          <a:xfrm rot="2700000">
            <a:off x="617220" y="-91440"/>
            <a:ext cx="23774" cy="502920"/>
          </a:xfrm>
          <a:prstGeom prst="rect">
            <a:avLst/>
          </a:prstGeom>
          <a:solidFill>
            <a:srgbClr val="FFFFFF"/>
          </a:solidFill>
          <a:ln w="12700">
            <a:solidFill>
              <a:srgbClr val="FFFFFF"/>
            </a:solidFill>
            <a:prstDash val="solid"/>
          </a:ln>
        </p:spPr>
        <p:txBody>
          <a:bodyPr/>
          <a:lstStyle/>
          <a:p>
            <a:endParaRPr/>
          </a:p>
        </p:txBody>
      </p:sp>
      <p:sp>
        <p:nvSpPr>
          <p:cNvPr id="15" name="Shape 12"/>
          <p:cNvSpPr/>
          <p:nvPr/>
        </p:nvSpPr>
        <p:spPr>
          <a:xfrm rot="2700000">
            <a:off x="685800" y="-91440"/>
            <a:ext cx="23774" cy="502920"/>
          </a:xfrm>
          <a:prstGeom prst="rect">
            <a:avLst/>
          </a:prstGeom>
          <a:solidFill>
            <a:srgbClr val="FFFFFF"/>
          </a:solidFill>
          <a:ln w="12700">
            <a:solidFill>
              <a:srgbClr val="FFFFFF"/>
            </a:solidFill>
            <a:prstDash val="solid"/>
          </a:ln>
        </p:spPr>
        <p:txBody>
          <a:bodyPr/>
          <a:lstStyle/>
          <a:p>
            <a:endParaRPr/>
          </a:p>
        </p:txBody>
      </p:sp>
      <p:sp>
        <p:nvSpPr>
          <p:cNvPr id="16" name="Shape 13"/>
          <p:cNvSpPr/>
          <p:nvPr/>
        </p:nvSpPr>
        <p:spPr>
          <a:xfrm>
            <a:off x="-1463040" y="3200400"/>
            <a:ext cx="3291840" cy="3291840"/>
          </a:xfrm>
          <a:prstGeom prst="ellipse">
            <a:avLst/>
          </a:prstGeom>
          <a:solidFill>
            <a:srgbClr val="000000">
              <a:alpha val="0"/>
            </a:srgbClr>
          </a:solidFill>
          <a:ln w="12700">
            <a:solidFill>
              <a:srgbClr val="5E6357"/>
            </a:solidFill>
            <a:prstDash val="solid"/>
          </a:ln>
        </p:spPr>
        <p:txBody>
          <a:bodyPr/>
          <a:lstStyle/>
          <a:p>
            <a:endParaRPr/>
          </a:p>
        </p:txBody>
      </p:sp>
      <p:sp>
        <p:nvSpPr>
          <p:cNvPr id="17" name="Shape 14"/>
          <p:cNvSpPr/>
          <p:nvPr/>
        </p:nvSpPr>
        <p:spPr>
          <a:xfrm>
            <a:off x="-1051560" y="3611880"/>
            <a:ext cx="2468880" cy="2468880"/>
          </a:xfrm>
          <a:prstGeom prst="ellipse">
            <a:avLst/>
          </a:prstGeom>
          <a:solidFill>
            <a:srgbClr val="000000">
              <a:alpha val="0"/>
            </a:srgbClr>
          </a:solidFill>
          <a:ln w="12700">
            <a:solidFill>
              <a:srgbClr val="5E6357"/>
            </a:solidFill>
            <a:prstDash val="solid"/>
          </a:ln>
        </p:spPr>
        <p:txBody>
          <a:bodyPr/>
          <a:lstStyle/>
          <a:p>
            <a:endParaRPr/>
          </a:p>
        </p:txBody>
      </p:sp>
      <p:sp>
        <p:nvSpPr>
          <p:cNvPr id="18" name="Shape 15"/>
          <p:cNvSpPr/>
          <p:nvPr/>
        </p:nvSpPr>
        <p:spPr>
          <a:xfrm>
            <a:off x="-640080" y="4023360"/>
            <a:ext cx="1645920" cy="1645920"/>
          </a:xfrm>
          <a:prstGeom prst="ellipse">
            <a:avLst/>
          </a:prstGeom>
          <a:solidFill>
            <a:srgbClr val="000000">
              <a:alpha val="0"/>
            </a:srgbClr>
          </a:solidFill>
          <a:ln w="12700">
            <a:solidFill>
              <a:srgbClr val="5E6357"/>
            </a:solidFill>
            <a:prstDash val="solid"/>
          </a:ln>
        </p:spPr>
        <p:txBody>
          <a:bodyPr/>
          <a:lstStyle/>
          <a:p>
            <a:endParaRPr/>
          </a:p>
        </p:txBody>
      </p:sp>
      <p:sp>
        <p:nvSpPr>
          <p:cNvPr id="19" name="Shape 16"/>
          <p:cNvSpPr/>
          <p:nvPr/>
        </p:nvSpPr>
        <p:spPr>
          <a:xfrm>
            <a:off x="-228600" y="4434840"/>
            <a:ext cx="822960" cy="822960"/>
          </a:xfrm>
          <a:prstGeom prst="ellipse">
            <a:avLst/>
          </a:prstGeom>
          <a:solidFill>
            <a:srgbClr val="000000">
              <a:alpha val="0"/>
            </a:srgbClr>
          </a:solidFill>
          <a:ln w="12700">
            <a:solidFill>
              <a:srgbClr val="D9F201"/>
            </a:solidFill>
            <a:prstDash val="solid"/>
          </a:ln>
        </p:spPr>
        <p:txBody>
          <a:bodyPr/>
          <a:lstStyle/>
          <a:p>
            <a:endParaRPr/>
          </a:p>
        </p:txBody>
      </p:sp>
      <p:sp>
        <p:nvSpPr>
          <p:cNvPr id="20" name="Shape 17"/>
          <p:cNvSpPr/>
          <p:nvPr/>
        </p:nvSpPr>
        <p:spPr>
          <a:xfrm rot="5400000">
            <a:off x="8321040" y="457200"/>
            <a:ext cx="411480" cy="411480"/>
          </a:xfrm>
          <a:prstGeom prst="triangle">
            <a:avLst/>
          </a:prstGeom>
          <a:solidFill>
            <a:srgbClr val="D9F201"/>
          </a:solidFill>
          <a:ln w="12700">
            <a:solidFill>
              <a:srgbClr val="D9F201"/>
            </a:solidFill>
            <a:prstDash val="solid"/>
          </a:ln>
        </p:spPr>
        <p:txBody>
          <a:bodyPr/>
          <a:lstStyle/>
          <a:p>
            <a:endParaRPr/>
          </a:p>
        </p:txBody>
      </p:sp>
      <p:sp>
        <p:nvSpPr>
          <p:cNvPr id="21" name="Shape 18"/>
          <p:cNvSpPr/>
          <p:nvPr/>
        </p:nvSpPr>
        <p:spPr>
          <a:xfrm>
            <a:off x="8138160" y="4206240"/>
            <a:ext cx="50292" cy="50292"/>
          </a:xfrm>
          <a:prstGeom prst="ellipse">
            <a:avLst/>
          </a:prstGeom>
          <a:solidFill>
            <a:srgbClr val="5E6357"/>
          </a:solidFill>
          <a:ln w="12700">
            <a:solidFill>
              <a:srgbClr val="5E6357"/>
            </a:solidFill>
            <a:prstDash val="solid"/>
          </a:ln>
        </p:spPr>
        <p:txBody>
          <a:bodyPr/>
          <a:lstStyle/>
          <a:p>
            <a:endParaRPr/>
          </a:p>
        </p:txBody>
      </p:sp>
      <p:sp>
        <p:nvSpPr>
          <p:cNvPr id="22" name="Shape 19"/>
          <p:cNvSpPr/>
          <p:nvPr/>
        </p:nvSpPr>
        <p:spPr>
          <a:xfrm>
            <a:off x="8270748" y="4206240"/>
            <a:ext cx="50292" cy="50292"/>
          </a:xfrm>
          <a:prstGeom prst="ellipse">
            <a:avLst/>
          </a:prstGeom>
          <a:solidFill>
            <a:srgbClr val="5E6357"/>
          </a:solidFill>
          <a:ln w="12700">
            <a:solidFill>
              <a:srgbClr val="5E6357"/>
            </a:solidFill>
            <a:prstDash val="solid"/>
          </a:ln>
        </p:spPr>
        <p:txBody>
          <a:bodyPr/>
          <a:lstStyle/>
          <a:p>
            <a:endParaRPr/>
          </a:p>
        </p:txBody>
      </p:sp>
      <p:sp>
        <p:nvSpPr>
          <p:cNvPr id="23" name="Shape 20"/>
          <p:cNvSpPr/>
          <p:nvPr/>
        </p:nvSpPr>
        <p:spPr>
          <a:xfrm>
            <a:off x="8403336" y="4206240"/>
            <a:ext cx="50292" cy="50292"/>
          </a:xfrm>
          <a:prstGeom prst="ellipse">
            <a:avLst/>
          </a:prstGeom>
          <a:solidFill>
            <a:srgbClr val="5E6357"/>
          </a:solidFill>
          <a:ln w="12700">
            <a:solidFill>
              <a:srgbClr val="5E6357"/>
            </a:solidFill>
            <a:prstDash val="solid"/>
          </a:ln>
        </p:spPr>
        <p:txBody>
          <a:bodyPr/>
          <a:lstStyle/>
          <a:p>
            <a:endParaRPr/>
          </a:p>
        </p:txBody>
      </p:sp>
      <p:sp>
        <p:nvSpPr>
          <p:cNvPr id="24" name="Shape 21"/>
          <p:cNvSpPr/>
          <p:nvPr/>
        </p:nvSpPr>
        <p:spPr>
          <a:xfrm>
            <a:off x="8535924" y="4206240"/>
            <a:ext cx="50292" cy="50292"/>
          </a:xfrm>
          <a:prstGeom prst="ellipse">
            <a:avLst/>
          </a:prstGeom>
          <a:solidFill>
            <a:srgbClr val="5E6357"/>
          </a:solidFill>
          <a:ln w="12700">
            <a:solidFill>
              <a:srgbClr val="5E6357"/>
            </a:solidFill>
            <a:prstDash val="solid"/>
          </a:ln>
        </p:spPr>
        <p:txBody>
          <a:bodyPr/>
          <a:lstStyle/>
          <a:p>
            <a:endParaRPr/>
          </a:p>
        </p:txBody>
      </p:sp>
      <p:sp>
        <p:nvSpPr>
          <p:cNvPr id="25" name="Shape 22"/>
          <p:cNvSpPr/>
          <p:nvPr/>
        </p:nvSpPr>
        <p:spPr>
          <a:xfrm>
            <a:off x="8138160" y="4338828"/>
            <a:ext cx="50292" cy="50292"/>
          </a:xfrm>
          <a:prstGeom prst="ellipse">
            <a:avLst/>
          </a:prstGeom>
          <a:solidFill>
            <a:srgbClr val="5E6357"/>
          </a:solidFill>
          <a:ln w="12700">
            <a:solidFill>
              <a:srgbClr val="5E6357"/>
            </a:solidFill>
            <a:prstDash val="solid"/>
          </a:ln>
        </p:spPr>
        <p:txBody>
          <a:bodyPr/>
          <a:lstStyle/>
          <a:p>
            <a:endParaRPr/>
          </a:p>
        </p:txBody>
      </p:sp>
      <p:sp>
        <p:nvSpPr>
          <p:cNvPr id="26" name="Shape 23"/>
          <p:cNvSpPr/>
          <p:nvPr/>
        </p:nvSpPr>
        <p:spPr>
          <a:xfrm>
            <a:off x="8270748" y="4338828"/>
            <a:ext cx="50292" cy="50292"/>
          </a:xfrm>
          <a:prstGeom prst="ellipse">
            <a:avLst/>
          </a:prstGeom>
          <a:solidFill>
            <a:srgbClr val="5E6357"/>
          </a:solidFill>
          <a:ln w="12700">
            <a:solidFill>
              <a:srgbClr val="5E6357"/>
            </a:solidFill>
            <a:prstDash val="solid"/>
          </a:ln>
        </p:spPr>
        <p:txBody>
          <a:bodyPr/>
          <a:lstStyle/>
          <a:p>
            <a:endParaRPr/>
          </a:p>
        </p:txBody>
      </p:sp>
      <p:sp>
        <p:nvSpPr>
          <p:cNvPr id="27" name="Shape 24"/>
          <p:cNvSpPr/>
          <p:nvPr/>
        </p:nvSpPr>
        <p:spPr>
          <a:xfrm>
            <a:off x="8403336" y="4338828"/>
            <a:ext cx="50292" cy="50292"/>
          </a:xfrm>
          <a:prstGeom prst="ellipse">
            <a:avLst/>
          </a:prstGeom>
          <a:solidFill>
            <a:srgbClr val="5E6357"/>
          </a:solidFill>
          <a:ln w="12700">
            <a:solidFill>
              <a:srgbClr val="5E6357"/>
            </a:solidFill>
            <a:prstDash val="solid"/>
          </a:ln>
        </p:spPr>
        <p:txBody>
          <a:bodyPr/>
          <a:lstStyle/>
          <a:p>
            <a:endParaRPr/>
          </a:p>
        </p:txBody>
      </p:sp>
      <p:sp>
        <p:nvSpPr>
          <p:cNvPr id="28" name="Shape 25"/>
          <p:cNvSpPr/>
          <p:nvPr/>
        </p:nvSpPr>
        <p:spPr>
          <a:xfrm>
            <a:off x="8535924" y="4338828"/>
            <a:ext cx="50292" cy="50292"/>
          </a:xfrm>
          <a:prstGeom prst="ellipse">
            <a:avLst/>
          </a:prstGeom>
          <a:solidFill>
            <a:srgbClr val="5E6357"/>
          </a:solidFill>
          <a:ln w="12700">
            <a:solidFill>
              <a:srgbClr val="5E6357"/>
            </a:solidFill>
            <a:prstDash val="solid"/>
          </a:ln>
        </p:spPr>
        <p:txBody>
          <a:bodyPr/>
          <a:lstStyle/>
          <a:p>
            <a:endParaRPr/>
          </a:p>
        </p:txBody>
      </p:sp>
      <p:sp>
        <p:nvSpPr>
          <p:cNvPr id="29" name="Shape 26"/>
          <p:cNvSpPr/>
          <p:nvPr/>
        </p:nvSpPr>
        <p:spPr>
          <a:xfrm>
            <a:off x="8138160" y="4471416"/>
            <a:ext cx="50292" cy="50292"/>
          </a:xfrm>
          <a:prstGeom prst="ellipse">
            <a:avLst/>
          </a:prstGeom>
          <a:solidFill>
            <a:srgbClr val="5E6357"/>
          </a:solidFill>
          <a:ln w="12700">
            <a:solidFill>
              <a:srgbClr val="5E6357"/>
            </a:solidFill>
            <a:prstDash val="solid"/>
          </a:ln>
        </p:spPr>
        <p:txBody>
          <a:bodyPr/>
          <a:lstStyle/>
          <a:p>
            <a:endParaRPr/>
          </a:p>
        </p:txBody>
      </p:sp>
      <p:sp>
        <p:nvSpPr>
          <p:cNvPr id="30" name="Shape 27"/>
          <p:cNvSpPr/>
          <p:nvPr/>
        </p:nvSpPr>
        <p:spPr>
          <a:xfrm>
            <a:off x="8270748" y="4471416"/>
            <a:ext cx="50292" cy="50292"/>
          </a:xfrm>
          <a:prstGeom prst="ellipse">
            <a:avLst/>
          </a:prstGeom>
          <a:solidFill>
            <a:srgbClr val="5E6357"/>
          </a:solidFill>
          <a:ln w="12700">
            <a:solidFill>
              <a:srgbClr val="5E6357"/>
            </a:solidFill>
            <a:prstDash val="solid"/>
          </a:ln>
        </p:spPr>
        <p:txBody>
          <a:bodyPr/>
          <a:lstStyle/>
          <a:p>
            <a:endParaRPr/>
          </a:p>
        </p:txBody>
      </p:sp>
      <p:sp>
        <p:nvSpPr>
          <p:cNvPr id="31" name="Shape 28"/>
          <p:cNvSpPr/>
          <p:nvPr/>
        </p:nvSpPr>
        <p:spPr>
          <a:xfrm>
            <a:off x="8403336" y="4471416"/>
            <a:ext cx="50292" cy="50292"/>
          </a:xfrm>
          <a:prstGeom prst="ellipse">
            <a:avLst/>
          </a:prstGeom>
          <a:solidFill>
            <a:srgbClr val="5E6357"/>
          </a:solidFill>
          <a:ln w="12700">
            <a:solidFill>
              <a:srgbClr val="5E6357"/>
            </a:solidFill>
            <a:prstDash val="solid"/>
          </a:ln>
        </p:spPr>
        <p:txBody>
          <a:bodyPr/>
          <a:lstStyle/>
          <a:p>
            <a:endParaRPr/>
          </a:p>
        </p:txBody>
      </p:sp>
      <p:sp>
        <p:nvSpPr>
          <p:cNvPr id="32" name="Shape 29"/>
          <p:cNvSpPr/>
          <p:nvPr/>
        </p:nvSpPr>
        <p:spPr>
          <a:xfrm>
            <a:off x="8535924" y="4471416"/>
            <a:ext cx="50292" cy="50292"/>
          </a:xfrm>
          <a:prstGeom prst="ellipse">
            <a:avLst/>
          </a:prstGeom>
          <a:solidFill>
            <a:srgbClr val="5E6357"/>
          </a:solidFill>
          <a:ln w="12700">
            <a:solidFill>
              <a:srgbClr val="5E6357"/>
            </a:solidFill>
            <a:prstDash val="solid"/>
          </a:ln>
        </p:spPr>
        <p:txBody>
          <a:bodyPr/>
          <a:lstStyle/>
          <a:p>
            <a:endParaRPr/>
          </a:p>
        </p:txBody>
      </p:sp>
      <p:sp>
        <p:nvSpPr>
          <p:cNvPr id="33" name="Text 30"/>
          <p:cNvSpPr txBox="1"/>
          <p:nvPr/>
        </p:nvSpPr>
        <p:spPr>
          <a:xfrm>
            <a:off x="566928" y="1600200"/>
            <a:ext cx="2011680" cy="1371600"/>
          </a:xfrm>
          <a:prstGeom prst="rect">
            <a:avLst/>
          </a:prstGeom>
          <a:noFill/>
          <a:ln/>
        </p:spPr>
        <p:txBody>
          <a:bodyPr wrap="square" lIns="0" tIns="0" rIns="0" bIns="0" rtlCol="0" anchor="ctr"/>
          <a:lstStyle/>
          <a:p>
            <a:pPr marL="0" indent="0">
              <a:buNone/>
            </a:pPr>
            <a:r>
              <a:rPr lang="en-US" sz="9600" b="1" dirty="0">
                <a:solidFill>
                  <a:srgbClr val="D9F201"/>
                </a:solidFill>
                <a:latin typeface="Arial" pitchFamily="34" charset="0"/>
                <a:ea typeface="Arial" pitchFamily="34" charset="-122"/>
                <a:cs typeface="Arial" pitchFamily="34" charset="-120"/>
              </a:rPr>
              <a:t>02</a:t>
            </a:r>
            <a:endParaRPr lang="en-US" sz="9600" dirty="0"/>
          </a:p>
        </p:txBody>
      </p:sp>
      <p:sp>
        <p:nvSpPr>
          <p:cNvPr id="34" name="Text 31"/>
          <p:cNvSpPr txBox="1"/>
          <p:nvPr/>
        </p:nvSpPr>
        <p:spPr>
          <a:xfrm>
            <a:off x="2514600" y="1874520"/>
            <a:ext cx="5760720" cy="68580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The ladder of fixes</a:t>
            </a:r>
            <a:endParaRPr lang="en-US" sz="3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a:effectLst/>
      </p:bgPr>
    </p:bg>
    <p:spTree>
      <p:nvGrpSpPr>
        <p:cNvPr id="1" name=""/>
        <p:cNvGrpSpPr/>
        <p:nvPr/>
      </p:nvGrpSpPr>
      <p:grpSpPr>
        <a:xfrm>
          <a:off x="0" y="0"/>
          <a:ext cx="0" cy="0"/>
          <a:chOff x="0" y="0"/>
          <a:chExt cx="0" cy="0"/>
        </a:xfrm>
      </p:grpSpPr>
      <p:pic>
        <p:nvPicPr>
          <p:cNvPr id="3" name="Image 0" descr="/home/claude/L2-04-ladder.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STEP 1</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Don't share</a:t>
            </a:r>
            <a:endParaRPr lang="en-US" sz="3200" dirty="0"/>
          </a:p>
        </p:txBody>
      </p:sp>
      <p:sp>
        <p:nvSpPr>
          <p:cNvPr id="16" name="Shape 13"/>
          <p:cNvSpPr/>
          <p:nvPr/>
        </p:nvSpPr>
        <p:spPr>
          <a:xfrm>
            <a:off x="566928" y="1444752"/>
            <a:ext cx="8010144" cy="2651760"/>
          </a:xfrm>
          <a:prstGeom prst="roundRect">
            <a:avLst>
              <a:gd name="adj" fmla="val 1724"/>
            </a:avLst>
          </a:prstGeom>
          <a:solidFill>
            <a:srgbClr val="141613"/>
          </a:solidFill>
          <a:ln w="12700">
            <a:solidFill>
              <a:srgbClr val="1F231B"/>
            </a:solidFill>
            <a:prstDash val="solid"/>
          </a:ln>
        </p:spPr>
        <p:txBody>
          <a:bodyPr/>
          <a:lstStyle/>
          <a:p>
            <a:endParaRPr/>
          </a:p>
        </p:txBody>
      </p:sp>
      <p:sp>
        <p:nvSpPr>
          <p:cNvPr id="17" name="Text 14"/>
          <p:cNvSpPr txBox="1"/>
          <p:nvPr/>
        </p:nvSpPr>
        <p:spPr>
          <a:xfrm>
            <a:off x="822960" y="1627632"/>
            <a:ext cx="7498080" cy="2331720"/>
          </a:xfrm>
          <a:prstGeom prst="rect">
            <a:avLst/>
          </a:prstGeom>
          <a:noFill/>
          <a:ln/>
        </p:spPr>
        <p:txBody>
          <a:bodyPr wrap="square" lIns="0" tIns="0" rIns="0" bIns="0" rtlCol="0" anchor="t"/>
          <a:lstStyle/>
          <a:p>
            <a:pPr marL="0" indent="0">
              <a:lnSpc>
                <a:spcPts val="1800"/>
              </a:lnSpc>
              <a:buNone/>
            </a:pPr>
            <a:r>
              <a:rPr lang="en-US" sz="1350" dirty="0">
                <a:solidFill>
                  <a:srgbClr val="5E6357"/>
                </a:solidFill>
                <a:latin typeface="Courier New" pitchFamily="34" charset="0"/>
                <a:ea typeface="Courier New" pitchFamily="34" charset="-122"/>
                <a:cs typeface="Courier New" pitchFamily="34" charset="-120"/>
              </a:rPr>
              <a:t>// one slot per thread - nobody writes where anybody else writes</a:t>
            </a:r>
            <a:endParaRPr lang="en-US" sz="1350" dirty="0"/>
          </a:p>
          <a:p>
            <a:pPr marL="0" indent="0">
              <a:lnSpc>
                <a:spcPts val="1800"/>
              </a:lnSpc>
              <a:buNone/>
            </a:pPr>
            <a:r>
              <a:rPr lang="en-US" sz="1350" dirty="0">
                <a:solidFill>
                  <a:srgbClr val="D9F201"/>
                </a:solidFill>
                <a:latin typeface="Courier New" pitchFamily="34" charset="0"/>
                <a:ea typeface="Courier New" pitchFamily="34" charset="-122"/>
                <a:cs typeface="Courier New" pitchFamily="34" charset="-120"/>
              </a:rPr>
              <a:t>int</a:t>
            </a:r>
            <a:r>
              <a:rPr lang="en-US" sz="1350" dirty="0">
                <a:solidFill>
                  <a:srgbClr val="FFFFFF"/>
                </a:solidFill>
                <a:latin typeface="Courier New" pitchFamily="34" charset="0"/>
                <a:ea typeface="Courier New" pitchFamily="34" charset="-122"/>
                <a:cs typeface="Courier New" pitchFamily="34" charset="-120"/>
              </a:rPr>
              <a:t>[] counts = </a:t>
            </a:r>
            <a:r>
              <a:rPr lang="en-US" sz="1350" dirty="0">
                <a:solidFill>
                  <a:srgbClr val="D9F201"/>
                </a:solidFill>
                <a:latin typeface="Courier New" pitchFamily="34" charset="0"/>
                <a:ea typeface="Courier New" pitchFamily="34" charset="-122"/>
                <a:cs typeface="Courier New" pitchFamily="34" charset="-120"/>
              </a:rPr>
              <a:t>new</a:t>
            </a:r>
            <a:r>
              <a:rPr lang="en-US" sz="1350" dirty="0">
                <a:solidFill>
                  <a:srgbClr val="FFFFFF"/>
                </a:solidFill>
                <a:latin typeface="Courier New" pitchFamily="34" charset="0"/>
                <a:ea typeface="Courier New" pitchFamily="34" charset="-122"/>
                <a:cs typeface="Courier New" pitchFamily="34" charset="-120"/>
              </a:rPr>
              <a:t> </a:t>
            </a:r>
            <a:r>
              <a:rPr lang="en-US" sz="1350" dirty="0">
                <a:solidFill>
                  <a:srgbClr val="D9F201"/>
                </a:solidFill>
                <a:latin typeface="Courier New" pitchFamily="34" charset="0"/>
                <a:ea typeface="Courier New" pitchFamily="34" charset="-122"/>
                <a:cs typeface="Courier New" pitchFamily="34" charset="-120"/>
              </a:rPr>
              <a:t>int</a:t>
            </a:r>
            <a:r>
              <a:rPr lang="en-US" sz="1350" dirty="0">
                <a:solidFill>
                  <a:srgbClr val="FFFFFF"/>
                </a:solidFill>
                <a:latin typeface="Courier New" pitchFamily="34" charset="0"/>
                <a:ea typeface="Courier New" pitchFamily="34" charset="-122"/>
                <a:cs typeface="Courier New" pitchFamily="34" charset="-120"/>
              </a:rPr>
              <a:t>[threadCount];</a:t>
            </a:r>
            <a:endParaRPr lang="en-US" sz="1350" dirty="0"/>
          </a:p>
          <a:p>
            <a:pPr marL="0" indent="0">
              <a:lnSpc>
                <a:spcPts val="1800"/>
              </a:lnSpc>
              <a:buNone/>
            </a:pPr>
            <a:endParaRPr lang="en-US" sz="1350" dirty="0"/>
          </a:p>
          <a:p>
            <a:pPr marL="0" indent="0">
              <a:lnSpc>
                <a:spcPts val="1800"/>
              </a:lnSpc>
              <a:buNone/>
            </a:pPr>
            <a:r>
              <a:rPr lang="en-US" sz="1350" dirty="0">
                <a:solidFill>
                  <a:srgbClr val="D9F201"/>
                </a:solidFill>
                <a:latin typeface="Courier New" pitchFamily="34" charset="0"/>
                <a:ea typeface="Courier New" pitchFamily="34" charset="-122"/>
                <a:cs typeface="Courier New" pitchFamily="34" charset="-120"/>
              </a:rPr>
              <a:t>for</a:t>
            </a:r>
            <a:r>
              <a:rPr lang="en-US" sz="1350" dirty="0">
                <a:solidFill>
                  <a:srgbClr val="FFFFFF"/>
                </a:solidFill>
                <a:latin typeface="Courier New" pitchFamily="34" charset="0"/>
                <a:ea typeface="Courier New" pitchFamily="34" charset="-122"/>
                <a:cs typeface="Courier New" pitchFamily="34" charset="-120"/>
              </a:rPr>
              <a:t> (</a:t>
            </a:r>
            <a:r>
              <a:rPr lang="en-US" sz="1350" dirty="0">
                <a:solidFill>
                  <a:srgbClr val="D9F201"/>
                </a:solidFill>
                <a:latin typeface="Courier New" pitchFamily="34" charset="0"/>
                <a:ea typeface="Courier New" pitchFamily="34" charset="-122"/>
                <a:cs typeface="Courier New" pitchFamily="34" charset="-120"/>
              </a:rPr>
              <a:t>int</a:t>
            </a:r>
            <a:r>
              <a:rPr lang="en-US" sz="1350" dirty="0">
                <a:solidFill>
                  <a:srgbClr val="FFFFFF"/>
                </a:solidFill>
                <a:latin typeface="Courier New" pitchFamily="34" charset="0"/>
                <a:ea typeface="Courier New" pitchFamily="34" charset="-122"/>
                <a:cs typeface="Courier New" pitchFamily="34" charset="-120"/>
              </a:rPr>
              <a:t> i = </a:t>
            </a:r>
            <a:r>
              <a:rPr lang="en-US" sz="1350" dirty="0">
                <a:solidFill>
                  <a:srgbClr val="35E0C8"/>
                </a:solidFill>
                <a:latin typeface="Courier New" pitchFamily="34" charset="0"/>
                <a:ea typeface="Courier New" pitchFamily="34" charset="-122"/>
                <a:cs typeface="Courier New" pitchFamily="34" charset="-120"/>
              </a:rPr>
              <a:t>0</a:t>
            </a:r>
            <a:r>
              <a:rPr lang="en-US" sz="1350" dirty="0">
                <a:solidFill>
                  <a:srgbClr val="FFFFFF"/>
                </a:solidFill>
                <a:latin typeface="Courier New" pitchFamily="34" charset="0"/>
                <a:ea typeface="Courier New" pitchFamily="34" charset="-122"/>
                <a:cs typeface="Courier New" pitchFamily="34" charset="-120"/>
              </a:rPr>
              <a:t>; i &lt; threadCount; i++)</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    </a:t>
            </a:r>
            <a:r>
              <a:rPr lang="en-US" sz="1350" dirty="0">
                <a:solidFill>
                  <a:srgbClr val="D9F201"/>
                </a:solidFill>
                <a:latin typeface="Courier New" pitchFamily="34" charset="0"/>
                <a:ea typeface="Courier New" pitchFamily="34" charset="-122"/>
                <a:cs typeface="Courier New" pitchFamily="34" charset="-120"/>
              </a:rPr>
              <a:t>int</a:t>
            </a:r>
            <a:r>
              <a:rPr lang="en-US" sz="1350" dirty="0">
                <a:solidFill>
                  <a:srgbClr val="FFFFFF"/>
                </a:solidFill>
                <a:latin typeface="Courier New" pitchFamily="34" charset="0"/>
                <a:ea typeface="Courier New" pitchFamily="34" charset="-122"/>
                <a:cs typeface="Courier New" pitchFamily="34" charset="-120"/>
              </a:rPr>
              <a:t> index = i;</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    threads[i] = </a:t>
            </a:r>
            <a:r>
              <a:rPr lang="en-US" sz="1350" dirty="0">
                <a:solidFill>
                  <a:srgbClr val="D9F201"/>
                </a:solidFill>
                <a:latin typeface="Courier New" pitchFamily="34" charset="0"/>
                <a:ea typeface="Courier New" pitchFamily="34" charset="-122"/>
                <a:cs typeface="Courier New" pitchFamily="34" charset="-120"/>
              </a:rPr>
              <a:t>new</a:t>
            </a:r>
            <a:r>
              <a:rPr lang="en-US" sz="1350" dirty="0">
                <a:solidFill>
                  <a:srgbClr val="FFFFFF"/>
                </a:solidFill>
                <a:latin typeface="Courier New" pitchFamily="34" charset="0"/>
                <a:ea typeface="Courier New" pitchFamily="34" charset="-122"/>
                <a:cs typeface="Courier New" pitchFamily="34" charset="-120"/>
              </a:rPr>
              <a:t> Thread(() =&gt; counts[index] = Count(...));</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a:t>
            </a:r>
            <a:endParaRPr lang="en-US" sz="1350" dirty="0"/>
          </a:p>
          <a:p>
            <a:pPr marL="0" indent="0">
              <a:lnSpc>
                <a:spcPts val="1800"/>
              </a:lnSpc>
              <a:buNone/>
            </a:pPr>
            <a:endParaRPr lang="en-US" sz="1350" dirty="0"/>
          </a:p>
          <a:p>
            <a:pPr marL="0" indent="0">
              <a:lnSpc>
                <a:spcPts val="1800"/>
              </a:lnSpc>
              <a:buNone/>
            </a:pPr>
            <a:r>
              <a:rPr lang="en-US" sz="1350" dirty="0">
                <a:solidFill>
                  <a:srgbClr val="D9F201"/>
                </a:solidFill>
                <a:latin typeface="Courier New" pitchFamily="34" charset="0"/>
                <a:ea typeface="Courier New" pitchFamily="34" charset="-122"/>
                <a:cs typeface="Courier New" pitchFamily="34" charset="-120"/>
              </a:rPr>
              <a:t>int</a:t>
            </a:r>
            <a:r>
              <a:rPr lang="en-US" sz="1350" dirty="0">
                <a:solidFill>
                  <a:srgbClr val="FFFFFF"/>
                </a:solidFill>
                <a:latin typeface="Courier New" pitchFamily="34" charset="0"/>
                <a:ea typeface="Courier New" pitchFamily="34" charset="-122"/>
                <a:cs typeface="Courier New" pitchFamily="34" charset="-120"/>
              </a:rPr>
              <a:t> total = counts.</a:t>
            </a:r>
            <a:r>
              <a:rPr lang="en-US" sz="1350" dirty="0">
                <a:solidFill>
                  <a:srgbClr val="35E0C8"/>
                </a:solidFill>
                <a:latin typeface="Courier New" pitchFamily="34" charset="0"/>
                <a:ea typeface="Courier New" pitchFamily="34" charset="-122"/>
                <a:cs typeface="Courier New" pitchFamily="34" charset="-120"/>
              </a:rPr>
              <a:t>Sum</a:t>
            </a:r>
            <a:r>
              <a:rPr lang="en-US" sz="1350" dirty="0">
                <a:solidFill>
                  <a:srgbClr val="FFFFFF"/>
                </a:solidFill>
                <a:latin typeface="Courier New" pitchFamily="34" charset="0"/>
                <a:ea typeface="Courier New" pitchFamily="34" charset="-122"/>
                <a:cs typeface="Courier New" pitchFamily="34" charset="-120"/>
              </a:rPr>
              <a:t>();   </a:t>
            </a:r>
            <a:r>
              <a:rPr lang="en-US" sz="1350" dirty="0">
                <a:solidFill>
                  <a:srgbClr val="5E6357"/>
                </a:solidFill>
                <a:latin typeface="Courier New" pitchFamily="34" charset="0"/>
                <a:ea typeface="Courier New" pitchFamily="34" charset="-122"/>
                <a:cs typeface="Courier New" pitchFamily="34" charset="-120"/>
              </a:rPr>
              <a:t>// safe only after Join</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STEP 2</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Make it immutable</a:t>
            </a:r>
            <a:endParaRPr lang="en-US" sz="3200" dirty="0"/>
          </a:p>
        </p:txBody>
      </p:sp>
      <p:sp>
        <p:nvSpPr>
          <p:cNvPr id="16" name="Shape 13"/>
          <p:cNvSpPr/>
          <p:nvPr/>
        </p:nvSpPr>
        <p:spPr>
          <a:xfrm>
            <a:off x="566928" y="1444752"/>
            <a:ext cx="8010144" cy="2924810"/>
          </a:xfrm>
          <a:prstGeom prst="roundRect">
            <a:avLst>
              <a:gd name="adj" fmla="val 1724"/>
            </a:avLst>
          </a:prstGeom>
          <a:solidFill>
            <a:srgbClr val="141613"/>
          </a:solidFill>
          <a:ln w="12700">
            <a:solidFill>
              <a:srgbClr val="1F231B"/>
            </a:solidFill>
            <a:prstDash val="solid"/>
          </a:ln>
        </p:spPr>
        <p:txBody>
          <a:bodyPr/>
          <a:lstStyle/>
          <a:p>
            <a:endParaRPr/>
          </a:p>
        </p:txBody>
      </p:sp>
      <p:sp>
        <p:nvSpPr>
          <p:cNvPr id="17" name="TextBox 16"/>
          <p:cNvSpPr txBox="1"/>
          <p:nvPr/>
        </p:nvSpPr>
        <p:spPr>
          <a:xfrm>
            <a:off x="822960" y="1627632"/>
            <a:ext cx="7498080" cy="2559050"/>
          </a:xfrm>
          <a:prstGeom prst="rect">
            <a:avLst/>
          </a:prstGeom>
          <a:noFill/>
        </p:spPr>
        <p:txBody>
          <a:bodyPr wrap="square" lIns="0" tIns="0" rIns="0" bIns="0" rtlCol="0" anchor="t"/>
          <a:lstStyle/>
          <a:p>
            <a:pPr marL="0" indent="0" algn="l">
              <a:lnSpc>
                <a:spcPts val="1550"/>
              </a:lnSpc>
              <a:buNone/>
            </a:pPr>
            <a:r>
              <a:rPr sz="1100" dirty="0">
                <a:solidFill>
                  <a:srgbClr val="D9F201"/>
                </a:solidFill>
                <a:latin typeface="Courier New"/>
              </a:rPr>
              <a:t>class</a:t>
            </a:r>
            <a:r>
              <a:rPr sz="1100" dirty="0">
                <a:solidFill>
                  <a:srgbClr val="FFFFFF"/>
                </a:solidFill>
                <a:latin typeface="Courier New"/>
              </a:rPr>
              <a:t> </a:t>
            </a:r>
            <a:r>
              <a:rPr sz="1100" dirty="0">
                <a:solidFill>
                  <a:srgbClr val="35E0C8"/>
                </a:solidFill>
                <a:latin typeface="Courier New"/>
              </a:rPr>
              <a:t>Reading</a:t>
            </a:r>
            <a:r>
              <a:rPr sz="1100" dirty="0">
                <a:solidFill>
                  <a:srgbClr val="FFFFFF"/>
                </a:solidFill>
                <a:latin typeface="Courier New"/>
              </a:rPr>
              <a:t>            </a:t>
            </a:r>
            <a:r>
              <a:rPr sz="1100" dirty="0">
                <a:solidFill>
                  <a:srgbClr val="5E6357"/>
                </a:solidFill>
                <a:latin typeface="Courier New"/>
              </a:rPr>
              <a:t>// nothing here can change</a:t>
            </a:r>
          </a:p>
          <a:p>
            <a:pPr marL="0" indent="0" algn="l">
              <a:lnSpc>
                <a:spcPts val="1550"/>
              </a:lnSpc>
              <a:buNone/>
            </a:pPr>
            <a:r>
              <a:rPr sz="1100" dirty="0">
                <a:solidFill>
                  <a:srgbClr val="FFFFFF"/>
                </a:solidFill>
                <a:latin typeface="Courier New"/>
              </a:rPr>
              <a:t>{</a:t>
            </a:r>
          </a:p>
          <a:p>
            <a:pPr marL="0" indent="0" algn="l">
              <a:lnSpc>
                <a:spcPts val="1550"/>
              </a:lnSpc>
              <a:buNone/>
            </a:pPr>
            <a:r>
              <a:rPr sz="1100" dirty="0">
                <a:solidFill>
                  <a:srgbClr val="FFFFFF"/>
                </a:solidFill>
                <a:latin typeface="Courier New"/>
              </a:rPr>
              <a:t>    </a:t>
            </a:r>
            <a:r>
              <a:rPr sz="1100" dirty="0">
                <a:solidFill>
                  <a:srgbClr val="D9F201"/>
                </a:solidFill>
                <a:latin typeface="Courier New"/>
              </a:rPr>
              <a:t>public</a:t>
            </a:r>
            <a:r>
              <a:rPr sz="1100" dirty="0">
                <a:solidFill>
                  <a:srgbClr val="FFFFFF"/>
                </a:solidFill>
                <a:latin typeface="Courier New"/>
              </a:rPr>
              <a:t> </a:t>
            </a:r>
            <a:r>
              <a:rPr sz="1100" dirty="0">
                <a:solidFill>
                  <a:srgbClr val="D9F201"/>
                </a:solidFill>
                <a:latin typeface="Courier New"/>
              </a:rPr>
              <a:t>string</a:t>
            </a:r>
            <a:r>
              <a:rPr sz="1100" dirty="0">
                <a:solidFill>
                  <a:srgbClr val="FFFFFF"/>
                </a:solidFill>
                <a:latin typeface="Courier New"/>
              </a:rPr>
              <a:t> Sensor { </a:t>
            </a:r>
            <a:r>
              <a:rPr sz="1100" dirty="0">
                <a:solidFill>
                  <a:srgbClr val="D9F201"/>
                </a:solidFill>
                <a:latin typeface="Courier New"/>
              </a:rPr>
              <a:t>get</a:t>
            </a:r>
            <a:r>
              <a:rPr sz="1100" dirty="0">
                <a:solidFill>
                  <a:srgbClr val="FFFFFF"/>
                </a:solidFill>
                <a:latin typeface="Courier New"/>
              </a:rPr>
              <a:t>; }   </a:t>
            </a:r>
            <a:r>
              <a:rPr sz="1100" dirty="0">
                <a:solidFill>
                  <a:srgbClr val="5E6357"/>
                </a:solidFill>
                <a:latin typeface="Courier New"/>
              </a:rPr>
              <a:t>// no setter</a:t>
            </a:r>
          </a:p>
          <a:p>
            <a:pPr>
              <a:lnSpc>
                <a:spcPts val="1550"/>
              </a:lnSpc>
            </a:pPr>
            <a:r>
              <a:rPr sz="1100" dirty="0">
                <a:solidFill>
                  <a:srgbClr val="FFFFFF"/>
                </a:solidFill>
                <a:latin typeface="Courier New"/>
              </a:rPr>
              <a:t>    </a:t>
            </a:r>
            <a:r>
              <a:rPr sz="1100" dirty="0">
                <a:solidFill>
                  <a:srgbClr val="D9F201"/>
                </a:solidFill>
                <a:latin typeface="Courier New"/>
              </a:rPr>
              <a:t>public</a:t>
            </a:r>
            <a:r>
              <a:rPr sz="1100" dirty="0">
                <a:solidFill>
                  <a:srgbClr val="FFFFFF"/>
                </a:solidFill>
                <a:latin typeface="Courier New"/>
              </a:rPr>
              <a:t> </a:t>
            </a:r>
            <a:r>
              <a:rPr sz="1100" dirty="0">
                <a:solidFill>
                  <a:srgbClr val="D9F201"/>
                </a:solidFill>
                <a:latin typeface="Courier New"/>
              </a:rPr>
              <a:t>double</a:t>
            </a:r>
            <a:r>
              <a:rPr sz="1100" dirty="0">
                <a:solidFill>
                  <a:srgbClr val="FFFFFF"/>
                </a:solidFill>
                <a:latin typeface="Courier New"/>
              </a:rPr>
              <a:t> Value  { </a:t>
            </a:r>
            <a:r>
              <a:rPr sz="1100" dirty="0">
                <a:solidFill>
                  <a:srgbClr val="D9F201"/>
                </a:solidFill>
                <a:latin typeface="Courier New"/>
              </a:rPr>
              <a:t>get</a:t>
            </a:r>
            <a:r>
              <a:rPr sz="1100" dirty="0">
                <a:solidFill>
                  <a:srgbClr val="FFFFFF"/>
                </a:solidFill>
                <a:latin typeface="Courier New"/>
              </a:rPr>
              <a:t>; }</a:t>
            </a:r>
            <a:r>
              <a:rPr lang="ro-RO" sz="1100" dirty="0">
                <a:solidFill>
                  <a:srgbClr val="FFFFFF"/>
                </a:solidFill>
                <a:latin typeface="Courier New"/>
              </a:rPr>
              <a:t>   </a:t>
            </a:r>
            <a:r>
              <a:rPr lang="en-GB" sz="1100" dirty="0">
                <a:solidFill>
                  <a:srgbClr val="5E6357"/>
                </a:solidFill>
                <a:latin typeface="Courier New"/>
              </a:rPr>
              <a:t>// no setter</a:t>
            </a:r>
            <a:endParaRPr sz="1100" dirty="0">
              <a:solidFill>
                <a:srgbClr val="FFFFFF"/>
              </a:solidFill>
              <a:latin typeface="Courier New"/>
            </a:endParaRPr>
          </a:p>
          <a:p>
            <a:pPr marL="0" indent="0" algn="l">
              <a:lnSpc>
                <a:spcPts val="1550"/>
              </a:lnSpc>
              <a:buNone/>
            </a:pPr>
            <a:endParaRPr sz="1100" dirty="0">
              <a:solidFill>
                <a:srgbClr val="FFFFFF"/>
              </a:solidFill>
              <a:latin typeface="Courier New"/>
            </a:endParaRPr>
          </a:p>
          <a:p>
            <a:pPr marL="0" indent="0" algn="l">
              <a:lnSpc>
                <a:spcPts val="1550"/>
              </a:lnSpc>
              <a:buNone/>
            </a:pPr>
            <a:r>
              <a:rPr sz="1100" dirty="0">
                <a:solidFill>
                  <a:srgbClr val="FFFFFF"/>
                </a:solidFill>
                <a:latin typeface="Courier New"/>
              </a:rPr>
              <a:t>    </a:t>
            </a:r>
            <a:r>
              <a:rPr sz="1100" dirty="0">
                <a:solidFill>
                  <a:srgbClr val="D9F201"/>
                </a:solidFill>
                <a:latin typeface="Courier New"/>
              </a:rPr>
              <a:t>public</a:t>
            </a:r>
            <a:r>
              <a:rPr sz="1100" dirty="0">
                <a:solidFill>
                  <a:srgbClr val="FFFFFF"/>
                </a:solidFill>
                <a:latin typeface="Courier New"/>
              </a:rPr>
              <a:t> Reading(</a:t>
            </a:r>
            <a:r>
              <a:rPr sz="1100" dirty="0">
                <a:solidFill>
                  <a:srgbClr val="D9F201"/>
                </a:solidFill>
                <a:latin typeface="Courier New"/>
              </a:rPr>
              <a:t>string</a:t>
            </a:r>
            <a:r>
              <a:rPr sz="1100" dirty="0">
                <a:solidFill>
                  <a:srgbClr val="FFFFFF"/>
                </a:solidFill>
                <a:latin typeface="Courier New"/>
              </a:rPr>
              <a:t> sensor, </a:t>
            </a:r>
            <a:r>
              <a:rPr sz="1100" dirty="0">
                <a:solidFill>
                  <a:srgbClr val="D9F201"/>
                </a:solidFill>
                <a:latin typeface="Courier New"/>
              </a:rPr>
              <a:t>double</a:t>
            </a:r>
            <a:r>
              <a:rPr sz="1100" dirty="0">
                <a:solidFill>
                  <a:srgbClr val="FFFFFF"/>
                </a:solidFill>
                <a:latin typeface="Courier New"/>
              </a:rPr>
              <a:t> value)</a:t>
            </a:r>
          </a:p>
          <a:p>
            <a:pPr marL="0" indent="0" algn="l">
              <a:lnSpc>
                <a:spcPts val="1550"/>
              </a:lnSpc>
              <a:buNone/>
            </a:pPr>
            <a:r>
              <a:rPr sz="1100" dirty="0">
                <a:solidFill>
                  <a:srgbClr val="FFFFFF"/>
                </a:solidFill>
                <a:latin typeface="Courier New"/>
              </a:rPr>
              <a:t>    {</a:t>
            </a:r>
          </a:p>
          <a:p>
            <a:pPr marL="0" indent="0" algn="l">
              <a:lnSpc>
                <a:spcPts val="1550"/>
              </a:lnSpc>
              <a:buNone/>
            </a:pPr>
            <a:r>
              <a:rPr sz="1100" dirty="0">
                <a:solidFill>
                  <a:srgbClr val="FFFFFF"/>
                </a:solidFill>
                <a:latin typeface="Courier New"/>
              </a:rPr>
              <a:t>        Sensor = sensor;</a:t>
            </a:r>
          </a:p>
          <a:p>
            <a:pPr marL="0" indent="0" algn="l">
              <a:lnSpc>
                <a:spcPts val="1550"/>
              </a:lnSpc>
              <a:buNone/>
            </a:pPr>
            <a:r>
              <a:rPr sz="1100" dirty="0">
                <a:solidFill>
                  <a:srgbClr val="FFFFFF"/>
                </a:solidFill>
                <a:latin typeface="Courier New"/>
              </a:rPr>
              <a:t>        Value  = value;</a:t>
            </a:r>
          </a:p>
          <a:p>
            <a:pPr marL="0" indent="0" algn="l">
              <a:lnSpc>
                <a:spcPts val="1550"/>
              </a:lnSpc>
              <a:buNone/>
            </a:pPr>
            <a:r>
              <a:rPr sz="1100" dirty="0">
                <a:solidFill>
                  <a:srgbClr val="FFFFFF"/>
                </a:solidFill>
                <a:latin typeface="Courier New"/>
              </a:rPr>
              <a:t>    }</a:t>
            </a:r>
          </a:p>
          <a:p>
            <a:pPr marL="0" indent="0" algn="l">
              <a:lnSpc>
                <a:spcPts val="1550"/>
              </a:lnSpc>
              <a:buNone/>
            </a:pPr>
            <a:r>
              <a:rPr sz="1100" dirty="0">
                <a:solidFill>
                  <a:srgbClr val="FFFFFF"/>
                </a:solidFill>
                <a:latin typeface="Courier New"/>
              </a:rPr>
              <a:t>}</a:t>
            </a:r>
          </a:p>
          <a:p>
            <a:pPr marL="0" indent="0" algn="l">
              <a:lnSpc>
                <a:spcPts val="1550"/>
              </a:lnSpc>
              <a:buNone/>
            </a:pPr>
            <a:r>
              <a:rPr sz="1100" dirty="0">
                <a:solidFill>
                  <a:srgbClr val="5E6357"/>
                </a:solidFill>
                <a:latin typeface="Courier New"/>
              </a:rPr>
              <a:t>// set once in the constructor, frozen afterwards - any</a:t>
            </a:r>
          </a:p>
          <a:p>
            <a:pPr marL="0" indent="0" algn="l">
              <a:lnSpc>
                <a:spcPts val="1550"/>
              </a:lnSpc>
              <a:buNone/>
            </a:pPr>
            <a:r>
              <a:rPr sz="1100" dirty="0">
                <a:solidFill>
                  <a:srgbClr val="5E6357"/>
                </a:solidFill>
                <a:latin typeface="Courier New"/>
              </a:rPr>
              <a:t>// number of threads may read it at the same time.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STEP 3</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Interlocked — one variable, atomically</a:t>
            </a:r>
            <a:endParaRPr lang="en-US" sz="3200" dirty="0"/>
          </a:p>
        </p:txBody>
      </p:sp>
      <p:sp>
        <p:nvSpPr>
          <p:cNvPr id="16" name="Shape 13"/>
          <p:cNvSpPr/>
          <p:nvPr/>
        </p:nvSpPr>
        <p:spPr>
          <a:xfrm>
            <a:off x="566928" y="1444752"/>
            <a:ext cx="8010144" cy="2651760"/>
          </a:xfrm>
          <a:prstGeom prst="roundRect">
            <a:avLst>
              <a:gd name="adj" fmla="val 1724"/>
            </a:avLst>
          </a:prstGeom>
          <a:solidFill>
            <a:srgbClr val="141613"/>
          </a:solidFill>
          <a:ln w="12700">
            <a:solidFill>
              <a:srgbClr val="1F231B"/>
            </a:solidFill>
            <a:prstDash val="solid"/>
          </a:ln>
        </p:spPr>
        <p:txBody>
          <a:bodyPr/>
          <a:lstStyle/>
          <a:p>
            <a:endParaRPr/>
          </a:p>
        </p:txBody>
      </p:sp>
      <p:sp>
        <p:nvSpPr>
          <p:cNvPr id="17" name="Text 14"/>
          <p:cNvSpPr txBox="1"/>
          <p:nvPr/>
        </p:nvSpPr>
        <p:spPr>
          <a:xfrm>
            <a:off x="822960" y="1627632"/>
            <a:ext cx="7498080" cy="2331720"/>
          </a:xfrm>
          <a:prstGeom prst="rect">
            <a:avLst/>
          </a:prstGeom>
          <a:noFill/>
          <a:ln/>
        </p:spPr>
        <p:txBody>
          <a:bodyPr wrap="square" lIns="0" tIns="0" rIns="0" bIns="0" rtlCol="0" anchor="t"/>
          <a:lstStyle/>
          <a:p>
            <a:pPr marL="0" indent="0">
              <a:lnSpc>
                <a:spcPts val="1800"/>
              </a:lnSpc>
              <a:buNone/>
            </a:pPr>
            <a:r>
              <a:rPr lang="en-US" sz="1350" dirty="0">
                <a:solidFill>
                  <a:srgbClr val="5E6357"/>
                </a:solidFill>
                <a:latin typeface="Courier New" pitchFamily="34" charset="0"/>
                <a:ea typeface="Courier New" pitchFamily="34" charset="-122"/>
                <a:cs typeface="Courier New" pitchFamily="34" charset="-120"/>
              </a:rPr>
              <a:t>// the hardware does read-modify-write as ONE step</a:t>
            </a:r>
            <a:endParaRPr lang="en-US" sz="1350" dirty="0"/>
          </a:p>
          <a:p>
            <a:pPr marL="0" indent="0">
              <a:lnSpc>
                <a:spcPts val="1800"/>
              </a:lnSpc>
              <a:buNone/>
            </a:pPr>
            <a:r>
              <a:rPr lang="en-US" sz="1350" dirty="0">
                <a:solidFill>
                  <a:srgbClr val="35E0C8"/>
                </a:solidFill>
                <a:latin typeface="Courier New" pitchFamily="34" charset="0"/>
                <a:ea typeface="Courier New" pitchFamily="34" charset="-122"/>
                <a:cs typeface="Courier New" pitchFamily="34" charset="-120"/>
              </a:rPr>
              <a:t>Interlocked</a:t>
            </a:r>
            <a:r>
              <a:rPr lang="en-US" sz="1350" dirty="0">
                <a:solidFill>
                  <a:srgbClr val="FFFFFF"/>
                </a:solidFill>
                <a:latin typeface="Courier New" pitchFamily="34" charset="0"/>
                <a:ea typeface="Courier New" pitchFamily="34" charset="-122"/>
                <a:cs typeface="Courier New" pitchFamily="34" charset="-120"/>
              </a:rPr>
              <a:t>.</a:t>
            </a:r>
            <a:r>
              <a:rPr lang="en-US" sz="1350" dirty="0">
                <a:solidFill>
                  <a:srgbClr val="35E0C8"/>
                </a:solidFill>
                <a:latin typeface="Courier New" pitchFamily="34" charset="0"/>
                <a:ea typeface="Courier New" pitchFamily="34" charset="-122"/>
                <a:cs typeface="Courier New" pitchFamily="34" charset="-120"/>
              </a:rPr>
              <a:t>Increment</a:t>
            </a:r>
            <a:r>
              <a:rPr lang="en-US" sz="1350" dirty="0">
                <a:solidFill>
                  <a:srgbClr val="FFFFFF"/>
                </a:solidFill>
                <a:latin typeface="Courier New" pitchFamily="34" charset="0"/>
                <a:ea typeface="Courier New" pitchFamily="34" charset="-122"/>
                <a:cs typeface="Courier New" pitchFamily="34" charset="-120"/>
              </a:rPr>
              <a:t>(</a:t>
            </a:r>
            <a:r>
              <a:rPr lang="en-US" sz="1350" dirty="0">
                <a:solidFill>
                  <a:srgbClr val="D9F201"/>
                </a:solidFill>
                <a:latin typeface="Courier New" pitchFamily="34" charset="0"/>
                <a:ea typeface="Courier New" pitchFamily="34" charset="-122"/>
                <a:cs typeface="Courier New" pitchFamily="34" charset="-120"/>
              </a:rPr>
              <a:t>ref</a:t>
            </a:r>
            <a:r>
              <a:rPr lang="en-US" sz="1350" dirty="0">
                <a:solidFill>
                  <a:srgbClr val="FFFFFF"/>
                </a:solidFill>
                <a:latin typeface="Courier New" pitchFamily="34" charset="0"/>
                <a:ea typeface="Courier New" pitchFamily="34" charset="-122"/>
                <a:cs typeface="Courier New" pitchFamily="34" charset="-120"/>
              </a:rPr>
              <a:t> counter);</a:t>
            </a:r>
            <a:endParaRPr lang="en-US" sz="1350" dirty="0"/>
          </a:p>
          <a:p>
            <a:pPr marL="0" indent="0">
              <a:lnSpc>
                <a:spcPts val="1800"/>
              </a:lnSpc>
              <a:buNone/>
            </a:pPr>
            <a:endParaRPr lang="en-US" sz="1350" dirty="0"/>
          </a:p>
          <a:p>
            <a:pPr marL="0" indent="0">
              <a:lnSpc>
                <a:spcPts val="1800"/>
              </a:lnSpc>
              <a:buNone/>
            </a:pPr>
            <a:r>
              <a:rPr lang="en-US" sz="1350" dirty="0">
                <a:solidFill>
                  <a:srgbClr val="35E0C8"/>
                </a:solidFill>
                <a:latin typeface="Courier New" pitchFamily="34" charset="0"/>
                <a:ea typeface="Courier New" pitchFamily="34" charset="-122"/>
                <a:cs typeface="Courier New" pitchFamily="34" charset="-120"/>
              </a:rPr>
              <a:t>Interlocked</a:t>
            </a:r>
            <a:r>
              <a:rPr lang="en-US" sz="1350" dirty="0">
                <a:solidFill>
                  <a:srgbClr val="FFFFFF"/>
                </a:solidFill>
                <a:latin typeface="Courier New" pitchFamily="34" charset="0"/>
                <a:ea typeface="Courier New" pitchFamily="34" charset="-122"/>
                <a:cs typeface="Courier New" pitchFamily="34" charset="-120"/>
              </a:rPr>
              <a:t>.</a:t>
            </a:r>
            <a:r>
              <a:rPr lang="en-US" sz="1350" dirty="0">
                <a:solidFill>
                  <a:srgbClr val="35E0C8"/>
                </a:solidFill>
                <a:latin typeface="Courier New" pitchFamily="34" charset="0"/>
                <a:ea typeface="Courier New" pitchFamily="34" charset="-122"/>
                <a:cs typeface="Courier New" pitchFamily="34" charset="-120"/>
              </a:rPr>
              <a:t>Add</a:t>
            </a:r>
            <a:r>
              <a:rPr lang="en-US" sz="1350" dirty="0">
                <a:solidFill>
                  <a:srgbClr val="FFFFFF"/>
                </a:solidFill>
                <a:latin typeface="Courier New" pitchFamily="34" charset="0"/>
                <a:ea typeface="Courier New" pitchFamily="34" charset="-122"/>
                <a:cs typeface="Courier New" pitchFamily="34" charset="-120"/>
              </a:rPr>
              <a:t>(</a:t>
            </a:r>
            <a:r>
              <a:rPr lang="en-US" sz="1350" dirty="0">
                <a:solidFill>
                  <a:srgbClr val="D9F201"/>
                </a:solidFill>
                <a:latin typeface="Courier New" pitchFamily="34" charset="0"/>
                <a:ea typeface="Courier New" pitchFamily="34" charset="-122"/>
                <a:cs typeface="Courier New" pitchFamily="34" charset="-120"/>
              </a:rPr>
              <a:t>ref</a:t>
            </a:r>
            <a:r>
              <a:rPr lang="en-US" sz="1350" dirty="0">
                <a:solidFill>
                  <a:srgbClr val="FFFFFF"/>
                </a:solidFill>
                <a:latin typeface="Courier New" pitchFamily="34" charset="0"/>
                <a:ea typeface="Courier New" pitchFamily="34" charset="-122"/>
                <a:cs typeface="Courier New" pitchFamily="34" charset="-120"/>
              </a:rPr>
              <a:t> total, </a:t>
            </a:r>
            <a:r>
              <a:rPr lang="en-US" sz="1350" dirty="0">
                <a:solidFill>
                  <a:srgbClr val="35E0C8"/>
                </a:solidFill>
                <a:latin typeface="Courier New" pitchFamily="34" charset="0"/>
                <a:ea typeface="Courier New" pitchFamily="34" charset="-122"/>
                <a:cs typeface="Courier New" pitchFamily="34" charset="-120"/>
              </a:rPr>
              <a:t>42</a:t>
            </a:r>
            <a:r>
              <a:rPr lang="en-US" sz="1350" dirty="0">
                <a:solidFill>
                  <a:srgbClr val="FFFFFF"/>
                </a:solidFill>
                <a:latin typeface="Courier New" pitchFamily="34" charset="0"/>
                <a:ea typeface="Courier New" pitchFamily="34" charset="-122"/>
                <a:cs typeface="Courier New" pitchFamily="34" charset="-120"/>
              </a:rPr>
              <a:t>);</a:t>
            </a:r>
            <a:endParaRPr lang="en-US" sz="1350" dirty="0"/>
          </a:p>
          <a:p>
            <a:pPr marL="0" indent="0">
              <a:lnSpc>
                <a:spcPts val="1800"/>
              </a:lnSpc>
              <a:buNone/>
            </a:pPr>
            <a:r>
              <a:rPr lang="en-US" sz="1350" dirty="0">
                <a:solidFill>
                  <a:srgbClr val="35E0C8"/>
                </a:solidFill>
                <a:latin typeface="Courier New" pitchFamily="34" charset="0"/>
                <a:ea typeface="Courier New" pitchFamily="34" charset="-122"/>
                <a:cs typeface="Courier New" pitchFamily="34" charset="-120"/>
              </a:rPr>
              <a:t>Interlocked</a:t>
            </a:r>
            <a:r>
              <a:rPr lang="en-US" sz="1350" dirty="0">
                <a:solidFill>
                  <a:srgbClr val="FFFFFF"/>
                </a:solidFill>
                <a:latin typeface="Courier New" pitchFamily="34" charset="0"/>
                <a:ea typeface="Courier New" pitchFamily="34" charset="-122"/>
                <a:cs typeface="Courier New" pitchFamily="34" charset="-120"/>
              </a:rPr>
              <a:t>.</a:t>
            </a:r>
            <a:r>
              <a:rPr lang="en-US" sz="1350" dirty="0">
                <a:solidFill>
                  <a:srgbClr val="35E0C8"/>
                </a:solidFill>
                <a:latin typeface="Courier New" pitchFamily="34" charset="0"/>
                <a:ea typeface="Courier New" pitchFamily="34" charset="-122"/>
                <a:cs typeface="Courier New" pitchFamily="34" charset="-120"/>
              </a:rPr>
              <a:t>Exchange</a:t>
            </a:r>
            <a:r>
              <a:rPr lang="en-US" sz="1350" dirty="0">
                <a:solidFill>
                  <a:srgbClr val="FFFFFF"/>
                </a:solidFill>
                <a:latin typeface="Courier New" pitchFamily="34" charset="0"/>
                <a:ea typeface="Courier New" pitchFamily="34" charset="-122"/>
                <a:cs typeface="Courier New" pitchFamily="34" charset="-120"/>
              </a:rPr>
              <a:t>(</a:t>
            </a:r>
            <a:r>
              <a:rPr lang="en-US" sz="1350" dirty="0">
                <a:solidFill>
                  <a:srgbClr val="D9F201"/>
                </a:solidFill>
                <a:latin typeface="Courier New" pitchFamily="34" charset="0"/>
                <a:ea typeface="Courier New" pitchFamily="34" charset="-122"/>
                <a:cs typeface="Courier New" pitchFamily="34" charset="-120"/>
              </a:rPr>
              <a:t>ref</a:t>
            </a:r>
            <a:r>
              <a:rPr lang="en-US" sz="1350" dirty="0">
                <a:solidFill>
                  <a:srgbClr val="FFFFFF"/>
                </a:solidFill>
                <a:latin typeface="Courier New" pitchFamily="34" charset="0"/>
                <a:ea typeface="Courier New" pitchFamily="34" charset="-122"/>
                <a:cs typeface="Courier New" pitchFamily="34" charset="-120"/>
              </a:rPr>
              <a:t> flag, </a:t>
            </a:r>
            <a:r>
              <a:rPr lang="en-US" sz="1350" dirty="0">
                <a:solidFill>
                  <a:srgbClr val="35E0C8"/>
                </a:solidFill>
                <a:latin typeface="Courier New" pitchFamily="34" charset="0"/>
                <a:ea typeface="Courier New" pitchFamily="34" charset="-122"/>
                <a:cs typeface="Courier New" pitchFamily="34" charset="-120"/>
              </a:rPr>
              <a:t>1</a:t>
            </a:r>
            <a:r>
              <a:rPr lang="en-US" sz="1350" dirty="0">
                <a:solidFill>
                  <a:srgbClr val="FFFFFF"/>
                </a:solidFill>
                <a:latin typeface="Courier New" pitchFamily="34" charset="0"/>
                <a:ea typeface="Courier New" pitchFamily="34" charset="-122"/>
                <a:cs typeface="Courier New" pitchFamily="34" charset="-120"/>
              </a:rPr>
              <a:t>);</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STEP 4</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lock — a whole section of code</a:t>
            </a:r>
            <a:endParaRPr lang="en-US" sz="3200" dirty="0"/>
          </a:p>
        </p:txBody>
      </p:sp>
      <p:sp>
        <p:nvSpPr>
          <p:cNvPr id="16" name="Shape 13"/>
          <p:cNvSpPr/>
          <p:nvPr/>
        </p:nvSpPr>
        <p:spPr>
          <a:xfrm>
            <a:off x="566928" y="1444752"/>
            <a:ext cx="8010144" cy="2651760"/>
          </a:xfrm>
          <a:prstGeom prst="roundRect">
            <a:avLst>
              <a:gd name="adj" fmla="val 1724"/>
            </a:avLst>
          </a:prstGeom>
          <a:solidFill>
            <a:srgbClr val="141613"/>
          </a:solidFill>
          <a:ln w="12700">
            <a:solidFill>
              <a:srgbClr val="1F231B"/>
            </a:solidFill>
            <a:prstDash val="solid"/>
          </a:ln>
        </p:spPr>
        <p:txBody>
          <a:bodyPr/>
          <a:lstStyle/>
          <a:p>
            <a:endParaRPr/>
          </a:p>
        </p:txBody>
      </p:sp>
      <p:sp>
        <p:nvSpPr>
          <p:cNvPr id="17" name="Text 14"/>
          <p:cNvSpPr txBox="1"/>
          <p:nvPr/>
        </p:nvSpPr>
        <p:spPr>
          <a:xfrm>
            <a:off x="822960" y="1627632"/>
            <a:ext cx="7498080" cy="2331720"/>
          </a:xfrm>
          <a:prstGeom prst="rect">
            <a:avLst/>
          </a:prstGeom>
          <a:noFill/>
          <a:ln/>
        </p:spPr>
        <p:txBody>
          <a:bodyPr wrap="square" lIns="0" tIns="0" rIns="0" bIns="0" rtlCol="0" anchor="t"/>
          <a:lstStyle/>
          <a:p>
            <a:pPr marL="0" indent="0">
              <a:lnSpc>
                <a:spcPts val="1800"/>
              </a:lnSpc>
              <a:buNone/>
            </a:pPr>
            <a:r>
              <a:rPr lang="en-US" sz="1350" dirty="0">
                <a:solidFill>
                  <a:srgbClr val="D9F201"/>
                </a:solidFill>
                <a:latin typeface="Courier New" pitchFamily="34" charset="0"/>
                <a:ea typeface="Courier New" pitchFamily="34" charset="-122"/>
                <a:cs typeface="Courier New" pitchFamily="34" charset="-120"/>
              </a:rPr>
              <a:t>private</a:t>
            </a:r>
            <a:r>
              <a:rPr lang="en-US" sz="1350" dirty="0">
                <a:solidFill>
                  <a:srgbClr val="FFFFFF"/>
                </a:solidFill>
                <a:latin typeface="Courier New" pitchFamily="34" charset="0"/>
                <a:ea typeface="Courier New" pitchFamily="34" charset="-122"/>
                <a:cs typeface="Courier New" pitchFamily="34" charset="-120"/>
              </a:rPr>
              <a:t> </a:t>
            </a:r>
            <a:r>
              <a:rPr lang="en-US" sz="1350" dirty="0">
                <a:solidFill>
                  <a:srgbClr val="D9F201"/>
                </a:solidFill>
                <a:latin typeface="Courier New" pitchFamily="34" charset="0"/>
                <a:ea typeface="Courier New" pitchFamily="34" charset="-122"/>
                <a:cs typeface="Courier New" pitchFamily="34" charset="-120"/>
              </a:rPr>
              <a:t>readonly</a:t>
            </a:r>
            <a:r>
              <a:rPr lang="en-US" sz="1350" dirty="0">
                <a:solidFill>
                  <a:srgbClr val="FFFFFF"/>
                </a:solidFill>
                <a:latin typeface="Courier New" pitchFamily="34" charset="0"/>
                <a:ea typeface="Courier New" pitchFamily="34" charset="-122"/>
                <a:cs typeface="Courier New" pitchFamily="34" charset="-120"/>
              </a:rPr>
              <a:t> </a:t>
            </a:r>
            <a:r>
              <a:rPr lang="en-US" sz="1350" dirty="0">
                <a:solidFill>
                  <a:srgbClr val="D9F201"/>
                </a:solidFill>
                <a:latin typeface="Courier New" pitchFamily="34" charset="0"/>
                <a:ea typeface="Courier New" pitchFamily="34" charset="-122"/>
                <a:cs typeface="Courier New" pitchFamily="34" charset="-120"/>
              </a:rPr>
              <a:t>object</a:t>
            </a:r>
            <a:r>
              <a:rPr lang="en-US" sz="1350" dirty="0">
                <a:solidFill>
                  <a:srgbClr val="FFFFFF"/>
                </a:solidFill>
                <a:latin typeface="Courier New" pitchFamily="34" charset="0"/>
                <a:ea typeface="Courier New" pitchFamily="34" charset="-122"/>
                <a:cs typeface="Courier New" pitchFamily="34" charset="-120"/>
              </a:rPr>
              <a:t> _gate = </a:t>
            </a:r>
            <a:r>
              <a:rPr lang="en-US" sz="1350" dirty="0">
                <a:solidFill>
                  <a:srgbClr val="D9F201"/>
                </a:solidFill>
                <a:latin typeface="Courier New" pitchFamily="34" charset="0"/>
                <a:ea typeface="Courier New" pitchFamily="34" charset="-122"/>
                <a:cs typeface="Courier New" pitchFamily="34" charset="-120"/>
              </a:rPr>
              <a:t>new</a:t>
            </a:r>
            <a:r>
              <a:rPr lang="en-US" sz="1350" dirty="0">
                <a:solidFill>
                  <a:srgbClr val="FFFFFF"/>
                </a:solidFill>
                <a:latin typeface="Courier New" pitchFamily="34" charset="0"/>
                <a:ea typeface="Courier New" pitchFamily="34" charset="-122"/>
                <a:cs typeface="Courier New" pitchFamily="34" charset="-120"/>
              </a:rPr>
              <a:t>();</a:t>
            </a:r>
            <a:endParaRPr lang="en-US" sz="1350" dirty="0"/>
          </a:p>
          <a:p>
            <a:pPr marL="0" indent="0">
              <a:lnSpc>
                <a:spcPts val="1800"/>
              </a:lnSpc>
              <a:buNone/>
            </a:pPr>
            <a:endParaRPr lang="en-US" sz="1350" dirty="0"/>
          </a:p>
          <a:p>
            <a:pPr marL="0" indent="0">
              <a:lnSpc>
                <a:spcPts val="1800"/>
              </a:lnSpc>
              <a:buNone/>
            </a:pPr>
            <a:r>
              <a:rPr lang="en-US" sz="1350" dirty="0">
                <a:solidFill>
                  <a:srgbClr val="D9F201"/>
                </a:solidFill>
                <a:latin typeface="Courier New" pitchFamily="34" charset="0"/>
                <a:ea typeface="Courier New" pitchFamily="34" charset="-122"/>
                <a:cs typeface="Courier New" pitchFamily="34" charset="-120"/>
              </a:rPr>
              <a:t>lock</a:t>
            </a:r>
            <a:r>
              <a:rPr lang="en-US" sz="1350" dirty="0">
                <a:solidFill>
                  <a:srgbClr val="FFFFFF"/>
                </a:solidFill>
                <a:latin typeface="Courier New" pitchFamily="34" charset="0"/>
                <a:ea typeface="Courier New" pitchFamily="34" charset="-122"/>
                <a:cs typeface="Courier New" pitchFamily="34" charset="-120"/>
              </a:rPr>
              <a:t> (_gate)</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    </a:t>
            </a:r>
            <a:r>
              <a:rPr lang="en-US" sz="1350" dirty="0">
                <a:solidFill>
                  <a:srgbClr val="5E6357"/>
                </a:solidFill>
                <a:latin typeface="Courier New" pitchFamily="34" charset="0"/>
                <a:ea typeface="Courier New" pitchFamily="34" charset="-122"/>
                <a:cs typeface="Courier New" pitchFamily="34" charset="-120"/>
              </a:rPr>
              <a:t>// one thread in here at a time. Everyone else waits.</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    balance -= amount;</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    history.</a:t>
            </a:r>
            <a:r>
              <a:rPr lang="en-US" sz="1350" dirty="0">
                <a:solidFill>
                  <a:srgbClr val="35E0C8"/>
                </a:solidFill>
                <a:latin typeface="Courier New" pitchFamily="34" charset="0"/>
                <a:ea typeface="Courier New" pitchFamily="34" charset="-122"/>
                <a:cs typeface="Courier New" pitchFamily="34" charset="-120"/>
              </a:rPr>
              <a:t>Add</a:t>
            </a:r>
            <a:r>
              <a:rPr lang="en-US" sz="1350" dirty="0">
                <a:solidFill>
                  <a:srgbClr val="FFFFFF"/>
                </a:solidFill>
                <a:latin typeface="Courier New" pitchFamily="34" charset="0"/>
                <a:ea typeface="Courier New" pitchFamily="34" charset="-122"/>
                <a:cs typeface="Courier New" pitchFamily="34" charset="-120"/>
              </a:rPr>
              <a:t>(transaction);</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a:t>
            </a:r>
            <a:endParaRPr lang="en-US" sz="1350" dirty="0"/>
          </a:p>
          <a:p>
            <a:pPr marL="0" indent="0">
              <a:lnSpc>
                <a:spcPts val="1800"/>
              </a:lnSpc>
              <a:buNone/>
            </a:pPr>
            <a:r>
              <a:rPr lang="en-US" sz="1350" dirty="0">
                <a:solidFill>
                  <a:srgbClr val="5E6357"/>
                </a:solidFill>
                <a:latin typeface="Courier New" pitchFamily="34" charset="0"/>
                <a:ea typeface="Courier New" pitchFamily="34" charset="-122"/>
                <a:cs typeface="Courier New" pitchFamily="34" charset="-120"/>
              </a:rPr>
              <a:t>// two operations that must happen together -</a:t>
            </a:r>
            <a:endParaRPr lang="en-US" sz="1350" dirty="0"/>
          </a:p>
          <a:p>
            <a:pPr marL="0" indent="0">
              <a:lnSpc>
                <a:spcPts val="1800"/>
              </a:lnSpc>
              <a:buNone/>
            </a:pPr>
            <a:r>
              <a:rPr lang="en-US" sz="1350" dirty="0">
                <a:solidFill>
                  <a:srgbClr val="5E6357"/>
                </a:solidFill>
                <a:latin typeface="Courier New" pitchFamily="34" charset="0"/>
                <a:ea typeface="Courier New" pitchFamily="34" charset="-122"/>
                <a:cs typeface="Courier New" pitchFamily="34" charset="-120"/>
              </a:rPr>
              <a:t>// Interlocked cannot do this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STEP 4</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Four rules for lock</a:t>
            </a:r>
            <a:endParaRPr lang="en-US" sz="3200" dirty="0"/>
          </a:p>
        </p:txBody>
      </p:sp>
      <p:sp>
        <p:nvSpPr>
          <p:cNvPr id="16" name="Shape 13"/>
          <p:cNvSpPr/>
          <p:nvPr/>
        </p:nvSpPr>
        <p:spPr>
          <a:xfrm>
            <a:off x="566928" y="1481328"/>
            <a:ext cx="45720" cy="548640"/>
          </a:xfrm>
          <a:prstGeom prst="rect">
            <a:avLst/>
          </a:prstGeom>
          <a:solidFill>
            <a:srgbClr val="D9F201"/>
          </a:solidFill>
          <a:ln w="12700">
            <a:solidFill>
              <a:srgbClr val="D9F201"/>
            </a:solidFill>
            <a:prstDash val="solid"/>
          </a:ln>
        </p:spPr>
        <p:txBody>
          <a:bodyPr/>
          <a:lstStyle/>
          <a:p>
            <a:endParaRPr/>
          </a:p>
        </p:txBody>
      </p:sp>
      <p:sp>
        <p:nvSpPr>
          <p:cNvPr id="17" name="Text 14"/>
          <p:cNvSpPr txBox="1"/>
          <p:nvPr/>
        </p:nvSpPr>
        <p:spPr>
          <a:xfrm>
            <a:off x="768096" y="1481328"/>
            <a:ext cx="7772400" cy="27432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1. Lock on a private, readonly object.</a:t>
            </a:r>
            <a:endParaRPr lang="en-US" sz="1600" dirty="0"/>
          </a:p>
        </p:txBody>
      </p:sp>
      <p:sp>
        <p:nvSpPr>
          <p:cNvPr id="18" name="Text 15"/>
          <p:cNvSpPr txBox="1"/>
          <p:nvPr/>
        </p:nvSpPr>
        <p:spPr>
          <a:xfrm>
            <a:off x="768096" y="1746504"/>
            <a:ext cx="7772400" cy="274320"/>
          </a:xfrm>
          <a:prstGeom prst="rect">
            <a:avLst/>
          </a:prstGeom>
          <a:noFill/>
          <a:ln/>
        </p:spPr>
        <p:txBody>
          <a:bodyPr wrap="square" lIns="0" tIns="0" rIns="0" bIns="0" rtlCol="0" anchor="ctr"/>
          <a:lstStyle/>
          <a:p>
            <a:pPr marL="0" indent="0">
              <a:buNone/>
            </a:pPr>
            <a:r>
              <a:rPr lang="en-US" sz="1300" dirty="0">
                <a:solidFill>
                  <a:srgbClr val="9AA095"/>
                </a:solidFill>
                <a:latin typeface="Arial" pitchFamily="34" charset="0"/>
                <a:ea typeface="Arial" pitchFamily="34" charset="-122"/>
                <a:cs typeface="Arial" pitchFamily="34" charset="-120"/>
              </a:rPr>
              <a:t>Never lock(this) and never lock a string — anyone else can lock it too.</a:t>
            </a:r>
            <a:endParaRPr lang="en-US" sz="1300" dirty="0"/>
          </a:p>
        </p:txBody>
      </p:sp>
      <p:sp>
        <p:nvSpPr>
          <p:cNvPr id="19" name="Shape 16"/>
          <p:cNvSpPr/>
          <p:nvPr/>
        </p:nvSpPr>
        <p:spPr>
          <a:xfrm>
            <a:off x="566928" y="2194560"/>
            <a:ext cx="45720" cy="548640"/>
          </a:xfrm>
          <a:prstGeom prst="rect">
            <a:avLst/>
          </a:prstGeom>
          <a:solidFill>
            <a:srgbClr val="D9F201"/>
          </a:solidFill>
          <a:ln w="12700">
            <a:solidFill>
              <a:srgbClr val="D9F201"/>
            </a:solidFill>
            <a:prstDash val="solid"/>
          </a:ln>
        </p:spPr>
        <p:txBody>
          <a:bodyPr/>
          <a:lstStyle/>
          <a:p>
            <a:endParaRPr/>
          </a:p>
        </p:txBody>
      </p:sp>
      <p:sp>
        <p:nvSpPr>
          <p:cNvPr id="20" name="Text 17"/>
          <p:cNvSpPr txBox="1"/>
          <p:nvPr/>
        </p:nvSpPr>
        <p:spPr>
          <a:xfrm>
            <a:off x="768096" y="2194560"/>
            <a:ext cx="7772400" cy="27432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2. Hold it for as short a time as possible.</a:t>
            </a:r>
            <a:endParaRPr lang="en-US" sz="1600" dirty="0"/>
          </a:p>
        </p:txBody>
      </p:sp>
      <p:sp>
        <p:nvSpPr>
          <p:cNvPr id="21" name="Text 18"/>
          <p:cNvSpPr txBox="1"/>
          <p:nvPr/>
        </p:nvSpPr>
        <p:spPr>
          <a:xfrm>
            <a:off x="768096" y="2459736"/>
            <a:ext cx="7772400" cy="274320"/>
          </a:xfrm>
          <a:prstGeom prst="rect">
            <a:avLst/>
          </a:prstGeom>
          <a:noFill/>
          <a:ln/>
        </p:spPr>
        <p:txBody>
          <a:bodyPr wrap="square" lIns="0" tIns="0" rIns="0" bIns="0" rtlCol="0" anchor="ctr"/>
          <a:lstStyle/>
          <a:p>
            <a:pPr marL="0" indent="0">
              <a:buNone/>
            </a:pPr>
            <a:r>
              <a:rPr lang="en-US" sz="1300" dirty="0">
                <a:solidFill>
                  <a:srgbClr val="9AA095"/>
                </a:solidFill>
                <a:latin typeface="Arial" pitchFamily="34" charset="0"/>
                <a:ea typeface="Arial" pitchFamily="34" charset="-122"/>
                <a:cs typeface="Arial" pitchFamily="34" charset="-120"/>
              </a:rPr>
              <a:t>The lock is a queue. Everything inside it is single-threaded again.</a:t>
            </a:r>
            <a:endParaRPr lang="en-US" sz="1300" dirty="0"/>
          </a:p>
        </p:txBody>
      </p:sp>
      <p:sp>
        <p:nvSpPr>
          <p:cNvPr id="22" name="Shape 19"/>
          <p:cNvSpPr/>
          <p:nvPr/>
        </p:nvSpPr>
        <p:spPr>
          <a:xfrm>
            <a:off x="566928" y="2907792"/>
            <a:ext cx="45720" cy="548640"/>
          </a:xfrm>
          <a:prstGeom prst="rect">
            <a:avLst/>
          </a:prstGeom>
          <a:solidFill>
            <a:srgbClr val="D9F201"/>
          </a:solidFill>
          <a:ln w="12700">
            <a:solidFill>
              <a:srgbClr val="D9F201"/>
            </a:solidFill>
            <a:prstDash val="solid"/>
          </a:ln>
        </p:spPr>
        <p:txBody>
          <a:bodyPr/>
          <a:lstStyle/>
          <a:p>
            <a:endParaRPr/>
          </a:p>
        </p:txBody>
      </p:sp>
      <p:sp>
        <p:nvSpPr>
          <p:cNvPr id="23" name="Text 20"/>
          <p:cNvSpPr txBox="1"/>
          <p:nvPr/>
        </p:nvSpPr>
        <p:spPr>
          <a:xfrm>
            <a:off x="768096" y="2907792"/>
            <a:ext cx="7772400" cy="27432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3. Never do I/O inside a lock.</a:t>
            </a:r>
            <a:endParaRPr lang="en-US" sz="1600" dirty="0"/>
          </a:p>
        </p:txBody>
      </p:sp>
      <p:sp>
        <p:nvSpPr>
          <p:cNvPr id="24" name="Text 21"/>
          <p:cNvSpPr txBox="1"/>
          <p:nvPr/>
        </p:nvSpPr>
        <p:spPr>
          <a:xfrm>
            <a:off x="768096" y="3172968"/>
            <a:ext cx="7772400" cy="274320"/>
          </a:xfrm>
          <a:prstGeom prst="rect">
            <a:avLst/>
          </a:prstGeom>
          <a:noFill/>
          <a:ln/>
        </p:spPr>
        <p:txBody>
          <a:bodyPr wrap="square" lIns="0" tIns="0" rIns="0" bIns="0" rtlCol="0" anchor="ctr"/>
          <a:lstStyle/>
          <a:p>
            <a:pPr marL="0" indent="0">
              <a:buNone/>
            </a:pPr>
            <a:r>
              <a:rPr lang="en-US" sz="1300" dirty="0">
                <a:solidFill>
                  <a:srgbClr val="9AA095"/>
                </a:solidFill>
                <a:latin typeface="Arial" pitchFamily="34" charset="0"/>
                <a:ea typeface="Arial" pitchFamily="34" charset="-122"/>
                <a:cs typeface="Arial" pitchFamily="34" charset="-120"/>
              </a:rPr>
              <a:t>You are holding a queue open across a network round trip.</a:t>
            </a:r>
            <a:endParaRPr lang="en-US" sz="1300" dirty="0"/>
          </a:p>
        </p:txBody>
      </p:sp>
      <p:sp>
        <p:nvSpPr>
          <p:cNvPr id="25" name="Shape 22"/>
          <p:cNvSpPr/>
          <p:nvPr/>
        </p:nvSpPr>
        <p:spPr>
          <a:xfrm>
            <a:off x="566928" y="3621024"/>
            <a:ext cx="45720" cy="548640"/>
          </a:xfrm>
          <a:prstGeom prst="rect">
            <a:avLst/>
          </a:prstGeom>
          <a:solidFill>
            <a:srgbClr val="D9F201"/>
          </a:solidFill>
          <a:ln w="12700">
            <a:solidFill>
              <a:srgbClr val="D9F201"/>
            </a:solidFill>
            <a:prstDash val="solid"/>
          </a:ln>
        </p:spPr>
        <p:txBody>
          <a:bodyPr/>
          <a:lstStyle/>
          <a:p>
            <a:endParaRPr/>
          </a:p>
        </p:txBody>
      </p:sp>
      <p:sp>
        <p:nvSpPr>
          <p:cNvPr id="26" name="Text 23"/>
          <p:cNvSpPr txBox="1"/>
          <p:nvPr/>
        </p:nvSpPr>
        <p:spPr>
          <a:xfrm>
            <a:off x="768096" y="3621024"/>
            <a:ext cx="7772400" cy="27432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4. Every access must take the same lock.</a:t>
            </a:r>
            <a:endParaRPr lang="en-US" sz="1600" dirty="0"/>
          </a:p>
        </p:txBody>
      </p:sp>
      <p:sp>
        <p:nvSpPr>
          <p:cNvPr id="27" name="Text 24"/>
          <p:cNvSpPr txBox="1"/>
          <p:nvPr/>
        </p:nvSpPr>
        <p:spPr>
          <a:xfrm>
            <a:off x="768096" y="3886200"/>
            <a:ext cx="7772400" cy="274320"/>
          </a:xfrm>
          <a:prstGeom prst="rect">
            <a:avLst/>
          </a:prstGeom>
          <a:noFill/>
          <a:ln/>
        </p:spPr>
        <p:txBody>
          <a:bodyPr wrap="square" lIns="0" tIns="0" rIns="0" bIns="0" rtlCol="0" anchor="ctr"/>
          <a:lstStyle/>
          <a:p>
            <a:pPr marL="0" indent="0">
              <a:buNone/>
            </a:pPr>
            <a:r>
              <a:rPr lang="en-US" sz="1300" dirty="0">
                <a:solidFill>
                  <a:srgbClr val="9AA095"/>
                </a:solidFill>
                <a:latin typeface="Arial" pitchFamily="34" charset="0"/>
                <a:ea typeface="Arial" pitchFamily="34" charset="-122"/>
                <a:cs typeface="Arial" pitchFamily="34" charset="-120"/>
              </a:rPr>
              <a:t>One unguarded write makes all the other locks pointless.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rot="2700000">
            <a:off x="-137160" y="-91440"/>
            <a:ext cx="23774" cy="502920"/>
          </a:xfrm>
          <a:prstGeom prst="rect">
            <a:avLst/>
          </a:prstGeom>
          <a:solidFill>
            <a:srgbClr val="FFFFFF"/>
          </a:solidFill>
          <a:ln w="12700">
            <a:solidFill>
              <a:srgbClr val="FFFFFF"/>
            </a:solidFill>
            <a:prstDash val="solid"/>
          </a:ln>
        </p:spPr>
        <p:txBody>
          <a:bodyPr/>
          <a:lstStyle/>
          <a:p>
            <a:endParaRPr/>
          </a:p>
        </p:txBody>
      </p:sp>
      <p:sp>
        <p:nvSpPr>
          <p:cNvPr id="4" name="Shape 1"/>
          <p:cNvSpPr/>
          <p:nvPr/>
        </p:nvSpPr>
        <p:spPr>
          <a:xfrm rot="2700000">
            <a:off x="-68580" y="-91440"/>
            <a:ext cx="23774" cy="502920"/>
          </a:xfrm>
          <a:prstGeom prst="rect">
            <a:avLst/>
          </a:prstGeom>
          <a:solidFill>
            <a:srgbClr val="FFFFFF"/>
          </a:solidFill>
          <a:ln w="12700">
            <a:solidFill>
              <a:srgbClr val="FFFFFF"/>
            </a:solidFill>
            <a:prstDash val="solid"/>
          </a:ln>
        </p:spPr>
        <p:txBody>
          <a:bodyPr/>
          <a:lstStyle/>
          <a:p>
            <a:endParaRPr/>
          </a:p>
        </p:txBody>
      </p:sp>
      <p:sp>
        <p:nvSpPr>
          <p:cNvPr id="5" name="Shape 2"/>
          <p:cNvSpPr/>
          <p:nvPr/>
        </p:nvSpPr>
        <p:spPr>
          <a:xfrm rot="2700000">
            <a:off x="0" y="-91440"/>
            <a:ext cx="23774" cy="502920"/>
          </a:xfrm>
          <a:prstGeom prst="rect">
            <a:avLst/>
          </a:prstGeom>
          <a:solidFill>
            <a:srgbClr val="FFFFFF"/>
          </a:solidFill>
          <a:ln w="12700">
            <a:solidFill>
              <a:srgbClr val="FFFFFF"/>
            </a:solidFill>
            <a:prstDash val="solid"/>
          </a:ln>
        </p:spPr>
        <p:txBody>
          <a:bodyPr/>
          <a:lstStyle/>
          <a:p>
            <a:endParaRPr/>
          </a:p>
        </p:txBody>
      </p:sp>
      <p:sp>
        <p:nvSpPr>
          <p:cNvPr id="6" name="Shape 3"/>
          <p:cNvSpPr/>
          <p:nvPr/>
        </p:nvSpPr>
        <p:spPr>
          <a:xfrm rot="2700000">
            <a:off x="68580" y="-91440"/>
            <a:ext cx="23774" cy="502920"/>
          </a:xfrm>
          <a:prstGeom prst="rect">
            <a:avLst/>
          </a:prstGeom>
          <a:solidFill>
            <a:srgbClr val="FFFFFF"/>
          </a:solidFill>
          <a:ln w="12700">
            <a:solidFill>
              <a:srgbClr val="FFFFFF"/>
            </a:solidFill>
            <a:prstDash val="solid"/>
          </a:ln>
        </p:spPr>
        <p:txBody>
          <a:bodyPr/>
          <a:lstStyle/>
          <a:p>
            <a:endParaRPr/>
          </a:p>
        </p:txBody>
      </p:sp>
      <p:sp>
        <p:nvSpPr>
          <p:cNvPr id="7" name="Shape 4"/>
          <p:cNvSpPr/>
          <p:nvPr/>
        </p:nvSpPr>
        <p:spPr>
          <a:xfrm rot="2700000">
            <a:off x="137160" y="-91440"/>
            <a:ext cx="23774" cy="502920"/>
          </a:xfrm>
          <a:prstGeom prst="rect">
            <a:avLst/>
          </a:prstGeom>
          <a:solidFill>
            <a:srgbClr val="FFFFFF"/>
          </a:solidFill>
          <a:ln w="12700">
            <a:solidFill>
              <a:srgbClr val="FFFFFF"/>
            </a:solidFill>
            <a:prstDash val="solid"/>
          </a:ln>
        </p:spPr>
        <p:txBody>
          <a:bodyPr/>
          <a:lstStyle/>
          <a:p>
            <a:endParaRPr/>
          </a:p>
        </p:txBody>
      </p:sp>
      <p:sp>
        <p:nvSpPr>
          <p:cNvPr id="8" name="Shape 5"/>
          <p:cNvSpPr/>
          <p:nvPr/>
        </p:nvSpPr>
        <p:spPr>
          <a:xfrm rot="2700000">
            <a:off x="205740" y="-91440"/>
            <a:ext cx="23774" cy="502920"/>
          </a:xfrm>
          <a:prstGeom prst="rect">
            <a:avLst/>
          </a:prstGeom>
          <a:solidFill>
            <a:srgbClr val="FFFFFF"/>
          </a:solidFill>
          <a:ln w="12700">
            <a:solidFill>
              <a:srgbClr val="FFFFFF"/>
            </a:solidFill>
            <a:prstDash val="solid"/>
          </a:ln>
        </p:spPr>
        <p:txBody>
          <a:bodyPr/>
          <a:lstStyle/>
          <a:p>
            <a:endParaRPr/>
          </a:p>
        </p:txBody>
      </p:sp>
      <p:sp>
        <p:nvSpPr>
          <p:cNvPr id="9" name="Shape 6"/>
          <p:cNvSpPr/>
          <p:nvPr/>
        </p:nvSpPr>
        <p:spPr>
          <a:xfrm rot="2700000">
            <a:off x="274320" y="-91440"/>
            <a:ext cx="23774" cy="502920"/>
          </a:xfrm>
          <a:prstGeom prst="rect">
            <a:avLst/>
          </a:prstGeom>
          <a:solidFill>
            <a:srgbClr val="FFFFFF"/>
          </a:solidFill>
          <a:ln w="12700">
            <a:solidFill>
              <a:srgbClr val="FFFFFF"/>
            </a:solidFill>
            <a:prstDash val="solid"/>
          </a:ln>
        </p:spPr>
        <p:txBody>
          <a:bodyPr/>
          <a:lstStyle/>
          <a:p>
            <a:endParaRPr/>
          </a:p>
        </p:txBody>
      </p:sp>
      <p:sp>
        <p:nvSpPr>
          <p:cNvPr id="10" name="Shape 7"/>
          <p:cNvSpPr/>
          <p:nvPr/>
        </p:nvSpPr>
        <p:spPr>
          <a:xfrm rot="2700000">
            <a:off x="342900" y="-91440"/>
            <a:ext cx="23774" cy="502920"/>
          </a:xfrm>
          <a:prstGeom prst="rect">
            <a:avLst/>
          </a:prstGeom>
          <a:solidFill>
            <a:srgbClr val="FFFFFF"/>
          </a:solidFill>
          <a:ln w="12700">
            <a:solidFill>
              <a:srgbClr val="FFFFFF"/>
            </a:solidFill>
            <a:prstDash val="solid"/>
          </a:ln>
        </p:spPr>
        <p:txBody>
          <a:bodyPr/>
          <a:lstStyle/>
          <a:p>
            <a:endParaRPr/>
          </a:p>
        </p:txBody>
      </p:sp>
      <p:sp>
        <p:nvSpPr>
          <p:cNvPr id="11" name="Shape 8"/>
          <p:cNvSpPr/>
          <p:nvPr/>
        </p:nvSpPr>
        <p:spPr>
          <a:xfrm rot="2700000">
            <a:off x="411480" y="-91440"/>
            <a:ext cx="23774" cy="502920"/>
          </a:xfrm>
          <a:prstGeom prst="rect">
            <a:avLst/>
          </a:prstGeom>
          <a:solidFill>
            <a:srgbClr val="FFFFFF"/>
          </a:solidFill>
          <a:ln w="12700">
            <a:solidFill>
              <a:srgbClr val="FFFFFF"/>
            </a:solidFill>
            <a:prstDash val="solid"/>
          </a:ln>
        </p:spPr>
        <p:txBody>
          <a:bodyPr/>
          <a:lstStyle/>
          <a:p>
            <a:endParaRPr/>
          </a:p>
        </p:txBody>
      </p:sp>
      <p:sp>
        <p:nvSpPr>
          <p:cNvPr id="12" name="Shape 9"/>
          <p:cNvSpPr/>
          <p:nvPr/>
        </p:nvSpPr>
        <p:spPr>
          <a:xfrm rot="2700000">
            <a:off x="480060" y="-91440"/>
            <a:ext cx="23774" cy="502920"/>
          </a:xfrm>
          <a:prstGeom prst="rect">
            <a:avLst/>
          </a:prstGeom>
          <a:solidFill>
            <a:srgbClr val="FFFFFF"/>
          </a:solidFill>
          <a:ln w="12700">
            <a:solidFill>
              <a:srgbClr val="FFFFFF"/>
            </a:solidFill>
            <a:prstDash val="solid"/>
          </a:ln>
        </p:spPr>
        <p:txBody>
          <a:bodyPr/>
          <a:lstStyle/>
          <a:p>
            <a:endParaRPr/>
          </a:p>
        </p:txBody>
      </p:sp>
      <p:sp>
        <p:nvSpPr>
          <p:cNvPr id="13" name="Shape 10"/>
          <p:cNvSpPr/>
          <p:nvPr/>
        </p:nvSpPr>
        <p:spPr>
          <a:xfrm rot="2700000">
            <a:off x="548640" y="-91440"/>
            <a:ext cx="23774" cy="502920"/>
          </a:xfrm>
          <a:prstGeom prst="rect">
            <a:avLst/>
          </a:prstGeom>
          <a:solidFill>
            <a:srgbClr val="FFFFFF"/>
          </a:solidFill>
          <a:ln w="12700">
            <a:solidFill>
              <a:srgbClr val="FFFFFF"/>
            </a:solidFill>
            <a:prstDash val="solid"/>
          </a:ln>
        </p:spPr>
        <p:txBody>
          <a:bodyPr/>
          <a:lstStyle/>
          <a:p>
            <a:endParaRPr/>
          </a:p>
        </p:txBody>
      </p:sp>
      <p:sp>
        <p:nvSpPr>
          <p:cNvPr id="14" name="Shape 11"/>
          <p:cNvSpPr/>
          <p:nvPr/>
        </p:nvSpPr>
        <p:spPr>
          <a:xfrm rot="2700000">
            <a:off x="617220" y="-91440"/>
            <a:ext cx="23774" cy="502920"/>
          </a:xfrm>
          <a:prstGeom prst="rect">
            <a:avLst/>
          </a:prstGeom>
          <a:solidFill>
            <a:srgbClr val="FFFFFF"/>
          </a:solidFill>
          <a:ln w="12700">
            <a:solidFill>
              <a:srgbClr val="FFFFFF"/>
            </a:solidFill>
            <a:prstDash val="solid"/>
          </a:ln>
        </p:spPr>
        <p:txBody>
          <a:bodyPr/>
          <a:lstStyle/>
          <a:p>
            <a:endParaRPr/>
          </a:p>
        </p:txBody>
      </p:sp>
      <p:sp>
        <p:nvSpPr>
          <p:cNvPr id="15" name="Shape 12"/>
          <p:cNvSpPr/>
          <p:nvPr/>
        </p:nvSpPr>
        <p:spPr>
          <a:xfrm rot="2700000">
            <a:off x="685800" y="-91440"/>
            <a:ext cx="23774" cy="502920"/>
          </a:xfrm>
          <a:prstGeom prst="rect">
            <a:avLst/>
          </a:prstGeom>
          <a:solidFill>
            <a:srgbClr val="FFFFFF"/>
          </a:solidFill>
          <a:ln w="12700">
            <a:solidFill>
              <a:srgbClr val="FFFFFF"/>
            </a:solidFill>
            <a:prstDash val="solid"/>
          </a:ln>
        </p:spPr>
        <p:txBody>
          <a:bodyPr/>
          <a:lstStyle/>
          <a:p>
            <a:endParaRPr/>
          </a:p>
        </p:txBody>
      </p:sp>
      <p:sp>
        <p:nvSpPr>
          <p:cNvPr id="16" name="Shape 13"/>
          <p:cNvSpPr/>
          <p:nvPr/>
        </p:nvSpPr>
        <p:spPr>
          <a:xfrm>
            <a:off x="-1463040" y="3200400"/>
            <a:ext cx="3291840" cy="3291840"/>
          </a:xfrm>
          <a:prstGeom prst="ellipse">
            <a:avLst/>
          </a:prstGeom>
          <a:solidFill>
            <a:srgbClr val="000000">
              <a:alpha val="0"/>
            </a:srgbClr>
          </a:solidFill>
          <a:ln w="12700">
            <a:solidFill>
              <a:srgbClr val="5E6357"/>
            </a:solidFill>
            <a:prstDash val="solid"/>
          </a:ln>
        </p:spPr>
        <p:txBody>
          <a:bodyPr/>
          <a:lstStyle/>
          <a:p>
            <a:endParaRPr/>
          </a:p>
        </p:txBody>
      </p:sp>
      <p:sp>
        <p:nvSpPr>
          <p:cNvPr id="17" name="Shape 14"/>
          <p:cNvSpPr/>
          <p:nvPr/>
        </p:nvSpPr>
        <p:spPr>
          <a:xfrm>
            <a:off x="-1051560" y="3611880"/>
            <a:ext cx="2468880" cy="2468880"/>
          </a:xfrm>
          <a:prstGeom prst="ellipse">
            <a:avLst/>
          </a:prstGeom>
          <a:solidFill>
            <a:srgbClr val="000000">
              <a:alpha val="0"/>
            </a:srgbClr>
          </a:solidFill>
          <a:ln w="12700">
            <a:solidFill>
              <a:srgbClr val="5E6357"/>
            </a:solidFill>
            <a:prstDash val="solid"/>
          </a:ln>
        </p:spPr>
        <p:txBody>
          <a:bodyPr/>
          <a:lstStyle/>
          <a:p>
            <a:endParaRPr/>
          </a:p>
        </p:txBody>
      </p:sp>
      <p:sp>
        <p:nvSpPr>
          <p:cNvPr id="18" name="Shape 15"/>
          <p:cNvSpPr/>
          <p:nvPr/>
        </p:nvSpPr>
        <p:spPr>
          <a:xfrm>
            <a:off x="-640080" y="4023360"/>
            <a:ext cx="1645920" cy="1645920"/>
          </a:xfrm>
          <a:prstGeom prst="ellipse">
            <a:avLst/>
          </a:prstGeom>
          <a:solidFill>
            <a:srgbClr val="000000">
              <a:alpha val="0"/>
            </a:srgbClr>
          </a:solidFill>
          <a:ln w="12700">
            <a:solidFill>
              <a:srgbClr val="5E6357"/>
            </a:solidFill>
            <a:prstDash val="solid"/>
          </a:ln>
        </p:spPr>
        <p:txBody>
          <a:bodyPr/>
          <a:lstStyle/>
          <a:p>
            <a:endParaRPr/>
          </a:p>
        </p:txBody>
      </p:sp>
      <p:sp>
        <p:nvSpPr>
          <p:cNvPr id="19" name="Shape 16"/>
          <p:cNvSpPr/>
          <p:nvPr/>
        </p:nvSpPr>
        <p:spPr>
          <a:xfrm>
            <a:off x="-228600" y="4434840"/>
            <a:ext cx="822960" cy="822960"/>
          </a:xfrm>
          <a:prstGeom prst="ellipse">
            <a:avLst/>
          </a:prstGeom>
          <a:solidFill>
            <a:srgbClr val="000000">
              <a:alpha val="0"/>
            </a:srgbClr>
          </a:solidFill>
          <a:ln w="12700">
            <a:solidFill>
              <a:srgbClr val="D9F201"/>
            </a:solidFill>
            <a:prstDash val="solid"/>
          </a:ln>
        </p:spPr>
        <p:txBody>
          <a:bodyPr/>
          <a:lstStyle/>
          <a:p>
            <a:endParaRPr/>
          </a:p>
        </p:txBody>
      </p:sp>
      <p:sp>
        <p:nvSpPr>
          <p:cNvPr id="20" name="Shape 17"/>
          <p:cNvSpPr/>
          <p:nvPr/>
        </p:nvSpPr>
        <p:spPr>
          <a:xfrm rot="5400000">
            <a:off x="8321040" y="457200"/>
            <a:ext cx="411480" cy="411480"/>
          </a:xfrm>
          <a:prstGeom prst="triangle">
            <a:avLst/>
          </a:prstGeom>
          <a:solidFill>
            <a:srgbClr val="D9F201"/>
          </a:solidFill>
          <a:ln w="12700">
            <a:solidFill>
              <a:srgbClr val="D9F201"/>
            </a:solidFill>
            <a:prstDash val="solid"/>
          </a:ln>
        </p:spPr>
        <p:txBody>
          <a:bodyPr/>
          <a:lstStyle/>
          <a:p>
            <a:endParaRPr/>
          </a:p>
        </p:txBody>
      </p:sp>
      <p:sp>
        <p:nvSpPr>
          <p:cNvPr id="21" name="Shape 18"/>
          <p:cNvSpPr/>
          <p:nvPr/>
        </p:nvSpPr>
        <p:spPr>
          <a:xfrm>
            <a:off x="8138160" y="4206240"/>
            <a:ext cx="50292" cy="50292"/>
          </a:xfrm>
          <a:prstGeom prst="ellipse">
            <a:avLst/>
          </a:prstGeom>
          <a:solidFill>
            <a:srgbClr val="5E6357"/>
          </a:solidFill>
          <a:ln w="12700">
            <a:solidFill>
              <a:srgbClr val="5E6357"/>
            </a:solidFill>
            <a:prstDash val="solid"/>
          </a:ln>
        </p:spPr>
        <p:txBody>
          <a:bodyPr/>
          <a:lstStyle/>
          <a:p>
            <a:endParaRPr/>
          </a:p>
        </p:txBody>
      </p:sp>
      <p:sp>
        <p:nvSpPr>
          <p:cNvPr id="22" name="Shape 19"/>
          <p:cNvSpPr/>
          <p:nvPr/>
        </p:nvSpPr>
        <p:spPr>
          <a:xfrm>
            <a:off x="8270748" y="4206240"/>
            <a:ext cx="50292" cy="50292"/>
          </a:xfrm>
          <a:prstGeom prst="ellipse">
            <a:avLst/>
          </a:prstGeom>
          <a:solidFill>
            <a:srgbClr val="5E6357"/>
          </a:solidFill>
          <a:ln w="12700">
            <a:solidFill>
              <a:srgbClr val="5E6357"/>
            </a:solidFill>
            <a:prstDash val="solid"/>
          </a:ln>
        </p:spPr>
        <p:txBody>
          <a:bodyPr/>
          <a:lstStyle/>
          <a:p>
            <a:endParaRPr/>
          </a:p>
        </p:txBody>
      </p:sp>
      <p:sp>
        <p:nvSpPr>
          <p:cNvPr id="23" name="Shape 20"/>
          <p:cNvSpPr/>
          <p:nvPr/>
        </p:nvSpPr>
        <p:spPr>
          <a:xfrm>
            <a:off x="8403336" y="4206240"/>
            <a:ext cx="50292" cy="50292"/>
          </a:xfrm>
          <a:prstGeom prst="ellipse">
            <a:avLst/>
          </a:prstGeom>
          <a:solidFill>
            <a:srgbClr val="5E6357"/>
          </a:solidFill>
          <a:ln w="12700">
            <a:solidFill>
              <a:srgbClr val="5E6357"/>
            </a:solidFill>
            <a:prstDash val="solid"/>
          </a:ln>
        </p:spPr>
        <p:txBody>
          <a:bodyPr/>
          <a:lstStyle/>
          <a:p>
            <a:endParaRPr/>
          </a:p>
        </p:txBody>
      </p:sp>
      <p:sp>
        <p:nvSpPr>
          <p:cNvPr id="24" name="Shape 21"/>
          <p:cNvSpPr/>
          <p:nvPr/>
        </p:nvSpPr>
        <p:spPr>
          <a:xfrm>
            <a:off x="8535924" y="4206240"/>
            <a:ext cx="50292" cy="50292"/>
          </a:xfrm>
          <a:prstGeom prst="ellipse">
            <a:avLst/>
          </a:prstGeom>
          <a:solidFill>
            <a:srgbClr val="5E6357"/>
          </a:solidFill>
          <a:ln w="12700">
            <a:solidFill>
              <a:srgbClr val="5E6357"/>
            </a:solidFill>
            <a:prstDash val="solid"/>
          </a:ln>
        </p:spPr>
        <p:txBody>
          <a:bodyPr/>
          <a:lstStyle/>
          <a:p>
            <a:endParaRPr/>
          </a:p>
        </p:txBody>
      </p:sp>
      <p:sp>
        <p:nvSpPr>
          <p:cNvPr id="25" name="Shape 22"/>
          <p:cNvSpPr/>
          <p:nvPr/>
        </p:nvSpPr>
        <p:spPr>
          <a:xfrm>
            <a:off x="8138160" y="4338828"/>
            <a:ext cx="50292" cy="50292"/>
          </a:xfrm>
          <a:prstGeom prst="ellipse">
            <a:avLst/>
          </a:prstGeom>
          <a:solidFill>
            <a:srgbClr val="5E6357"/>
          </a:solidFill>
          <a:ln w="12700">
            <a:solidFill>
              <a:srgbClr val="5E6357"/>
            </a:solidFill>
            <a:prstDash val="solid"/>
          </a:ln>
        </p:spPr>
        <p:txBody>
          <a:bodyPr/>
          <a:lstStyle/>
          <a:p>
            <a:endParaRPr/>
          </a:p>
        </p:txBody>
      </p:sp>
      <p:sp>
        <p:nvSpPr>
          <p:cNvPr id="26" name="Shape 23"/>
          <p:cNvSpPr/>
          <p:nvPr/>
        </p:nvSpPr>
        <p:spPr>
          <a:xfrm>
            <a:off x="8270748" y="4338828"/>
            <a:ext cx="50292" cy="50292"/>
          </a:xfrm>
          <a:prstGeom prst="ellipse">
            <a:avLst/>
          </a:prstGeom>
          <a:solidFill>
            <a:srgbClr val="5E6357"/>
          </a:solidFill>
          <a:ln w="12700">
            <a:solidFill>
              <a:srgbClr val="5E6357"/>
            </a:solidFill>
            <a:prstDash val="solid"/>
          </a:ln>
        </p:spPr>
        <p:txBody>
          <a:bodyPr/>
          <a:lstStyle/>
          <a:p>
            <a:endParaRPr/>
          </a:p>
        </p:txBody>
      </p:sp>
      <p:sp>
        <p:nvSpPr>
          <p:cNvPr id="27" name="Shape 24"/>
          <p:cNvSpPr/>
          <p:nvPr/>
        </p:nvSpPr>
        <p:spPr>
          <a:xfrm>
            <a:off x="8403336" y="4338828"/>
            <a:ext cx="50292" cy="50292"/>
          </a:xfrm>
          <a:prstGeom prst="ellipse">
            <a:avLst/>
          </a:prstGeom>
          <a:solidFill>
            <a:srgbClr val="5E6357"/>
          </a:solidFill>
          <a:ln w="12700">
            <a:solidFill>
              <a:srgbClr val="5E6357"/>
            </a:solidFill>
            <a:prstDash val="solid"/>
          </a:ln>
        </p:spPr>
        <p:txBody>
          <a:bodyPr/>
          <a:lstStyle/>
          <a:p>
            <a:endParaRPr/>
          </a:p>
        </p:txBody>
      </p:sp>
      <p:sp>
        <p:nvSpPr>
          <p:cNvPr id="28" name="Shape 25"/>
          <p:cNvSpPr/>
          <p:nvPr/>
        </p:nvSpPr>
        <p:spPr>
          <a:xfrm>
            <a:off x="8535924" y="4338828"/>
            <a:ext cx="50292" cy="50292"/>
          </a:xfrm>
          <a:prstGeom prst="ellipse">
            <a:avLst/>
          </a:prstGeom>
          <a:solidFill>
            <a:srgbClr val="5E6357"/>
          </a:solidFill>
          <a:ln w="12700">
            <a:solidFill>
              <a:srgbClr val="5E6357"/>
            </a:solidFill>
            <a:prstDash val="solid"/>
          </a:ln>
        </p:spPr>
        <p:txBody>
          <a:bodyPr/>
          <a:lstStyle/>
          <a:p>
            <a:endParaRPr/>
          </a:p>
        </p:txBody>
      </p:sp>
      <p:sp>
        <p:nvSpPr>
          <p:cNvPr id="29" name="Shape 26"/>
          <p:cNvSpPr/>
          <p:nvPr/>
        </p:nvSpPr>
        <p:spPr>
          <a:xfrm>
            <a:off x="8138160" y="4471416"/>
            <a:ext cx="50292" cy="50292"/>
          </a:xfrm>
          <a:prstGeom prst="ellipse">
            <a:avLst/>
          </a:prstGeom>
          <a:solidFill>
            <a:srgbClr val="5E6357"/>
          </a:solidFill>
          <a:ln w="12700">
            <a:solidFill>
              <a:srgbClr val="5E6357"/>
            </a:solidFill>
            <a:prstDash val="solid"/>
          </a:ln>
        </p:spPr>
        <p:txBody>
          <a:bodyPr/>
          <a:lstStyle/>
          <a:p>
            <a:endParaRPr/>
          </a:p>
        </p:txBody>
      </p:sp>
      <p:sp>
        <p:nvSpPr>
          <p:cNvPr id="30" name="Shape 27"/>
          <p:cNvSpPr/>
          <p:nvPr/>
        </p:nvSpPr>
        <p:spPr>
          <a:xfrm>
            <a:off x="8270748" y="4471416"/>
            <a:ext cx="50292" cy="50292"/>
          </a:xfrm>
          <a:prstGeom prst="ellipse">
            <a:avLst/>
          </a:prstGeom>
          <a:solidFill>
            <a:srgbClr val="5E6357"/>
          </a:solidFill>
          <a:ln w="12700">
            <a:solidFill>
              <a:srgbClr val="5E6357"/>
            </a:solidFill>
            <a:prstDash val="solid"/>
          </a:ln>
        </p:spPr>
        <p:txBody>
          <a:bodyPr/>
          <a:lstStyle/>
          <a:p>
            <a:endParaRPr/>
          </a:p>
        </p:txBody>
      </p:sp>
      <p:sp>
        <p:nvSpPr>
          <p:cNvPr id="31" name="Shape 28"/>
          <p:cNvSpPr/>
          <p:nvPr/>
        </p:nvSpPr>
        <p:spPr>
          <a:xfrm>
            <a:off x="8403336" y="4471416"/>
            <a:ext cx="50292" cy="50292"/>
          </a:xfrm>
          <a:prstGeom prst="ellipse">
            <a:avLst/>
          </a:prstGeom>
          <a:solidFill>
            <a:srgbClr val="5E6357"/>
          </a:solidFill>
          <a:ln w="12700">
            <a:solidFill>
              <a:srgbClr val="5E6357"/>
            </a:solidFill>
            <a:prstDash val="solid"/>
          </a:ln>
        </p:spPr>
        <p:txBody>
          <a:bodyPr/>
          <a:lstStyle/>
          <a:p>
            <a:endParaRPr/>
          </a:p>
        </p:txBody>
      </p:sp>
      <p:sp>
        <p:nvSpPr>
          <p:cNvPr id="32" name="Shape 29"/>
          <p:cNvSpPr/>
          <p:nvPr/>
        </p:nvSpPr>
        <p:spPr>
          <a:xfrm>
            <a:off x="8535924" y="4471416"/>
            <a:ext cx="50292" cy="50292"/>
          </a:xfrm>
          <a:prstGeom prst="ellipse">
            <a:avLst/>
          </a:prstGeom>
          <a:solidFill>
            <a:srgbClr val="5E6357"/>
          </a:solidFill>
          <a:ln w="12700">
            <a:solidFill>
              <a:srgbClr val="5E6357"/>
            </a:solidFill>
            <a:prstDash val="solid"/>
          </a:ln>
        </p:spPr>
        <p:txBody>
          <a:bodyPr/>
          <a:lstStyle/>
          <a:p>
            <a:endParaRPr/>
          </a:p>
        </p:txBody>
      </p:sp>
      <p:sp>
        <p:nvSpPr>
          <p:cNvPr id="33" name="Text 30"/>
          <p:cNvSpPr txBox="1"/>
          <p:nvPr/>
        </p:nvSpPr>
        <p:spPr>
          <a:xfrm>
            <a:off x="566928" y="1600200"/>
            <a:ext cx="2011680" cy="1371600"/>
          </a:xfrm>
          <a:prstGeom prst="rect">
            <a:avLst/>
          </a:prstGeom>
          <a:noFill/>
          <a:ln/>
        </p:spPr>
        <p:txBody>
          <a:bodyPr wrap="square" lIns="0" tIns="0" rIns="0" bIns="0" rtlCol="0" anchor="ctr"/>
          <a:lstStyle/>
          <a:p>
            <a:pPr marL="0" indent="0">
              <a:buNone/>
            </a:pPr>
            <a:r>
              <a:rPr lang="en-US" sz="9600" b="1" dirty="0">
                <a:solidFill>
                  <a:srgbClr val="D9F201"/>
                </a:solidFill>
                <a:latin typeface="Arial" pitchFamily="34" charset="0"/>
                <a:ea typeface="Arial" pitchFamily="34" charset="-122"/>
                <a:cs typeface="Arial" pitchFamily="34" charset="-120"/>
              </a:rPr>
              <a:t>03</a:t>
            </a:r>
            <a:endParaRPr lang="en-US" sz="9600" dirty="0"/>
          </a:p>
        </p:txBody>
      </p:sp>
      <p:sp>
        <p:nvSpPr>
          <p:cNvPr id="34" name="Text 31"/>
          <p:cNvSpPr txBox="1"/>
          <p:nvPr/>
        </p:nvSpPr>
        <p:spPr>
          <a:xfrm>
            <a:off x="2514600" y="1874520"/>
            <a:ext cx="5760720" cy="68580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When locking goes wrong</a:t>
            </a:r>
            <a:endParaRPr lang="en-US" sz="3400" dirty="0"/>
          </a:p>
        </p:txBody>
      </p:sp>
      <p:sp>
        <p:nvSpPr>
          <p:cNvPr id="35" name="Text 32"/>
          <p:cNvSpPr txBox="1"/>
          <p:nvPr/>
        </p:nvSpPr>
        <p:spPr>
          <a:xfrm>
            <a:off x="2542032" y="2578608"/>
            <a:ext cx="6035040" cy="320040"/>
          </a:xfrm>
          <a:prstGeom prst="rect">
            <a:avLst/>
          </a:prstGeom>
          <a:noFill/>
          <a:ln/>
        </p:spPr>
        <p:txBody>
          <a:bodyPr wrap="square" lIns="0" tIns="0" rIns="0" bIns="0" rtlCol="0" anchor="ctr"/>
          <a:lstStyle/>
          <a:p>
            <a:pPr marL="0" indent="0">
              <a:buNone/>
            </a:pPr>
            <a:r>
              <a:rPr lang="en-US" sz="1500" dirty="0">
                <a:solidFill>
                  <a:srgbClr val="9AA095"/>
                </a:solidFill>
                <a:latin typeface="Arial" pitchFamily="34" charset="0"/>
                <a:ea typeface="Arial" pitchFamily="34" charset="-122"/>
                <a:cs typeface="Arial" pitchFamily="34" charset="-120"/>
              </a:rPr>
              <a:t>Deadlock, livelock, starvation, and the primitives that are not locks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C# — RUN IT LIVE</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Two locks, opposite order</a:t>
            </a:r>
            <a:endParaRPr lang="en-US" sz="3200" dirty="0"/>
          </a:p>
        </p:txBody>
      </p:sp>
      <p:sp>
        <p:nvSpPr>
          <p:cNvPr id="16" name="Shape 13"/>
          <p:cNvSpPr/>
          <p:nvPr/>
        </p:nvSpPr>
        <p:spPr>
          <a:xfrm>
            <a:off x="566928" y="1444752"/>
            <a:ext cx="8010144" cy="3241548"/>
          </a:xfrm>
          <a:prstGeom prst="roundRect">
            <a:avLst>
              <a:gd name="adj" fmla="val 1724"/>
            </a:avLst>
          </a:prstGeom>
          <a:solidFill>
            <a:srgbClr val="141613"/>
          </a:solidFill>
          <a:ln w="12700">
            <a:solidFill>
              <a:srgbClr val="1F231B"/>
            </a:solidFill>
            <a:prstDash val="solid"/>
          </a:ln>
        </p:spPr>
        <p:txBody>
          <a:bodyPr/>
          <a:lstStyle/>
          <a:p>
            <a:endParaRPr/>
          </a:p>
        </p:txBody>
      </p:sp>
      <p:sp>
        <p:nvSpPr>
          <p:cNvPr id="17" name="Text 14"/>
          <p:cNvSpPr txBox="1"/>
          <p:nvPr/>
        </p:nvSpPr>
        <p:spPr>
          <a:xfrm>
            <a:off x="822960" y="1627631"/>
            <a:ext cx="7498080" cy="2629323"/>
          </a:xfrm>
          <a:prstGeom prst="rect">
            <a:avLst/>
          </a:prstGeom>
          <a:noFill/>
          <a:ln/>
        </p:spPr>
        <p:txBody>
          <a:bodyPr wrap="square" lIns="0" tIns="0" rIns="0" bIns="0" rtlCol="0" anchor="t"/>
          <a:lstStyle/>
          <a:p>
            <a:pPr marL="0" indent="0">
              <a:lnSpc>
                <a:spcPts val="1750"/>
              </a:lnSpc>
              <a:buNone/>
            </a:pPr>
            <a:r>
              <a:rPr lang="en-US" sz="1300" dirty="0">
                <a:solidFill>
                  <a:srgbClr val="5E6357"/>
                </a:solidFill>
                <a:latin typeface="Courier New" pitchFamily="34" charset="0"/>
                <a:ea typeface="Courier New" pitchFamily="34" charset="-122"/>
                <a:cs typeface="Courier New" pitchFamily="34" charset="-120"/>
              </a:rPr>
              <a:t>// thread A</a:t>
            </a:r>
            <a:endParaRPr lang="en-US" sz="1300" dirty="0"/>
          </a:p>
          <a:p>
            <a:pPr marL="0" indent="0">
              <a:lnSpc>
                <a:spcPts val="1750"/>
              </a:lnSpc>
              <a:buNone/>
            </a:pPr>
            <a:r>
              <a:rPr lang="en-US" sz="1300" dirty="0">
                <a:solidFill>
                  <a:srgbClr val="D9F201"/>
                </a:solidFill>
                <a:latin typeface="Courier New" pitchFamily="34" charset="0"/>
                <a:ea typeface="Courier New" pitchFamily="34" charset="-122"/>
                <a:cs typeface="Courier New" pitchFamily="34" charset="-120"/>
              </a:rPr>
              <a:t>lock</a:t>
            </a:r>
            <a:r>
              <a:rPr lang="en-US" sz="1300" dirty="0">
                <a:solidFill>
                  <a:srgbClr val="FFFFFF"/>
                </a:solidFill>
                <a:latin typeface="Courier New" pitchFamily="34" charset="0"/>
                <a:ea typeface="Courier New" pitchFamily="34" charset="-122"/>
                <a:cs typeface="Courier New" pitchFamily="34" charset="-120"/>
              </a:rPr>
              <a:t> (first)</a:t>
            </a:r>
            <a:endParaRPr lang="en-US" sz="1300" dirty="0"/>
          </a:p>
          <a:p>
            <a:pPr marL="0" indent="0">
              <a:lnSpc>
                <a:spcPts val="1750"/>
              </a:lnSpc>
              <a:buNone/>
            </a:pPr>
            <a:r>
              <a:rPr lang="en-US" sz="1300" dirty="0">
                <a:solidFill>
                  <a:srgbClr val="FFFFFF"/>
                </a:solidFill>
                <a:latin typeface="Courier New" pitchFamily="34" charset="0"/>
                <a:ea typeface="Courier New" pitchFamily="34" charset="-122"/>
                <a:cs typeface="Courier New" pitchFamily="34" charset="-120"/>
              </a:rPr>
              <a:t>{  </a:t>
            </a:r>
          </a:p>
          <a:p>
            <a:pPr marL="0" indent="0">
              <a:lnSpc>
                <a:spcPts val="1750"/>
              </a:lnSpc>
              <a:buNone/>
            </a:pPr>
            <a:r>
              <a:rPr lang="en-US" sz="1300" dirty="0">
                <a:solidFill>
                  <a:srgbClr val="FFFFFF"/>
                </a:solidFill>
                <a:latin typeface="Courier New" pitchFamily="34" charset="0"/>
                <a:ea typeface="Courier New" pitchFamily="34" charset="-122"/>
                <a:cs typeface="Courier New" pitchFamily="34" charset="-120"/>
              </a:rPr>
              <a:t>    </a:t>
            </a:r>
            <a:r>
              <a:rPr lang="en-US" sz="1300" dirty="0" err="1">
                <a:solidFill>
                  <a:srgbClr val="35E0C8"/>
                </a:solidFill>
                <a:latin typeface="Courier New" pitchFamily="34" charset="0"/>
                <a:ea typeface="Courier New" pitchFamily="34" charset="-122"/>
                <a:cs typeface="Courier New" pitchFamily="34" charset="-120"/>
              </a:rPr>
              <a:t>Thread</a:t>
            </a:r>
            <a:r>
              <a:rPr lang="en-US" sz="1300" dirty="0" err="1">
                <a:solidFill>
                  <a:srgbClr val="FFFFFF"/>
                </a:solidFill>
                <a:latin typeface="Courier New" pitchFamily="34" charset="0"/>
                <a:ea typeface="Courier New" pitchFamily="34" charset="-122"/>
                <a:cs typeface="Courier New" pitchFamily="34" charset="-120"/>
              </a:rPr>
              <a:t>.</a:t>
            </a:r>
            <a:r>
              <a:rPr lang="en-US" sz="1300" dirty="0" err="1">
                <a:solidFill>
                  <a:srgbClr val="35E0C8"/>
                </a:solidFill>
                <a:latin typeface="Courier New" pitchFamily="34" charset="0"/>
                <a:ea typeface="Courier New" pitchFamily="34" charset="-122"/>
                <a:cs typeface="Courier New" pitchFamily="34" charset="-120"/>
              </a:rPr>
              <a:t>Sleep</a:t>
            </a:r>
            <a:r>
              <a:rPr lang="en-US" sz="1300" dirty="0">
                <a:solidFill>
                  <a:srgbClr val="FFFFFF"/>
                </a:solidFill>
                <a:latin typeface="Courier New" pitchFamily="34" charset="0"/>
                <a:ea typeface="Courier New" pitchFamily="34" charset="-122"/>
                <a:cs typeface="Courier New" pitchFamily="34" charset="-120"/>
              </a:rPr>
              <a:t>(</a:t>
            </a:r>
            <a:r>
              <a:rPr lang="en-US" sz="1300" dirty="0">
                <a:solidFill>
                  <a:srgbClr val="35E0C8"/>
                </a:solidFill>
                <a:latin typeface="Courier New" pitchFamily="34" charset="0"/>
                <a:ea typeface="Courier New" pitchFamily="34" charset="-122"/>
                <a:cs typeface="Courier New" pitchFamily="34" charset="-120"/>
              </a:rPr>
              <a:t>50</a:t>
            </a: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marL="0" indent="0">
              <a:lnSpc>
                <a:spcPts val="1750"/>
              </a:lnSpc>
              <a:buNone/>
            </a:pPr>
            <a:r>
              <a:rPr lang="en-US" sz="1300" dirty="0">
                <a:solidFill>
                  <a:srgbClr val="FFFFFF"/>
                </a:solidFill>
                <a:latin typeface="Courier New" pitchFamily="34" charset="0"/>
                <a:ea typeface="Courier New" pitchFamily="34" charset="-122"/>
                <a:cs typeface="Courier New" pitchFamily="34" charset="-120"/>
              </a:rPr>
              <a:t>    </a:t>
            </a:r>
            <a:r>
              <a:rPr lang="en-US" sz="1300" dirty="0">
                <a:solidFill>
                  <a:srgbClr val="D9F201"/>
                </a:solidFill>
                <a:latin typeface="Courier New" pitchFamily="34" charset="0"/>
                <a:ea typeface="Courier New" pitchFamily="34" charset="-122"/>
                <a:cs typeface="Courier New" pitchFamily="34" charset="-120"/>
              </a:rPr>
              <a:t>lock</a:t>
            </a:r>
            <a:r>
              <a:rPr lang="en-US" sz="1300" dirty="0">
                <a:solidFill>
                  <a:srgbClr val="FFFFFF"/>
                </a:solidFill>
                <a:latin typeface="Courier New" pitchFamily="34" charset="0"/>
                <a:ea typeface="Courier New" pitchFamily="34" charset="-122"/>
                <a:cs typeface="Courier New" pitchFamily="34" charset="-120"/>
              </a:rPr>
              <a:t> (second) { ... }   </a:t>
            </a:r>
            <a:r>
              <a:rPr lang="en-US" sz="1300" dirty="0">
                <a:solidFill>
                  <a:srgbClr val="FF5A54"/>
                </a:solidFill>
                <a:latin typeface="Courier New" pitchFamily="34" charset="0"/>
                <a:ea typeface="Courier New" pitchFamily="34" charset="-122"/>
                <a:cs typeface="Courier New" pitchFamily="34" charset="-120"/>
              </a:rPr>
              <a:t>// never gets here</a:t>
            </a:r>
            <a:endParaRPr lang="en-US" sz="1300" dirty="0"/>
          </a:p>
          <a:p>
            <a:pPr marL="0" indent="0">
              <a:lnSpc>
                <a:spcPts val="1750"/>
              </a:lnSpc>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marL="0" indent="0">
              <a:lnSpc>
                <a:spcPts val="1750"/>
              </a:lnSpc>
              <a:buNone/>
            </a:pPr>
            <a:endParaRPr lang="en-US" sz="1300" dirty="0"/>
          </a:p>
          <a:p>
            <a:pPr marL="0" indent="0">
              <a:lnSpc>
                <a:spcPts val="1750"/>
              </a:lnSpc>
              <a:buNone/>
            </a:pPr>
            <a:r>
              <a:rPr lang="en-US" sz="1300" dirty="0">
                <a:solidFill>
                  <a:srgbClr val="5E6357"/>
                </a:solidFill>
                <a:latin typeface="Courier New" pitchFamily="34" charset="0"/>
                <a:ea typeface="Courier New" pitchFamily="34" charset="-122"/>
                <a:cs typeface="Courier New" pitchFamily="34" charset="-120"/>
              </a:rPr>
              <a:t>// thread B</a:t>
            </a:r>
            <a:endParaRPr lang="en-US" sz="1300" dirty="0"/>
          </a:p>
          <a:p>
            <a:pPr marL="0" indent="0">
              <a:lnSpc>
                <a:spcPts val="1750"/>
              </a:lnSpc>
              <a:buNone/>
            </a:pPr>
            <a:r>
              <a:rPr lang="en-US" sz="1300" dirty="0">
                <a:solidFill>
                  <a:srgbClr val="D9F201"/>
                </a:solidFill>
                <a:latin typeface="Courier New" pitchFamily="34" charset="0"/>
                <a:ea typeface="Courier New" pitchFamily="34" charset="-122"/>
                <a:cs typeface="Courier New" pitchFamily="34" charset="-120"/>
              </a:rPr>
              <a:t>lock</a:t>
            </a:r>
            <a:r>
              <a:rPr lang="en-US" sz="1300" dirty="0">
                <a:solidFill>
                  <a:srgbClr val="FFFFFF"/>
                </a:solidFill>
                <a:latin typeface="Courier New" pitchFamily="34" charset="0"/>
                <a:ea typeface="Courier New" pitchFamily="34" charset="-122"/>
                <a:cs typeface="Courier New" pitchFamily="34" charset="-120"/>
              </a:rPr>
              <a:t> (second)</a:t>
            </a:r>
            <a:endParaRPr lang="en-US" sz="1300" dirty="0"/>
          </a:p>
          <a:p>
            <a:pPr marL="0" indent="0">
              <a:lnSpc>
                <a:spcPts val="1750"/>
              </a:lnSpc>
              <a:buNone/>
            </a:pPr>
            <a:r>
              <a:rPr lang="en-US" sz="1300" dirty="0">
                <a:solidFill>
                  <a:srgbClr val="FFFFFF"/>
                </a:solidFill>
                <a:latin typeface="Courier New" pitchFamily="34" charset="0"/>
                <a:ea typeface="Courier New" pitchFamily="34" charset="-122"/>
                <a:cs typeface="Courier New" pitchFamily="34" charset="-120"/>
              </a:rPr>
              <a:t>{  </a:t>
            </a:r>
          </a:p>
          <a:p>
            <a:pPr marL="0" indent="0">
              <a:lnSpc>
                <a:spcPts val="1750"/>
              </a:lnSpc>
              <a:buNone/>
            </a:pPr>
            <a:r>
              <a:rPr lang="en-US" sz="1300" dirty="0">
                <a:solidFill>
                  <a:srgbClr val="35E0C8"/>
                </a:solidFill>
                <a:latin typeface="Courier New" pitchFamily="34" charset="0"/>
                <a:ea typeface="Courier New" pitchFamily="34" charset="-122"/>
                <a:cs typeface="Courier New" pitchFamily="34" charset="-120"/>
              </a:rPr>
              <a:t>    </a:t>
            </a:r>
            <a:r>
              <a:rPr lang="en-US" sz="1300" dirty="0" err="1">
                <a:solidFill>
                  <a:srgbClr val="35E0C8"/>
                </a:solidFill>
                <a:latin typeface="Courier New" pitchFamily="34" charset="0"/>
                <a:ea typeface="Courier New" pitchFamily="34" charset="-122"/>
                <a:cs typeface="Courier New" pitchFamily="34" charset="-120"/>
              </a:rPr>
              <a:t>Thread</a:t>
            </a:r>
            <a:r>
              <a:rPr lang="en-US" sz="1300" dirty="0" err="1">
                <a:solidFill>
                  <a:srgbClr val="FFFFFF"/>
                </a:solidFill>
                <a:latin typeface="Courier New" pitchFamily="34" charset="0"/>
                <a:ea typeface="Courier New" pitchFamily="34" charset="-122"/>
                <a:cs typeface="Courier New" pitchFamily="34" charset="-120"/>
              </a:rPr>
              <a:t>.</a:t>
            </a:r>
            <a:r>
              <a:rPr lang="en-US" sz="1300" dirty="0" err="1">
                <a:solidFill>
                  <a:srgbClr val="35E0C8"/>
                </a:solidFill>
                <a:latin typeface="Courier New" pitchFamily="34" charset="0"/>
                <a:ea typeface="Courier New" pitchFamily="34" charset="-122"/>
                <a:cs typeface="Courier New" pitchFamily="34" charset="-120"/>
              </a:rPr>
              <a:t>Sleep</a:t>
            </a:r>
            <a:r>
              <a:rPr lang="en-US" sz="1300" dirty="0">
                <a:solidFill>
                  <a:srgbClr val="FFFFFF"/>
                </a:solidFill>
                <a:latin typeface="Courier New" pitchFamily="34" charset="0"/>
                <a:ea typeface="Courier New" pitchFamily="34" charset="-122"/>
                <a:cs typeface="Courier New" pitchFamily="34" charset="-120"/>
              </a:rPr>
              <a:t>(</a:t>
            </a:r>
            <a:r>
              <a:rPr lang="en-US" sz="1300" dirty="0">
                <a:solidFill>
                  <a:srgbClr val="35E0C8"/>
                </a:solidFill>
                <a:latin typeface="Courier New" pitchFamily="34" charset="0"/>
                <a:ea typeface="Courier New" pitchFamily="34" charset="-122"/>
                <a:cs typeface="Courier New" pitchFamily="34" charset="-120"/>
              </a:rPr>
              <a:t>50</a:t>
            </a:r>
            <a:r>
              <a:rPr lang="en-US" sz="1300" dirty="0">
                <a:solidFill>
                  <a:srgbClr val="FFFFFF"/>
                </a:solidFill>
                <a:latin typeface="Courier New" pitchFamily="34" charset="0"/>
                <a:ea typeface="Courier New" pitchFamily="34" charset="-122"/>
                <a:cs typeface="Courier New" pitchFamily="34" charset="-120"/>
              </a:rPr>
              <a:t>);</a:t>
            </a:r>
            <a:endParaRPr lang="en-US" sz="1300" dirty="0"/>
          </a:p>
          <a:p>
            <a:pPr>
              <a:lnSpc>
                <a:spcPts val="1750"/>
              </a:lnSpc>
            </a:pPr>
            <a:r>
              <a:rPr lang="en-US" sz="1300" dirty="0">
                <a:solidFill>
                  <a:srgbClr val="FFFFFF"/>
                </a:solidFill>
                <a:latin typeface="Courier New" pitchFamily="34" charset="0"/>
                <a:ea typeface="Courier New" pitchFamily="34" charset="-122"/>
                <a:cs typeface="Courier New" pitchFamily="34" charset="-120"/>
              </a:rPr>
              <a:t>    </a:t>
            </a:r>
            <a:r>
              <a:rPr lang="en-US" sz="1300" dirty="0">
                <a:solidFill>
                  <a:srgbClr val="D9F201"/>
                </a:solidFill>
                <a:latin typeface="Courier New" pitchFamily="34" charset="0"/>
                <a:ea typeface="Courier New" pitchFamily="34" charset="-122"/>
                <a:cs typeface="Courier New" pitchFamily="34" charset="-120"/>
              </a:rPr>
              <a:t>lock</a:t>
            </a:r>
            <a:r>
              <a:rPr lang="en-US" sz="1300" dirty="0">
                <a:solidFill>
                  <a:srgbClr val="FFFFFF"/>
                </a:solidFill>
                <a:latin typeface="Courier New" pitchFamily="34" charset="0"/>
                <a:ea typeface="Courier New" pitchFamily="34" charset="-122"/>
                <a:cs typeface="Courier New" pitchFamily="34" charset="-120"/>
              </a:rPr>
              <a:t> (first) { ... } </a:t>
            </a:r>
            <a:r>
              <a:rPr lang="en-US" sz="1300" dirty="0">
                <a:solidFill>
                  <a:srgbClr val="FF5A54"/>
                </a:solidFill>
                <a:latin typeface="Courier New" pitchFamily="34" charset="0"/>
                <a:ea typeface="Courier New" pitchFamily="34" charset="-122"/>
                <a:cs typeface="Courier New" pitchFamily="34" charset="-120"/>
              </a:rPr>
              <a:t>// never gets here</a:t>
            </a:r>
            <a:r>
              <a:rPr lang="en-US" sz="1300" dirty="0">
                <a:solidFill>
                  <a:srgbClr val="FFFFFF"/>
                </a:solidFill>
                <a:latin typeface="Courier New" pitchFamily="34" charset="0"/>
                <a:ea typeface="Courier New" pitchFamily="34" charset="-122"/>
                <a:cs typeface="Courier New" pitchFamily="34" charset="-120"/>
              </a:rPr>
              <a:t>  </a:t>
            </a:r>
          </a:p>
          <a:p>
            <a:pPr marL="0" indent="0">
              <a:lnSpc>
                <a:spcPts val="1750"/>
              </a:lnSpc>
              <a:buNone/>
            </a:pPr>
            <a:r>
              <a:rPr lang="en-US" sz="1300" dirty="0">
                <a:solidFill>
                  <a:srgbClr val="FFFFFF"/>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 0"/>
          <p:cNvSpPr txBox="1"/>
          <p:nvPr/>
        </p:nvSpPr>
        <p:spPr>
          <a:xfrm>
            <a:off x="502920" y="233172"/>
            <a:ext cx="7772400" cy="342900"/>
          </a:xfrm>
          <a:prstGeom prst="rect">
            <a:avLst/>
          </a:prstGeom>
          <a:noFill/>
          <a:ln/>
        </p:spPr>
        <p:txBody>
          <a:bodyPr wrap="square" lIns="0" tIns="0" rIns="0" bIns="0" rtlCol="0" anchor="ctr"/>
          <a:lstStyle/>
          <a:p>
            <a:pPr marL="0" indent="0" algn="l">
              <a:buNone/>
            </a:pPr>
            <a:r>
              <a:rPr lang="en-US" sz="1800" b="1" kern="0" spc="36" dirty="0">
                <a:solidFill>
                  <a:srgbClr val="D9F201"/>
                </a:solidFill>
                <a:latin typeface="Arial" pitchFamily="34" charset="0"/>
                <a:ea typeface="Arial" pitchFamily="34" charset="-122"/>
                <a:cs typeface="Arial" pitchFamily="34" charset="-120"/>
              </a:rPr>
              <a:t>LIVELOCK</a:t>
            </a:r>
            <a:endParaRPr lang="en-US" sz="1800" dirty="0"/>
          </a:p>
        </p:txBody>
      </p:sp>
      <p:sp>
        <p:nvSpPr>
          <p:cNvPr id="4" name="Text 1"/>
          <p:cNvSpPr txBox="1"/>
          <p:nvPr/>
        </p:nvSpPr>
        <p:spPr>
          <a:xfrm>
            <a:off x="502920" y="567842"/>
            <a:ext cx="7772400" cy="192024"/>
          </a:xfrm>
          <a:prstGeom prst="rect">
            <a:avLst/>
          </a:prstGeom>
          <a:noFill/>
          <a:ln/>
        </p:spPr>
        <p:txBody>
          <a:bodyPr wrap="square" lIns="0" tIns="0" rIns="0" bIns="0" rtlCol="0" anchor="ctr"/>
          <a:lstStyle/>
          <a:p>
            <a:pPr marL="0" indent="0" algn="l">
              <a:buNone/>
            </a:pPr>
            <a:r>
              <a:rPr lang="en-US" sz="1008" dirty="0">
                <a:solidFill>
                  <a:srgbClr val="9AA095"/>
                </a:solidFill>
                <a:latin typeface="Arial" pitchFamily="34" charset="0"/>
                <a:ea typeface="Arial" pitchFamily="34" charset="-122"/>
                <a:cs typeface="Arial" pitchFamily="34" charset="-120"/>
              </a:rPr>
              <a:t>Each thread gives way when the other lock is busy - at the same moment, every time</a:t>
            </a:r>
            <a:endParaRPr lang="en-US" sz="1008" dirty="0"/>
          </a:p>
        </p:txBody>
      </p:sp>
      <p:sp>
        <p:nvSpPr>
          <p:cNvPr id="51" name="Text 48"/>
          <p:cNvSpPr txBox="1"/>
          <p:nvPr/>
        </p:nvSpPr>
        <p:spPr>
          <a:xfrm>
            <a:off x="502920" y="1757740"/>
            <a:ext cx="4114800" cy="150876"/>
          </a:xfrm>
          <a:prstGeom prst="rect">
            <a:avLst/>
          </a:prstGeom>
          <a:noFill/>
          <a:ln/>
        </p:spPr>
        <p:txBody>
          <a:bodyPr wrap="square" lIns="0" tIns="0" rIns="0" bIns="0" rtlCol="0" anchor="ctr"/>
          <a:lstStyle/>
          <a:p>
            <a:pPr marL="0" indent="0" algn="l">
              <a:buNone/>
            </a:pPr>
            <a:r>
              <a:rPr lang="en-US" sz="792" b="1" kern="0" spc="72" dirty="0">
                <a:solidFill>
                  <a:srgbClr val="D9F201"/>
                </a:solidFill>
                <a:latin typeface="Arial" pitchFamily="34" charset="0"/>
                <a:ea typeface="Arial" pitchFamily="34" charset="-122"/>
                <a:cs typeface="Arial" pitchFamily="34" charset="-120"/>
              </a:rPr>
              <a:t>SAME RESULT, DIFFERENT LOOK</a:t>
            </a:r>
            <a:endParaRPr lang="en-US" sz="792" dirty="0"/>
          </a:p>
        </p:txBody>
      </p:sp>
      <p:sp>
        <p:nvSpPr>
          <p:cNvPr id="52" name="Text 49"/>
          <p:cNvSpPr txBox="1"/>
          <p:nvPr/>
        </p:nvSpPr>
        <p:spPr>
          <a:xfrm>
            <a:off x="502920" y="2057663"/>
            <a:ext cx="914400" cy="178308"/>
          </a:xfrm>
          <a:prstGeom prst="rect">
            <a:avLst/>
          </a:prstGeom>
          <a:noFill/>
          <a:ln/>
        </p:spPr>
        <p:txBody>
          <a:bodyPr wrap="square" lIns="0" tIns="0" rIns="0" bIns="0" rtlCol="0" anchor="ctr"/>
          <a:lstStyle/>
          <a:p>
            <a:pPr marL="0" indent="0" algn="l">
              <a:buNone/>
            </a:pPr>
            <a:r>
              <a:rPr lang="en-US" sz="936" b="1" dirty="0">
                <a:solidFill>
                  <a:srgbClr val="FFFFFF"/>
                </a:solidFill>
                <a:latin typeface="Arial" pitchFamily="34" charset="0"/>
                <a:ea typeface="Arial" pitchFamily="34" charset="-122"/>
                <a:cs typeface="Arial" pitchFamily="34" charset="-120"/>
              </a:rPr>
              <a:t>deadlock</a:t>
            </a:r>
            <a:endParaRPr lang="en-US" sz="936" dirty="0"/>
          </a:p>
        </p:txBody>
      </p:sp>
      <p:sp>
        <p:nvSpPr>
          <p:cNvPr id="53" name="hatchR"/>
          <p:cNvSpPr/>
          <p:nvPr/>
        </p:nvSpPr>
        <p:spPr>
          <a:xfrm>
            <a:off x="1508760" y="1996398"/>
            <a:ext cx="5120640" cy="292608"/>
          </a:xfrm>
          <a:prstGeom prst="roundRect">
            <a:avLst>
              <a:gd name="adj" fmla="val 15625"/>
            </a:avLst>
          </a:prstGeom>
          <a:pattFill prst="wdUpDiag">
            <a:fgClr>
              <a:srgbClr val="6B2A27"/>
            </a:fgClr>
            <a:bgClr>
              <a:srgbClr val="1A0E0D"/>
            </a:bgClr>
          </a:pattFill>
          <a:ln w="9144">
            <a:solidFill>
              <a:srgbClr val="FF5A54"/>
            </a:solidFill>
            <a:prstDash val="solid"/>
          </a:ln>
        </p:spPr>
        <p:txBody>
          <a:bodyPr/>
          <a:lstStyle/>
          <a:p>
            <a:endParaRPr/>
          </a:p>
        </p:txBody>
      </p:sp>
      <p:sp>
        <p:nvSpPr>
          <p:cNvPr id="54" name="Text 51"/>
          <p:cNvSpPr txBox="1"/>
          <p:nvPr/>
        </p:nvSpPr>
        <p:spPr>
          <a:xfrm>
            <a:off x="1554480" y="2073208"/>
            <a:ext cx="5029200" cy="150876"/>
          </a:xfrm>
          <a:prstGeom prst="rect">
            <a:avLst/>
          </a:prstGeom>
          <a:noFill/>
          <a:ln/>
        </p:spPr>
        <p:txBody>
          <a:bodyPr wrap="square" lIns="0" tIns="0" rIns="0" bIns="0" rtlCol="0" anchor="ctr"/>
          <a:lstStyle/>
          <a:p>
            <a:pPr marL="0" indent="0" algn="ctr">
              <a:buNone/>
            </a:pPr>
            <a:r>
              <a:rPr lang="en-US" sz="792" dirty="0">
                <a:solidFill>
                  <a:srgbClr val="FFFFFF"/>
                </a:solidFill>
                <a:latin typeface="Arial" pitchFamily="34" charset="0"/>
                <a:ea typeface="Arial" pitchFamily="34" charset="-122"/>
                <a:cs typeface="Arial" pitchFamily="34" charset="-120"/>
              </a:rPr>
              <a:t>both threads wait for each other - CPU idle</a:t>
            </a:r>
            <a:endParaRPr lang="en-US" sz="792" dirty="0"/>
          </a:p>
        </p:txBody>
      </p:sp>
      <p:sp>
        <p:nvSpPr>
          <p:cNvPr id="55" name="Text 52"/>
          <p:cNvSpPr txBox="1"/>
          <p:nvPr/>
        </p:nvSpPr>
        <p:spPr>
          <a:xfrm>
            <a:off x="6766560" y="2063149"/>
            <a:ext cx="1371600" cy="164592"/>
          </a:xfrm>
          <a:prstGeom prst="rect">
            <a:avLst/>
          </a:prstGeom>
          <a:noFill/>
          <a:ln/>
        </p:spPr>
        <p:txBody>
          <a:bodyPr wrap="square" lIns="0" tIns="0" rIns="0" bIns="0" rtlCol="0" anchor="ctr"/>
          <a:lstStyle/>
          <a:p>
            <a:pPr marL="0" indent="0" algn="l">
              <a:buNone/>
            </a:pPr>
            <a:r>
              <a:rPr lang="en-US" sz="864" b="1" dirty="0">
                <a:solidFill>
                  <a:srgbClr val="FF5A54"/>
                </a:solidFill>
                <a:latin typeface="Arial" pitchFamily="34" charset="0"/>
                <a:ea typeface="Arial" pitchFamily="34" charset="-122"/>
                <a:cs typeface="Arial" pitchFamily="34" charset="-120"/>
              </a:rPr>
              <a:t>no progress</a:t>
            </a:r>
            <a:endParaRPr lang="en-US" sz="864" dirty="0"/>
          </a:p>
        </p:txBody>
      </p:sp>
      <p:sp>
        <p:nvSpPr>
          <p:cNvPr id="56" name="Text 53"/>
          <p:cNvSpPr txBox="1"/>
          <p:nvPr/>
        </p:nvSpPr>
        <p:spPr>
          <a:xfrm>
            <a:off x="502920" y="2514863"/>
            <a:ext cx="914400" cy="178308"/>
          </a:xfrm>
          <a:prstGeom prst="rect">
            <a:avLst/>
          </a:prstGeom>
          <a:noFill/>
          <a:ln/>
        </p:spPr>
        <p:txBody>
          <a:bodyPr wrap="square" lIns="0" tIns="0" rIns="0" bIns="0" rtlCol="0" anchor="ctr"/>
          <a:lstStyle/>
          <a:p>
            <a:pPr marL="0" indent="0" algn="l">
              <a:buNone/>
            </a:pPr>
            <a:r>
              <a:rPr lang="en-US" sz="936" b="1" dirty="0">
                <a:solidFill>
                  <a:srgbClr val="FFFFFF"/>
                </a:solidFill>
                <a:latin typeface="Arial" pitchFamily="34" charset="0"/>
                <a:ea typeface="Arial" pitchFamily="34" charset="-122"/>
                <a:cs typeface="Arial" pitchFamily="34" charset="-120"/>
              </a:rPr>
              <a:t>livelock</a:t>
            </a:r>
            <a:endParaRPr lang="en-US" sz="936" dirty="0"/>
          </a:p>
        </p:txBody>
      </p:sp>
      <p:sp>
        <p:nvSpPr>
          <p:cNvPr id="57" name="Shape 54"/>
          <p:cNvSpPr/>
          <p:nvPr/>
        </p:nvSpPr>
        <p:spPr>
          <a:xfrm>
            <a:off x="1508760" y="2453598"/>
            <a:ext cx="5120640" cy="292608"/>
          </a:xfrm>
          <a:prstGeom prst="roundRect">
            <a:avLst>
              <a:gd name="adj" fmla="val 15625"/>
            </a:avLst>
          </a:prstGeom>
          <a:solidFill>
            <a:srgbClr val="000000">
              <a:alpha val="0"/>
            </a:srgbClr>
          </a:solidFill>
          <a:ln w="9144">
            <a:solidFill>
              <a:srgbClr val="35E0C8"/>
            </a:solidFill>
            <a:prstDash val="solid"/>
          </a:ln>
        </p:spPr>
        <p:txBody>
          <a:bodyPr/>
          <a:lstStyle/>
          <a:p>
            <a:endParaRPr/>
          </a:p>
        </p:txBody>
      </p:sp>
      <p:sp>
        <p:nvSpPr>
          <p:cNvPr id="58" name="Text 55"/>
          <p:cNvSpPr txBox="1"/>
          <p:nvPr/>
        </p:nvSpPr>
        <p:spPr>
          <a:xfrm>
            <a:off x="1554480" y="2530408"/>
            <a:ext cx="5029200" cy="150876"/>
          </a:xfrm>
          <a:prstGeom prst="rect">
            <a:avLst/>
          </a:prstGeom>
          <a:noFill/>
          <a:ln/>
        </p:spPr>
        <p:txBody>
          <a:bodyPr wrap="square" lIns="0" tIns="0" rIns="0" bIns="0" rtlCol="0" anchor="ctr"/>
          <a:lstStyle/>
          <a:p>
            <a:pPr marL="0" indent="0" algn="ctr">
              <a:buNone/>
            </a:pPr>
            <a:r>
              <a:rPr lang="en-US" sz="792" dirty="0">
                <a:solidFill>
                  <a:srgbClr val="35E0C8"/>
                </a:solidFill>
                <a:latin typeface="Arial" pitchFamily="34" charset="0"/>
                <a:ea typeface="Arial" pitchFamily="34" charset="-122"/>
                <a:cs typeface="Arial" pitchFamily="34" charset="-120"/>
              </a:rPr>
              <a:t>both threads keep working - CPU busy</a:t>
            </a:r>
            <a:endParaRPr lang="en-US" sz="792" dirty="0"/>
          </a:p>
        </p:txBody>
      </p:sp>
      <p:sp>
        <p:nvSpPr>
          <p:cNvPr id="59" name="Text 56"/>
          <p:cNvSpPr txBox="1"/>
          <p:nvPr/>
        </p:nvSpPr>
        <p:spPr>
          <a:xfrm>
            <a:off x="6766560" y="2520349"/>
            <a:ext cx="1371600" cy="164592"/>
          </a:xfrm>
          <a:prstGeom prst="rect">
            <a:avLst/>
          </a:prstGeom>
          <a:noFill/>
          <a:ln/>
        </p:spPr>
        <p:txBody>
          <a:bodyPr wrap="square" lIns="0" tIns="0" rIns="0" bIns="0" rtlCol="0" anchor="ctr"/>
          <a:lstStyle/>
          <a:p>
            <a:pPr marL="0" indent="0" algn="l">
              <a:buNone/>
            </a:pPr>
            <a:r>
              <a:rPr lang="en-US" sz="864" b="1" dirty="0">
                <a:solidFill>
                  <a:srgbClr val="FF5A54"/>
                </a:solidFill>
                <a:latin typeface="Arial" pitchFamily="34" charset="0"/>
                <a:ea typeface="Arial" pitchFamily="34" charset="-122"/>
                <a:cs typeface="Arial" pitchFamily="34" charset="-120"/>
              </a:rPr>
              <a:t>no progress</a:t>
            </a:r>
            <a:endParaRPr lang="en-US" sz="864"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3" name="Text 10"/>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LIVELOCK — RUN IT LIVE</a:t>
            </a:r>
            <a:endParaRPr lang="en-US" sz="1050" dirty="0"/>
          </a:p>
        </p:txBody>
      </p:sp>
      <p:sp>
        <p:nvSpPr>
          <p:cNvPr id="14" name="Text 11"/>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Two locks, polite threads</a:t>
            </a:r>
            <a:endParaRPr lang="en-US" sz="3200" dirty="0"/>
          </a:p>
        </p:txBody>
      </p:sp>
      <p:sp>
        <p:nvSpPr>
          <p:cNvPr id="15" name="Shape 12"/>
          <p:cNvSpPr/>
          <p:nvPr/>
        </p:nvSpPr>
        <p:spPr>
          <a:xfrm>
            <a:off x="566928" y="1444752"/>
            <a:ext cx="8010144" cy="3192272"/>
          </a:xfrm>
          <a:prstGeom prst="roundRect">
            <a:avLst>
              <a:gd name="adj" fmla="val 1432"/>
            </a:avLst>
          </a:prstGeom>
          <a:solidFill>
            <a:srgbClr val="141613"/>
          </a:solidFill>
          <a:ln w="12700">
            <a:solidFill>
              <a:srgbClr val="1F231B"/>
            </a:solidFill>
            <a:prstDash val="solid"/>
          </a:ln>
        </p:spPr>
        <p:txBody>
          <a:bodyPr/>
          <a:lstStyle/>
          <a:p>
            <a:endParaRPr/>
          </a:p>
        </p:txBody>
      </p:sp>
      <p:sp>
        <p:nvSpPr>
          <p:cNvPr id="16" name="Text 13"/>
          <p:cNvSpPr txBox="1"/>
          <p:nvPr/>
        </p:nvSpPr>
        <p:spPr>
          <a:xfrm>
            <a:off x="822960" y="1627632"/>
            <a:ext cx="7498080" cy="2872232"/>
          </a:xfrm>
          <a:prstGeom prst="rect">
            <a:avLst/>
          </a:prstGeom>
          <a:noFill/>
          <a:ln/>
        </p:spPr>
        <p:txBody>
          <a:bodyPr wrap="square" lIns="0" tIns="0" rIns="0" bIns="0" rtlCol="0" anchor="t"/>
          <a:lstStyle/>
          <a:p>
            <a:pPr marL="0" indent="0">
              <a:lnSpc>
                <a:spcPts val="1400"/>
              </a:lnSpc>
              <a:buNone/>
            </a:pPr>
            <a:r>
              <a:rPr lang="en-US" sz="1100" dirty="0">
                <a:solidFill>
                  <a:srgbClr val="D9F201"/>
                </a:solidFill>
                <a:latin typeface="Courier New" pitchFamily="34" charset="0"/>
                <a:ea typeface="Courier New" pitchFamily="34" charset="-122"/>
                <a:cs typeface="Courier New" pitchFamily="34" charset="-120"/>
              </a:rPr>
              <a:t>static</a:t>
            </a: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D9F201"/>
                </a:solidFill>
                <a:latin typeface="Courier New" pitchFamily="34" charset="0"/>
                <a:ea typeface="Courier New" pitchFamily="34" charset="-122"/>
                <a:cs typeface="Courier New" pitchFamily="34" charset="-120"/>
              </a:rPr>
              <a:t>readonly</a:t>
            </a: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35E0C8"/>
                </a:solidFill>
                <a:latin typeface="Courier New" pitchFamily="34" charset="0"/>
                <a:ea typeface="Courier New" pitchFamily="34" charset="-122"/>
                <a:cs typeface="Courier New" pitchFamily="34" charset="-120"/>
              </a:rPr>
              <a:t>Lock</a:t>
            </a:r>
            <a:r>
              <a:rPr lang="en-US" sz="1100" dirty="0">
                <a:solidFill>
                  <a:srgbClr val="FFFFFF"/>
                </a:solidFill>
                <a:latin typeface="Courier New" pitchFamily="34" charset="0"/>
                <a:ea typeface="Courier New" pitchFamily="34" charset="-122"/>
                <a:cs typeface="Courier New" pitchFamily="34" charset="-120"/>
              </a:rPr>
              <a:t> lockA = </a:t>
            </a:r>
            <a:r>
              <a:rPr lang="en-US" sz="1100" dirty="0">
                <a:solidFill>
                  <a:srgbClr val="D9F201"/>
                </a:solidFill>
                <a:latin typeface="Courier New" pitchFamily="34" charset="0"/>
                <a:ea typeface="Courier New" pitchFamily="34" charset="-122"/>
                <a:cs typeface="Courier New" pitchFamily="34" charset="-120"/>
              </a:rPr>
              <a:t>new</a:t>
            </a:r>
            <a:r>
              <a:rPr lang="en-US" sz="1100" dirty="0">
                <a:solidFill>
                  <a:srgbClr val="FFFFFF"/>
                </a:solidFill>
                <a:latin typeface="Courier New" pitchFamily="34" charset="0"/>
                <a:ea typeface="Courier New" pitchFamily="34" charset="-122"/>
                <a:cs typeface="Courier New" pitchFamily="34" charset="-120"/>
              </a:rPr>
              <a:t>(), lockB = </a:t>
            </a:r>
            <a:r>
              <a:rPr lang="en-US" sz="1100" dirty="0">
                <a:solidFill>
                  <a:srgbClr val="D9F201"/>
                </a:solidFill>
                <a:latin typeface="Courier New" pitchFamily="34" charset="0"/>
                <a:ea typeface="Courier New" pitchFamily="34" charset="-122"/>
                <a:cs typeface="Courier New" pitchFamily="34" charset="-120"/>
              </a:rPr>
              <a:t>new</a:t>
            </a: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marL="0" indent="0">
              <a:lnSpc>
                <a:spcPts val="1400"/>
              </a:lnSpc>
              <a:buNone/>
            </a:pPr>
            <a:endParaRPr lang="en-US" sz="1100" dirty="0"/>
          </a:p>
          <a:p>
            <a:pPr marL="0" indent="0">
              <a:lnSpc>
                <a:spcPts val="1400"/>
              </a:lnSpc>
              <a:buNone/>
            </a:pPr>
            <a:r>
              <a:rPr lang="en-US" sz="1100" dirty="0">
                <a:solidFill>
                  <a:srgbClr val="D9F201"/>
                </a:solidFill>
                <a:latin typeface="Courier New" pitchFamily="34" charset="0"/>
                <a:ea typeface="Courier New" pitchFamily="34" charset="-122"/>
                <a:cs typeface="Courier New" pitchFamily="34" charset="-120"/>
              </a:rPr>
              <a:t>while</a:t>
            </a: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D9F201"/>
                </a:solidFill>
                <a:latin typeface="Courier New" pitchFamily="34" charset="0"/>
                <a:ea typeface="Courier New" pitchFamily="34" charset="-122"/>
                <a:cs typeface="Courier New" pitchFamily="34" charset="-120"/>
              </a:rPr>
              <a:t>true</a:t>
            </a: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5E6357"/>
                </a:solidFill>
                <a:latin typeface="Courier New" pitchFamily="34" charset="0"/>
                <a:ea typeface="Courier New" pitchFamily="34" charset="-122"/>
                <a:cs typeface="Courier New" pitchFamily="34" charset="-120"/>
              </a:rPr>
              <a:t>// thread 1: A, then B (thread 2: B, then A)</a:t>
            </a:r>
            <a:endParaRPr lang="en-US" sz="1100" dirty="0"/>
          </a:p>
          <a:p>
            <a:pPr marL="0" indent="0">
              <a:lnSpc>
                <a:spcPts val="1400"/>
              </a:lnSpc>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marL="0" indent="0">
              <a:lnSpc>
                <a:spcPts val="1400"/>
              </a:lnSpc>
              <a:buNone/>
            </a:pP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D9F201"/>
                </a:solidFill>
                <a:latin typeface="Courier New" pitchFamily="34" charset="0"/>
                <a:ea typeface="Courier New" pitchFamily="34" charset="-122"/>
                <a:cs typeface="Courier New" pitchFamily="34" charset="-120"/>
              </a:rPr>
              <a:t>lock</a:t>
            </a:r>
            <a:r>
              <a:rPr lang="en-US" sz="1100" dirty="0">
                <a:solidFill>
                  <a:srgbClr val="FFFFFF"/>
                </a:solidFill>
                <a:latin typeface="Courier New" pitchFamily="34" charset="0"/>
                <a:ea typeface="Courier New" pitchFamily="34" charset="-122"/>
                <a:cs typeface="Courier New" pitchFamily="34" charset="-120"/>
              </a:rPr>
              <a:t> (lockA)</a:t>
            </a:r>
            <a:endParaRPr lang="en-US" sz="1100" dirty="0"/>
          </a:p>
          <a:p>
            <a:pPr marL="0" indent="0">
              <a:lnSpc>
                <a:spcPts val="1400"/>
              </a:lnSpc>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marL="0" indent="0">
              <a:lnSpc>
                <a:spcPts val="1400"/>
              </a:lnSpc>
              <a:buNone/>
            </a:pP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35E0C8"/>
                </a:solidFill>
                <a:latin typeface="Courier New" pitchFamily="34" charset="0"/>
                <a:ea typeface="Courier New" pitchFamily="34" charset="-122"/>
                <a:cs typeface="Courier New" pitchFamily="34" charset="-120"/>
              </a:rPr>
              <a:t>Thread</a:t>
            </a:r>
            <a:r>
              <a:rPr lang="en-US" sz="1100" dirty="0">
                <a:solidFill>
                  <a:srgbClr val="FFFFFF"/>
                </a:solidFill>
                <a:latin typeface="Courier New" pitchFamily="34" charset="0"/>
                <a:ea typeface="Courier New" pitchFamily="34" charset="-122"/>
                <a:cs typeface="Courier New" pitchFamily="34" charset="-120"/>
              </a:rPr>
              <a:t>.</a:t>
            </a:r>
            <a:r>
              <a:rPr lang="en-US" sz="1100" dirty="0">
                <a:solidFill>
                  <a:srgbClr val="35E0C8"/>
                </a:solidFill>
                <a:latin typeface="Courier New" pitchFamily="34" charset="0"/>
                <a:ea typeface="Courier New" pitchFamily="34" charset="-122"/>
                <a:cs typeface="Courier New" pitchFamily="34" charset="-120"/>
              </a:rPr>
              <a:t>Sleep</a:t>
            </a:r>
            <a:r>
              <a:rPr lang="en-US" sz="1100" dirty="0">
                <a:solidFill>
                  <a:srgbClr val="FFFFFF"/>
                </a:solidFill>
                <a:latin typeface="Courier New" pitchFamily="34" charset="0"/>
                <a:ea typeface="Courier New" pitchFamily="34" charset="-122"/>
                <a:cs typeface="Courier New" pitchFamily="34" charset="-120"/>
              </a:rPr>
              <a:t>(</a:t>
            </a:r>
            <a:r>
              <a:rPr lang="en-US" sz="1100" dirty="0">
                <a:solidFill>
                  <a:srgbClr val="35E0C8"/>
                </a:solidFill>
                <a:latin typeface="Courier New" pitchFamily="34" charset="0"/>
                <a:ea typeface="Courier New" pitchFamily="34" charset="-122"/>
                <a:cs typeface="Courier New" pitchFamily="34" charset="-120"/>
              </a:rPr>
              <a:t>50</a:t>
            </a: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marL="0" indent="0">
              <a:lnSpc>
                <a:spcPts val="1400"/>
              </a:lnSpc>
              <a:buNone/>
            </a:pP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D9F201"/>
                </a:solidFill>
                <a:latin typeface="Courier New" pitchFamily="34" charset="0"/>
                <a:ea typeface="Courier New" pitchFamily="34" charset="-122"/>
                <a:cs typeface="Courier New" pitchFamily="34" charset="-120"/>
              </a:rPr>
              <a:t>if</a:t>
            </a:r>
            <a:r>
              <a:rPr lang="en-US" sz="1100" dirty="0">
                <a:solidFill>
                  <a:srgbClr val="FFFFFF"/>
                </a:solidFill>
                <a:latin typeface="Courier New" pitchFamily="34" charset="0"/>
                <a:ea typeface="Courier New" pitchFamily="34" charset="-122"/>
                <a:cs typeface="Courier New" pitchFamily="34" charset="-120"/>
              </a:rPr>
              <a:t> (lockB.</a:t>
            </a:r>
            <a:r>
              <a:rPr lang="en-US" sz="1100" dirty="0">
                <a:solidFill>
                  <a:srgbClr val="35E0C8"/>
                </a:solidFill>
                <a:latin typeface="Courier New" pitchFamily="34" charset="0"/>
                <a:ea typeface="Courier New" pitchFamily="34" charset="-122"/>
                <a:cs typeface="Courier New" pitchFamily="34" charset="-120"/>
              </a:rPr>
              <a:t>TryEnter</a:t>
            </a: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5E6357"/>
                </a:solidFill>
                <a:latin typeface="Courier New" pitchFamily="34" charset="0"/>
                <a:ea typeface="Courier New" pitchFamily="34" charset="-122"/>
                <a:cs typeface="Courier New" pitchFamily="34" charset="-120"/>
              </a:rPr>
              <a:t>// B free? take it, do not wait</a:t>
            </a:r>
            <a:endParaRPr lang="en-US" sz="1100" dirty="0"/>
          </a:p>
          <a:p>
            <a:pPr marL="0" indent="0">
              <a:lnSpc>
                <a:spcPts val="1400"/>
              </a:lnSpc>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marL="0" indent="0">
              <a:lnSpc>
                <a:spcPts val="1400"/>
              </a:lnSpc>
              <a:buNone/>
            </a:pP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D9F201"/>
                </a:solidFill>
                <a:latin typeface="Courier New" pitchFamily="34" charset="0"/>
                <a:ea typeface="Courier New" pitchFamily="34" charset="-122"/>
                <a:cs typeface="Courier New" pitchFamily="34" charset="-120"/>
              </a:rPr>
              <a:t>try</a:t>
            </a:r>
            <a:r>
              <a:rPr lang="en-US" sz="1100" dirty="0">
                <a:solidFill>
                  <a:srgbClr val="FFFFFF"/>
                </a:solidFill>
                <a:latin typeface="Courier New" pitchFamily="34" charset="0"/>
                <a:ea typeface="Courier New" pitchFamily="34" charset="-122"/>
                <a:cs typeface="Courier New" pitchFamily="34" charset="-120"/>
              </a:rPr>
              <a:t> { </a:t>
            </a:r>
            <a:r>
              <a:rPr lang="en-US" sz="1100" dirty="0">
                <a:solidFill>
                  <a:srgbClr val="35E0C8"/>
                </a:solidFill>
                <a:latin typeface="Courier New" pitchFamily="34" charset="0"/>
                <a:ea typeface="Courier New" pitchFamily="34" charset="-122"/>
                <a:cs typeface="Courier New" pitchFamily="34" charset="-120"/>
              </a:rPr>
              <a:t>Console</a:t>
            </a:r>
            <a:r>
              <a:rPr lang="en-US" sz="1100" dirty="0">
                <a:solidFill>
                  <a:srgbClr val="FFFFFF"/>
                </a:solidFill>
                <a:latin typeface="Courier New" pitchFamily="34" charset="0"/>
                <a:ea typeface="Courier New" pitchFamily="34" charset="-122"/>
                <a:cs typeface="Courier New" pitchFamily="34" charset="-120"/>
              </a:rPr>
              <a:t>.</a:t>
            </a:r>
            <a:r>
              <a:rPr lang="en-US" sz="1100" dirty="0">
                <a:solidFill>
                  <a:srgbClr val="35E0C8"/>
                </a:solidFill>
                <a:latin typeface="Courier New" pitchFamily="34" charset="0"/>
                <a:ea typeface="Courier New" pitchFamily="34" charset="-122"/>
                <a:cs typeface="Courier New" pitchFamily="34" charset="-120"/>
              </a:rPr>
              <a:t>WriteLine</a:t>
            </a:r>
            <a:r>
              <a:rPr lang="en-US" sz="1100" dirty="0">
                <a:solidFill>
                  <a:srgbClr val="FFFFFF"/>
                </a:solidFill>
                <a:latin typeface="Courier New" pitchFamily="34" charset="0"/>
                <a:ea typeface="Courier New" pitchFamily="34" charset="-122"/>
                <a:cs typeface="Courier New" pitchFamily="34" charset="-120"/>
              </a:rPr>
              <a:t>(</a:t>
            </a:r>
            <a:r>
              <a:rPr lang="en-US" sz="1100" dirty="0">
                <a:solidFill>
                  <a:srgbClr val="35E0C8"/>
                </a:solidFill>
                <a:latin typeface="Courier New" pitchFamily="34" charset="0"/>
                <a:ea typeface="Courier New" pitchFamily="34" charset="-122"/>
                <a:cs typeface="Courier New" pitchFamily="34" charset="-120"/>
              </a:rPr>
              <a:t>"T1 got A and B, doing work!"</a:t>
            </a: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D9F201"/>
                </a:solidFill>
                <a:latin typeface="Courier New" pitchFamily="34" charset="0"/>
                <a:ea typeface="Courier New" pitchFamily="34" charset="-122"/>
                <a:cs typeface="Courier New" pitchFamily="34" charset="-120"/>
              </a:rPr>
              <a:t>return</a:t>
            </a: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marL="0" indent="0">
              <a:lnSpc>
                <a:spcPts val="1400"/>
              </a:lnSpc>
              <a:buNone/>
            </a:pP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D9F201"/>
                </a:solidFill>
                <a:latin typeface="Courier New" pitchFamily="34" charset="0"/>
                <a:ea typeface="Courier New" pitchFamily="34" charset="-122"/>
                <a:cs typeface="Courier New" pitchFamily="34" charset="-120"/>
              </a:rPr>
              <a:t>finally</a:t>
            </a:r>
            <a:r>
              <a:rPr lang="en-US" sz="1100" dirty="0">
                <a:solidFill>
                  <a:srgbClr val="FFFFFF"/>
                </a:solidFill>
                <a:latin typeface="Courier New" pitchFamily="34" charset="0"/>
                <a:ea typeface="Courier New" pitchFamily="34" charset="-122"/>
                <a:cs typeface="Courier New" pitchFamily="34" charset="-120"/>
              </a:rPr>
              <a:t> { lockB.</a:t>
            </a:r>
            <a:r>
              <a:rPr lang="en-US" sz="1100" dirty="0">
                <a:solidFill>
                  <a:srgbClr val="35E0C8"/>
                </a:solidFill>
                <a:latin typeface="Courier New" pitchFamily="34" charset="0"/>
                <a:ea typeface="Courier New" pitchFamily="34" charset="-122"/>
                <a:cs typeface="Courier New" pitchFamily="34" charset="-120"/>
              </a:rPr>
              <a:t>Exit</a:t>
            </a: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marL="0" indent="0">
              <a:lnSpc>
                <a:spcPts val="1400"/>
              </a:lnSpc>
              <a:buNone/>
            </a:pPr>
            <a:r>
              <a:rPr lang="en-US" sz="1100" dirty="0">
                <a:solidFill>
                  <a:srgbClr val="FFFFFF"/>
                </a:solidFill>
                <a:latin typeface="Courier New" pitchFamily="34" charset="0"/>
                <a:ea typeface="Courier New" pitchFamily="34" charset="-122"/>
                <a:cs typeface="Courier New" pitchFamily="34" charset="-120"/>
              </a:rPr>
              <a:t>        }</a:t>
            </a:r>
            <a:endParaRPr lang="en-US" sz="1100" dirty="0"/>
          </a:p>
          <a:p>
            <a:pPr marL="0" indent="0">
              <a:lnSpc>
                <a:spcPts val="1400"/>
              </a:lnSpc>
              <a:buNone/>
            </a:pP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35E0C8"/>
                </a:solidFill>
                <a:latin typeface="Courier New" pitchFamily="34" charset="0"/>
                <a:ea typeface="Courier New" pitchFamily="34" charset="-122"/>
                <a:cs typeface="Courier New" pitchFamily="34" charset="-120"/>
              </a:rPr>
              <a:t>Thread</a:t>
            </a:r>
            <a:r>
              <a:rPr lang="en-US" sz="1100" dirty="0">
                <a:solidFill>
                  <a:srgbClr val="FFFFFF"/>
                </a:solidFill>
                <a:latin typeface="Courier New" pitchFamily="34" charset="0"/>
                <a:ea typeface="Courier New" pitchFamily="34" charset="-122"/>
                <a:cs typeface="Courier New" pitchFamily="34" charset="-120"/>
              </a:rPr>
              <a:t>.</a:t>
            </a:r>
            <a:r>
              <a:rPr lang="en-US" sz="1100" dirty="0">
                <a:solidFill>
                  <a:srgbClr val="35E0C8"/>
                </a:solidFill>
                <a:latin typeface="Courier New" pitchFamily="34" charset="0"/>
                <a:ea typeface="Courier New" pitchFamily="34" charset="-122"/>
                <a:cs typeface="Courier New" pitchFamily="34" charset="-120"/>
              </a:rPr>
              <a:t>Sleep</a:t>
            </a:r>
            <a:r>
              <a:rPr lang="en-US" sz="1100" dirty="0">
                <a:solidFill>
                  <a:srgbClr val="FFFFFF"/>
                </a:solidFill>
                <a:latin typeface="Courier New" pitchFamily="34" charset="0"/>
                <a:ea typeface="Courier New" pitchFamily="34" charset="-122"/>
                <a:cs typeface="Courier New" pitchFamily="34" charset="-120"/>
              </a:rPr>
              <a:t>(</a:t>
            </a:r>
            <a:r>
              <a:rPr lang="en-US" sz="1100" dirty="0">
                <a:solidFill>
                  <a:srgbClr val="35E0C8"/>
                </a:solidFill>
                <a:latin typeface="Courier New" pitchFamily="34" charset="0"/>
                <a:ea typeface="Courier New" pitchFamily="34" charset="-122"/>
                <a:cs typeface="Courier New" pitchFamily="34" charset="-120"/>
              </a:rPr>
              <a:t>50</a:t>
            </a: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5E6357"/>
                </a:solidFill>
                <a:latin typeface="Courier New" pitchFamily="34" charset="0"/>
                <a:ea typeface="Courier New" pitchFamily="34" charset="-122"/>
                <a:cs typeface="Courier New" pitchFamily="34" charset="-120"/>
              </a:rPr>
              <a:t>// B busy: undo the work done with A</a:t>
            </a:r>
            <a:endParaRPr lang="en-US" sz="1100" dirty="0"/>
          </a:p>
          <a:p>
            <a:pPr marL="0" indent="0">
              <a:lnSpc>
                <a:spcPts val="1400"/>
              </a:lnSpc>
              <a:buNone/>
            </a:pPr>
            <a:r>
              <a:rPr lang="en-US" sz="1100" dirty="0">
                <a:solidFill>
                  <a:srgbClr val="FFFFFF"/>
                </a:solidFill>
                <a:latin typeface="Courier New" pitchFamily="34" charset="0"/>
                <a:ea typeface="Courier New" pitchFamily="34" charset="-122"/>
                <a:cs typeface="Courier New" pitchFamily="34" charset="-120"/>
              </a:rPr>
              <a:t>    }                                     </a:t>
            </a:r>
            <a:r>
              <a:rPr lang="en-US" sz="1100" dirty="0">
                <a:solidFill>
                  <a:srgbClr val="5E6357"/>
                </a:solidFill>
                <a:latin typeface="Courier New" pitchFamily="34" charset="0"/>
                <a:ea typeface="Courier New" pitchFamily="34" charset="-122"/>
                <a:cs typeface="Courier New" pitchFamily="34" charset="-120"/>
              </a:rPr>
              <a:t>// A released here</a:t>
            </a:r>
            <a:endParaRPr lang="en-US" sz="1100" dirty="0"/>
          </a:p>
          <a:p>
            <a:pPr marL="0" indent="0">
              <a:lnSpc>
                <a:spcPts val="1400"/>
              </a:lnSpc>
              <a:buNone/>
            </a:pPr>
            <a:r>
              <a:rPr lang="en-US" sz="1100" dirty="0">
                <a:solidFill>
                  <a:srgbClr val="FFFFFF"/>
                </a:solidFill>
                <a:latin typeface="Courier New" pitchFamily="34" charset="0"/>
                <a:ea typeface="Courier New" pitchFamily="34" charset="-122"/>
                <a:cs typeface="Courier New" pitchFamily="34" charset="-120"/>
              </a:rPr>
              <a:t>    </a:t>
            </a:r>
            <a:r>
              <a:rPr lang="en-US" sz="1100" dirty="0">
                <a:solidFill>
                  <a:srgbClr val="35E0C8"/>
                </a:solidFill>
                <a:latin typeface="Courier New" pitchFamily="34" charset="0"/>
                <a:ea typeface="Courier New" pitchFamily="34" charset="-122"/>
                <a:cs typeface="Courier New" pitchFamily="34" charset="-120"/>
              </a:rPr>
              <a:t>Thread</a:t>
            </a:r>
            <a:r>
              <a:rPr lang="en-US" sz="1100" dirty="0">
                <a:solidFill>
                  <a:srgbClr val="FFFFFF"/>
                </a:solidFill>
                <a:latin typeface="Courier New" pitchFamily="34" charset="0"/>
                <a:ea typeface="Courier New" pitchFamily="34" charset="-122"/>
                <a:cs typeface="Courier New" pitchFamily="34" charset="-120"/>
              </a:rPr>
              <a:t>.</a:t>
            </a:r>
            <a:r>
              <a:rPr lang="en-US" sz="1100" dirty="0">
                <a:solidFill>
                  <a:srgbClr val="35E0C8"/>
                </a:solidFill>
                <a:latin typeface="Courier New" pitchFamily="34" charset="0"/>
                <a:ea typeface="Courier New" pitchFamily="34" charset="-122"/>
                <a:cs typeface="Courier New" pitchFamily="34" charset="-120"/>
              </a:rPr>
              <a:t>Sleep</a:t>
            </a:r>
            <a:r>
              <a:rPr lang="en-US" sz="1100" dirty="0">
                <a:solidFill>
                  <a:srgbClr val="FFFFFF"/>
                </a:solidFill>
                <a:latin typeface="Courier New" pitchFamily="34" charset="0"/>
                <a:ea typeface="Courier New" pitchFamily="34" charset="-122"/>
                <a:cs typeface="Courier New" pitchFamily="34" charset="-120"/>
              </a:rPr>
              <a:t>(</a:t>
            </a:r>
            <a:r>
              <a:rPr lang="en-US" sz="1100" dirty="0">
                <a:solidFill>
                  <a:srgbClr val="35E0C8"/>
                </a:solidFill>
                <a:latin typeface="Courier New" pitchFamily="34" charset="0"/>
                <a:ea typeface="Courier New" pitchFamily="34" charset="-122"/>
                <a:cs typeface="Courier New" pitchFamily="34" charset="-120"/>
              </a:rPr>
              <a:t>50</a:t>
            </a:r>
            <a:r>
              <a:rPr lang="en-US" sz="1100" dirty="0">
                <a:solidFill>
                  <a:srgbClr val="FFFFFF"/>
                </a:solidFill>
                <a:latin typeface="Courier New" pitchFamily="34" charset="0"/>
                <a:ea typeface="Courier New" pitchFamily="34" charset="-122"/>
                <a:cs typeface="Courier New" pitchFamily="34" charset="-120"/>
              </a:rPr>
              <a:t>);</a:t>
            </a:r>
            <a:endParaRPr lang="en-US" sz="1100" dirty="0"/>
          </a:p>
          <a:p>
            <a:pPr marL="0" indent="0">
              <a:lnSpc>
                <a:spcPts val="1400"/>
              </a:lnSpc>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3" name="Text 10"/>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LIVELOCK — STEP BY STEP</a:t>
            </a:r>
            <a:endParaRPr lang="en-US" sz="1050" dirty="0"/>
          </a:p>
        </p:txBody>
      </p:sp>
      <p:sp>
        <p:nvSpPr>
          <p:cNvPr id="14" name="Text 11"/>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Why it never ends</a:t>
            </a:r>
            <a:endParaRPr lang="en-US" sz="3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8010144" cy="2688336"/>
        </p:xfrm>
        <a:graphic>
          <a:graphicData uri="http://schemas.openxmlformats.org/drawingml/2006/table">
            <a:tbl>
              <a:tblPr/>
              <a:tblGrid>
                <a:gridCol w="1280160">
                  <a:extLst>
                    <a:ext uri="{9D8B030D-6E8A-4147-A177-3AD203B41FA5}">
                      <a16:colId xmlns:a16="http://schemas.microsoft.com/office/drawing/2014/main" val="20000"/>
                    </a:ext>
                  </a:extLst>
                </a:gridCol>
                <a:gridCol w="3364992">
                  <a:extLst>
                    <a:ext uri="{9D8B030D-6E8A-4147-A177-3AD203B41FA5}">
                      <a16:colId xmlns:a16="http://schemas.microsoft.com/office/drawing/2014/main" val="20001"/>
                    </a:ext>
                  </a:extLst>
                </a:gridCol>
                <a:gridCol w="3364992">
                  <a:extLst>
                    <a:ext uri="{9D8B030D-6E8A-4147-A177-3AD203B41FA5}">
                      <a16:colId xmlns:a16="http://schemas.microsoft.com/office/drawing/2014/main" val="20002"/>
                    </a:ext>
                  </a:extLst>
                </a:gridCol>
              </a:tblGrid>
              <a:tr h="329184">
                <a:tc>
                  <a:txBody>
                    <a:bodyPr/>
                    <a:lstStyle/>
                    <a:p>
                      <a:pPr marL="0" indent="0">
                        <a:buNone/>
                      </a:pPr>
                      <a:r>
                        <a:rPr lang="en-US" sz="1300" b="1" dirty="0">
                          <a:solidFill>
                            <a:srgbClr val="D9F201"/>
                          </a:solidFill>
                          <a:latin typeface="Arial" pitchFamily="34" charset="0"/>
                          <a:ea typeface="Arial" pitchFamily="34" charset="-122"/>
                          <a:cs typeface="Arial" pitchFamily="34" charset="-120"/>
                        </a:rPr>
                        <a:t>Time</a:t>
                      </a:r>
                      <a:endParaRPr lang="en-US" sz="1300" dirty="0">
                        <a:latin typeface="Arial" charset="0"/>
                        <a:ea typeface="Arial" charset="0"/>
                        <a:cs typeface="Arial"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300" b="1" dirty="0">
                          <a:solidFill>
                            <a:srgbClr val="D9F201"/>
                          </a:solidFill>
                          <a:latin typeface="Arial" pitchFamily="34" charset="0"/>
                          <a:ea typeface="Arial" pitchFamily="34" charset="-122"/>
                          <a:cs typeface="Arial" pitchFamily="34" charset="-120"/>
                        </a:rPr>
                        <a:t>Thread 1 (T1)</a:t>
                      </a:r>
                      <a:endParaRPr lang="en-US" sz="1300" dirty="0">
                        <a:latin typeface="Arial" charset="0"/>
                        <a:ea typeface="Arial" charset="0"/>
                        <a:cs typeface="Arial"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300" b="1" dirty="0">
                          <a:solidFill>
                            <a:srgbClr val="D9F201"/>
                          </a:solidFill>
                          <a:latin typeface="Arial" pitchFamily="34" charset="0"/>
                          <a:ea typeface="Arial" pitchFamily="34" charset="-122"/>
                          <a:cs typeface="Arial" pitchFamily="34" charset="-120"/>
                        </a:rPr>
                        <a:t>Thread 2 (T2)</a:t>
                      </a:r>
                      <a:endParaRPr lang="en-US" sz="1300" dirty="0">
                        <a:latin typeface="Arial" charset="0"/>
                        <a:ea typeface="Arial" charset="0"/>
                        <a:cs typeface="Arial"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0"/>
                  </a:ext>
                </a:extLst>
              </a:tr>
              <a:tr h="292608">
                <a:tc>
                  <a:txBody>
                    <a:bodyPr/>
                    <a:lstStyle/>
                    <a:p>
                      <a:pPr marL="0" indent="0">
                        <a:buNone/>
                      </a:pPr>
                      <a:r>
                        <a:rPr lang="en-US" sz="1250" b="1" dirty="0">
                          <a:solidFill>
                            <a:srgbClr val="9AA095"/>
                          </a:solidFill>
                          <a:latin typeface="Courier New" pitchFamily="34" charset="0"/>
                          <a:ea typeface="Courier New" pitchFamily="34" charset="-122"/>
                          <a:cs typeface="Courier New" pitchFamily="34" charset="-120"/>
                        </a:rPr>
                        <a:t>0 ms</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b="1" dirty="0">
                          <a:solidFill>
                            <a:srgbClr val="35E0C8"/>
                          </a:solidFill>
                          <a:latin typeface="Courier New" pitchFamily="34" charset="0"/>
                          <a:ea typeface="Courier New" pitchFamily="34" charset="-122"/>
                          <a:cs typeface="Courier New" pitchFamily="34" charset="-120"/>
                        </a:rPr>
                        <a:t>takes A</a:t>
                      </a:r>
                      <a:r>
                        <a:rPr lang="en-US" sz="1250" dirty="0">
                          <a:solidFill>
                            <a:srgbClr val="9AA095"/>
                          </a:solidFill>
                          <a:latin typeface="Courier New" pitchFamily="34" charset="0"/>
                          <a:ea typeface="Courier New" pitchFamily="34" charset="-122"/>
                          <a:cs typeface="Courier New" pitchFamily="34" charset="-120"/>
                        </a:rPr>
                        <a:t>  (holds A)</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b="1" dirty="0">
                          <a:solidFill>
                            <a:srgbClr val="35E0C8"/>
                          </a:solidFill>
                          <a:latin typeface="Courier New" pitchFamily="34" charset="0"/>
                          <a:ea typeface="Courier New" pitchFamily="34" charset="-122"/>
                          <a:cs typeface="Courier New" pitchFamily="34" charset="-120"/>
                        </a:rPr>
                        <a:t>takes B</a:t>
                      </a:r>
                      <a:r>
                        <a:rPr lang="en-US" sz="1250" dirty="0">
                          <a:solidFill>
                            <a:srgbClr val="9AA095"/>
                          </a:solidFill>
                          <a:latin typeface="Courier New" pitchFamily="34" charset="0"/>
                          <a:ea typeface="Courier New" pitchFamily="34" charset="-122"/>
                          <a:cs typeface="Courier New" pitchFamily="34" charset="-120"/>
                        </a:rPr>
                        <a:t>  (holds B)</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1"/>
                  </a:ext>
                </a:extLst>
              </a:tr>
              <a:tr h="292608">
                <a:tc>
                  <a:txBody>
                    <a:bodyPr/>
                    <a:lstStyle/>
                    <a:p>
                      <a:pPr marL="0" indent="0">
                        <a:buNone/>
                      </a:pPr>
                      <a:r>
                        <a:rPr lang="en-US" sz="1250" b="1" dirty="0">
                          <a:solidFill>
                            <a:srgbClr val="9AA095"/>
                          </a:solidFill>
                          <a:latin typeface="Courier New" pitchFamily="34" charset="0"/>
                          <a:ea typeface="Courier New" pitchFamily="34" charset="-122"/>
                          <a:cs typeface="Courier New" pitchFamily="34" charset="-120"/>
                        </a:rPr>
                        <a:t>0-50</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dirty="0">
                          <a:solidFill>
                            <a:srgbClr val="9AA095"/>
                          </a:solidFill>
                          <a:latin typeface="Courier New" pitchFamily="34" charset="0"/>
                          <a:ea typeface="Courier New" pitchFamily="34" charset="-122"/>
                          <a:cs typeface="Courier New" pitchFamily="34" charset="-120"/>
                        </a:rPr>
                        <a:t>sleeping...</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dirty="0">
                          <a:solidFill>
                            <a:srgbClr val="9AA095"/>
                          </a:solidFill>
                          <a:latin typeface="Courier New" pitchFamily="34" charset="0"/>
                          <a:ea typeface="Courier New" pitchFamily="34" charset="-122"/>
                          <a:cs typeface="Courier New" pitchFamily="34" charset="-120"/>
                        </a:rPr>
                        <a:t>sleeping...</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2"/>
                  </a:ext>
                </a:extLst>
              </a:tr>
              <a:tr h="292608">
                <a:tc>
                  <a:txBody>
                    <a:bodyPr/>
                    <a:lstStyle/>
                    <a:p>
                      <a:pPr marL="0" indent="0">
                        <a:buNone/>
                      </a:pPr>
                      <a:r>
                        <a:rPr lang="en-US" sz="1250" b="1" dirty="0">
                          <a:solidFill>
                            <a:srgbClr val="9AA095"/>
                          </a:solidFill>
                          <a:latin typeface="Courier New" pitchFamily="34" charset="0"/>
                          <a:ea typeface="Courier New" pitchFamily="34" charset="-122"/>
                          <a:cs typeface="Courier New" pitchFamily="34" charset="-120"/>
                        </a:rPr>
                        <a:t>50 ms</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dirty="0">
                          <a:solidFill>
                            <a:srgbClr val="FFFFFF"/>
                          </a:solidFill>
                          <a:latin typeface="Courier New" pitchFamily="34" charset="0"/>
                          <a:ea typeface="Courier New" pitchFamily="34" charset="-122"/>
                          <a:cs typeface="Courier New" pitchFamily="34" charset="-120"/>
                        </a:rPr>
                        <a:t>tries B → </a:t>
                      </a:r>
                      <a:r>
                        <a:rPr lang="en-US" sz="1250" b="1" dirty="0">
                          <a:solidFill>
                            <a:srgbClr val="FF5A54"/>
                          </a:solidFill>
                          <a:latin typeface="Courier New" pitchFamily="34" charset="0"/>
                          <a:ea typeface="Courier New" pitchFamily="34" charset="-122"/>
                          <a:cs typeface="Courier New" pitchFamily="34" charset="-120"/>
                        </a:rPr>
                        <a:t>× busy (T2)</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dirty="0">
                          <a:solidFill>
                            <a:srgbClr val="FFFFFF"/>
                          </a:solidFill>
                          <a:latin typeface="Courier New" pitchFamily="34" charset="0"/>
                          <a:ea typeface="Courier New" pitchFamily="34" charset="-122"/>
                          <a:cs typeface="Courier New" pitchFamily="34" charset="-120"/>
                        </a:rPr>
                        <a:t>tries A → </a:t>
                      </a:r>
                      <a:r>
                        <a:rPr lang="en-US" sz="1250" b="1" dirty="0">
                          <a:solidFill>
                            <a:srgbClr val="FF5A54"/>
                          </a:solidFill>
                          <a:latin typeface="Courier New" pitchFamily="34" charset="0"/>
                          <a:ea typeface="Courier New" pitchFamily="34" charset="-122"/>
                          <a:cs typeface="Courier New" pitchFamily="34" charset="-120"/>
                        </a:rPr>
                        <a:t>× busy (T1)</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3"/>
                  </a:ext>
                </a:extLst>
              </a:tr>
              <a:tr h="292608">
                <a:tc>
                  <a:txBody>
                    <a:bodyPr/>
                    <a:lstStyle/>
                    <a:p>
                      <a:pPr marL="0" indent="0">
                        <a:buNone/>
                      </a:pPr>
                      <a:r>
                        <a:rPr lang="en-US" sz="1250" b="1" dirty="0">
                          <a:solidFill>
                            <a:srgbClr val="9AA095"/>
                          </a:solidFill>
                          <a:latin typeface="Courier New" pitchFamily="34" charset="0"/>
                          <a:ea typeface="Courier New" pitchFamily="34" charset="-122"/>
                          <a:cs typeface="Courier New" pitchFamily="34" charset="-120"/>
                        </a:rPr>
                        <a:t>50-100</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dirty="0">
                          <a:solidFill>
                            <a:srgbClr val="FF5A54"/>
                          </a:solidFill>
                          <a:latin typeface="Courier New" pitchFamily="34" charset="0"/>
                          <a:ea typeface="Courier New" pitchFamily="34" charset="-122"/>
                          <a:cs typeface="Courier New" pitchFamily="34" charset="-120"/>
                        </a:rPr>
                        <a:t>undoing...</a:t>
                      </a:r>
                      <a:r>
                        <a:rPr lang="en-US" sz="1250" dirty="0">
                          <a:solidFill>
                            <a:srgbClr val="9AA095"/>
                          </a:solidFill>
                          <a:latin typeface="Courier New" pitchFamily="34" charset="0"/>
                          <a:ea typeface="Courier New" pitchFamily="34" charset="-122"/>
                          <a:cs typeface="Courier New" pitchFamily="34" charset="-120"/>
                        </a:rPr>
                        <a:t>  (still holds A)</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dirty="0">
                          <a:solidFill>
                            <a:srgbClr val="FF5A54"/>
                          </a:solidFill>
                          <a:latin typeface="Courier New" pitchFamily="34" charset="0"/>
                          <a:ea typeface="Courier New" pitchFamily="34" charset="-122"/>
                          <a:cs typeface="Courier New" pitchFamily="34" charset="-120"/>
                        </a:rPr>
                        <a:t>undoing...</a:t>
                      </a:r>
                      <a:r>
                        <a:rPr lang="en-US" sz="1250" dirty="0">
                          <a:solidFill>
                            <a:srgbClr val="9AA095"/>
                          </a:solidFill>
                          <a:latin typeface="Courier New" pitchFamily="34" charset="0"/>
                          <a:ea typeface="Courier New" pitchFamily="34" charset="-122"/>
                          <a:cs typeface="Courier New" pitchFamily="34" charset="-120"/>
                        </a:rPr>
                        <a:t>  (still holds B)</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4"/>
                  </a:ext>
                </a:extLst>
              </a:tr>
              <a:tr h="292608">
                <a:tc>
                  <a:txBody>
                    <a:bodyPr/>
                    <a:lstStyle/>
                    <a:p>
                      <a:pPr marL="0" indent="0">
                        <a:buNone/>
                      </a:pPr>
                      <a:r>
                        <a:rPr lang="en-US" sz="1250" b="1" dirty="0">
                          <a:solidFill>
                            <a:srgbClr val="9AA095"/>
                          </a:solidFill>
                          <a:latin typeface="Courier New" pitchFamily="34" charset="0"/>
                          <a:ea typeface="Courier New" pitchFamily="34" charset="-122"/>
                          <a:cs typeface="Courier New" pitchFamily="34" charset="-120"/>
                        </a:rPr>
                        <a:t>100 ms</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b="1" dirty="0">
                          <a:solidFill>
                            <a:srgbClr val="FFFFFF"/>
                          </a:solidFill>
                          <a:latin typeface="Courier New" pitchFamily="34" charset="0"/>
                          <a:ea typeface="Courier New" pitchFamily="34" charset="-122"/>
                          <a:cs typeface="Courier New" pitchFamily="34" charset="-120"/>
                        </a:rPr>
                        <a:t>releases A</a:t>
                      </a:r>
                      <a:r>
                        <a:rPr lang="en-US" sz="1250" dirty="0">
                          <a:solidFill>
                            <a:srgbClr val="9AA095"/>
                          </a:solidFill>
                          <a:latin typeface="Courier New" pitchFamily="34" charset="0"/>
                          <a:ea typeface="Courier New" pitchFamily="34" charset="-122"/>
                          <a:cs typeface="Courier New" pitchFamily="34" charset="-120"/>
                        </a:rPr>
                        <a:t>  (holds nothing)</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b="1" dirty="0">
                          <a:solidFill>
                            <a:srgbClr val="FFFFFF"/>
                          </a:solidFill>
                          <a:latin typeface="Courier New" pitchFamily="34" charset="0"/>
                          <a:ea typeface="Courier New" pitchFamily="34" charset="-122"/>
                          <a:cs typeface="Courier New" pitchFamily="34" charset="-120"/>
                        </a:rPr>
                        <a:t>releases B</a:t>
                      </a:r>
                      <a:r>
                        <a:rPr lang="en-US" sz="1250" dirty="0">
                          <a:solidFill>
                            <a:srgbClr val="9AA095"/>
                          </a:solidFill>
                          <a:latin typeface="Courier New" pitchFamily="34" charset="0"/>
                          <a:ea typeface="Courier New" pitchFamily="34" charset="-122"/>
                          <a:cs typeface="Courier New" pitchFamily="34" charset="-120"/>
                        </a:rPr>
                        <a:t>  (holds nothing)</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5"/>
                  </a:ext>
                </a:extLst>
              </a:tr>
              <a:tr h="292608">
                <a:tc>
                  <a:txBody>
                    <a:bodyPr/>
                    <a:lstStyle/>
                    <a:p>
                      <a:pPr marL="0" indent="0">
                        <a:buNone/>
                      </a:pPr>
                      <a:r>
                        <a:rPr lang="en-US" sz="1250" b="1" dirty="0">
                          <a:solidFill>
                            <a:srgbClr val="9AA095"/>
                          </a:solidFill>
                          <a:latin typeface="Courier New" pitchFamily="34" charset="0"/>
                          <a:ea typeface="Courier New" pitchFamily="34" charset="-122"/>
                          <a:cs typeface="Courier New" pitchFamily="34" charset="-120"/>
                        </a:rPr>
                        <a:t>100-150</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dirty="0">
                          <a:solidFill>
                            <a:srgbClr val="9AA095"/>
                          </a:solidFill>
                          <a:latin typeface="Courier New" pitchFamily="34" charset="0"/>
                          <a:ea typeface="Courier New" pitchFamily="34" charset="-122"/>
                          <a:cs typeface="Courier New" pitchFamily="34" charset="-120"/>
                        </a:rPr>
                        <a:t>sleeping...</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dirty="0">
                          <a:solidFill>
                            <a:srgbClr val="9AA095"/>
                          </a:solidFill>
                          <a:latin typeface="Courier New" pitchFamily="34" charset="0"/>
                          <a:ea typeface="Courier New" pitchFamily="34" charset="-122"/>
                          <a:cs typeface="Courier New" pitchFamily="34" charset="-120"/>
                        </a:rPr>
                        <a:t>sleeping...</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6"/>
                  </a:ext>
                </a:extLst>
              </a:tr>
              <a:tr h="292608">
                <a:tc>
                  <a:txBody>
                    <a:bodyPr/>
                    <a:lstStyle/>
                    <a:p>
                      <a:pPr marL="0" indent="0">
                        <a:buNone/>
                      </a:pPr>
                      <a:r>
                        <a:rPr lang="en-US" sz="1250" b="1" dirty="0">
                          <a:solidFill>
                            <a:srgbClr val="9AA095"/>
                          </a:solidFill>
                          <a:latin typeface="Courier New" pitchFamily="34" charset="0"/>
                          <a:ea typeface="Courier New" pitchFamily="34" charset="-122"/>
                          <a:cs typeface="Courier New" pitchFamily="34" charset="-120"/>
                        </a:rPr>
                        <a:t>150 ms</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b="1" dirty="0">
                          <a:solidFill>
                            <a:srgbClr val="35E0C8"/>
                          </a:solidFill>
                          <a:latin typeface="Courier New" pitchFamily="34" charset="0"/>
                          <a:ea typeface="Courier New" pitchFamily="34" charset="-122"/>
                          <a:cs typeface="Courier New" pitchFamily="34" charset="-120"/>
                        </a:rPr>
                        <a:t>takes A</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50" b="1" dirty="0">
                          <a:solidFill>
                            <a:srgbClr val="35E0C8"/>
                          </a:solidFill>
                          <a:latin typeface="Courier New" pitchFamily="34" charset="0"/>
                          <a:ea typeface="Courier New" pitchFamily="34" charset="-122"/>
                          <a:cs typeface="Courier New" pitchFamily="34" charset="-120"/>
                        </a:rPr>
                        <a:t>takes B</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7"/>
                  </a:ext>
                </a:extLst>
              </a:tr>
              <a:tr h="310896">
                <a:tc>
                  <a:txBody>
                    <a:bodyPr/>
                    <a:lstStyle/>
                    <a:p>
                      <a:pPr marL="0" indent="0">
                        <a:buNone/>
                      </a:pP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gridSpan="2">
                  <a:txBody>
                    <a:bodyPr/>
                    <a:lstStyle/>
                    <a:p>
                      <a:pPr marL="0" indent="0">
                        <a:buNone/>
                      </a:pPr>
                      <a:r>
                        <a:rPr lang="en-US" sz="1250" i="1" dirty="0">
                          <a:solidFill>
                            <a:srgbClr val="D9F201"/>
                          </a:solidFill>
                          <a:latin typeface="Courier New" pitchFamily="34" charset="0"/>
                          <a:ea typeface="Courier New" pitchFamily="34" charset="-122"/>
                          <a:cs typeface="Courier New" pitchFamily="34" charset="-120"/>
                        </a:rPr>
                        <a:t>... the same thing again, forever ...</a:t>
                      </a:r>
                      <a:endParaRPr lang="en-US" sz="1250" dirty="0">
                        <a:latin typeface="Courier New" charset="0"/>
                        <a:ea typeface="Courier New" charset="0"/>
                        <a:cs typeface="Courier New" charset="0"/>
                      </a:endParaRPr>
                    </a:p>
                  </a:txBody>
                  <a:tcPr marL="109728" marR="109728" marT="18288" marB="18288"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hMerge="1">
                  <a:txBody>
                    <a:bodyPr/>
                    <a:lstStyle/>
                    <a:p>
                      <a:endParaRPr lang="en-MD"/>
                    </a:p>
                  </a:txBody>
                  <a:tcPr/>
                </a:tc>
                <a:extLst>
                  <a:ext uri="{0D108BD9-81ED-4DB2-BD59-A6C34878D82A}">
                    <a16:rowId xmlns:a16="http://schemas.microsoft.com/office/drawing/2014/main" val="10008"/>
                  </a:ext>
                </a:extLst>
              </a:tr>
            </a:tbl>
          </a:graphicData>
        </a:graphic>
      </p:graphicFrame>
      <p:sp>
        <p:nvSpPr>
          <p:cNvPr id="16" name="Text 12"/>
          <p:cNvSpPr txBox="1"/>
          <p:nvPr/>
        </p:nvSpPr>
        <p:spPr>
          <a:xfrm>
            <a:off x="566928" y="4370832"/>
            <a:ext cx="8010144" cy="274320"/>
          </a:xfrm>
          <a:prstGeom prst="rect">
            <a:avLst/>
          </a:prstGeom>
          <a:noFill/>
          <a:ln/>
        </p:spPr>
        <p:txBody>
          <a:bodyPr wrap="square" lIns="0" tIns="0" rIns="0" bIns="0" rtlCol="0" anchor="ctr"/>
          <a:lstStyle/>
          <a:p>
            <a:pPr marL="0" indent="0">
              <a:buNone/>
            </a:pPr>
            <a:r>
              <a:rPr lang="en-US" sz="1300" i="1" dirty="0">
                <a:solidFill>
                  <a:srgbClr val="D9F201"/>
                </a:solidFill>
                <a:latin typeface="Arial" pitchFamily="34" charset="0"/>
                <a:ea typeface="Arial" pitchFamily="34" charset="-122"/>
                <a:cs typeface="Arial" pitchFamily="34" charset="-120"/>
              </a:rPr>
              <a:t>Both threads always try at the same moment - so both always find the other lock busy.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 0"/>
          <p:cNvSpPr txBox="1"/>
          <p:nvPr/>
        </p:nvSpPr>
        <p:spPr>
          <a:xfrm>
            <a:off x="502920" y="233172"/>
            <a:ext cx="7772400" cy="342900"/>
          </a:xfrm>
          <a:prstGeom prst="rect">
            <a:avLst/>
          </a:prstGeom>
          <a:noFill/>
          <a:ln/>
        </p:spPr>
        <p:txBody>
          <a:bodyPr wrap="square" lIns="0" tIns="0" rIns="0" bIns="0" rtlCol="0" anchor="ctr"/>
          <a:lstStyle/>
          <a:p>
            <a:pPr marL="0" indent="0" algn="l">
              <a:buNone/>
            </a:pPr>
            <a:r>
              <a:rPr lang="en-US" sz="1800" b="1" kern="0" spc="36" dirty="0">
                <a:solidFill>
                  <a:srgbClr val="D9F201"/>
                </a:solidFill>
                <a:latin typeface="Arial" pitchFamily="34" charset="0"/>
                <a:ea typeface="Arial" pitchFamily="34" charset="-122"/>
                <a:cs typeface="Arial" pitchFamily="34" charset="-120"/>
              </a:rPr>
              <a:t>STARVATION</a:t>
            </a:r>
            <a:endParaRPr lang="en-US" sz="1800" dirty="0"/>
          </a:p>
        </p:txBody>
      </p:sp>
      <p:sp>
        <p:nvSpPr>
          <p:cNvPr id="4" name="Text 1"/>
          <p:cNvSpPr txBox="1"/>
          <p:nvPr/>
        </p:nvSpPr>
        <p:spPr>
          <a:xfrm>
            <a:off x="502920" y="567842"/>
            <a:ext cx="7772400" cy="192024"/>
          </a:xfrm>
          <a:prstGeom prst="rect">
            <a:avLst/>
          </a:prstGeom>
          <a:noFill/>
          <a:ln/>
        </p:spPr>
        <p:txBody>
          <a:bodyPr wrap="square" lIns="0" tIns="0" rIns="0" bIns="0" rtlCol="0" anchor="ctr"/>
          <a:lstStyle/>
          <a:p>
            <a:pPr marL="0" indent="0" algn="l">
              <a:buNone/>
            </a:pPr>
            <a:r>
              <a:rPr lang="en-US" sz="1008" dirty="0">
                <a:solidFill>
                  <a:srgbClr val="9AA095"/>
                </a:solidFill>
                <a:latin typeface="Arial" pitchFamily="34" charset="0"/>
                <a:ea typeface="Arial" pitchFamily="34" charset="-122"/>
                <a:cs typeface="Arial" pitchFamily="34" charset="-120"/>
              </a:rPr>
              <a:t>The program makes progress. One of its threads almost never does.</a:t>
            </a:r>
            <a:endParaRPr lang="en-US" sz="1008" dirty="0"/>
          </a:p>
        </p:txBody>
      </p:sp>
      <p:sp>
        <p:nvSpPr>
          <p:cNvPr id="5" name="Text 2"/>
          <p:cNvSpPr txBox="1"/>
          <p:nvPr/>
        </p:nvSpPr>
        <p:spPr>
          <a:xfrm>
            <a:off x="502920" y="1087222"/>
            <a:ext cx="4114800" cy="150876"/>
          </a:xfrm>
          <a:prstGeom prst="rect">
            <a:avLst/>
          </a:prstGeom>
          <a:noFill/>
          <a:ln/>
        </p:spPr>
        <p:txBody>
          <a:bodyPr wrap="square" lIns="0" tIns="0" rIns="0" bIns="0" rtlCol="0" anchor="ctr"/>
          <a:lstStyle/>
          <a:p>
            <a:pPr marL="0" indent="0" algn="l">
              <a:buNone/>
            </a:pPr>
            <a:r>
              <a:rPr lang="en-US" sz="792" b="1" kern="0" spc="72" dirty="0">
                <a:solidFill>
                  <a:srgbClr val="FF5A54"/>
                </a:solidFill>
                <a:latin typeface="Arial" pitchFamily="34" charset="0"/>
                <a:ea typeface="Arial" pitchFamily="34" charset="-122"/>
                <a:cs typeface="Arial" pitchFamily="34" charset="-120"/>
              </a:rPr>
              <a:t>SLOW WORK INSIDE THE LOCK</a:t>
            </a:r>
            <a:endParaRPr lang="en-US" sz="792" dirty="0"/>
          </a:p>
        </p:txBody>
      </p:sp>
      <p:sp>
        <p:nvSpPr>
          <p:cNvPr id="6" name="Text 3"/>
          <p:cNvSpPr txBox="1"/>
          <p:nvPr/>
        </p:nvSpPr>
        <p:spPr>
          <a:xfrm>
            <a:off x="502920" y="1387145"/>
            <a:ext cx="914400" cy="178308"/>
          </a:xfrm>
          <a:prstGeom prst="rect">
            <a:avLst/>
          </a:prstGeom>
          <a:noFill/>
          <a:ln/>
        </p:spPr>
        <p:txBody>
          <a:bodyPr wrap="square" lIns="0" tIns="0" rIns="0" bIns="0" rtlCol="0" anchor="ctr"/>
          <a:lstStyle/>
          <a:p>
            <a:pPr marL="0" indent="0" algn="l">
              <a:buNone/>
            </a:pPr>
            <a:r>
              <a:rPr lang="en-US" sz="936" b="1" dirty="0">
                <a:solidFill>
                  <a:srgbClr val="FFFFFF"/>
                </a:solidFill>
                <a:latin typeface="Arial" pitchFamily="34" charset="0"/>
                <a:ea typeface="Arial" pitchFamily="34" charset="-122"/>
                <a:cs typeface="Arial" pitchFamily="34" charset="-120"/>
              </a:rPr>
              <a:t>greedy</a:t>
            </a:r>
            <a:endParaRPr lang="en-US" sz="936" dirty="0"/>
          </a:p>
        </p:txBody>
      </p:sp>
      <p:sp>
        <p:nvSpPr>
          <p:cNvPr id="7" name="Shape 4"/>
          <p:cNvSpPr/>
          <p:nvPr/>
        </p:nvSpPr>
        <p:spPr>
          <a:xfrm>
            <a:off x="1508760" y="1325880"/>
            <a:ext cx="365760" cy="292608"/>
          </a:xfrm>
          <a:prstGeom prst="roundRect">
            <a:avLst>
              <a:gd name="adj" fmla="val 9375"/>
            </a:avLst>
          </a:prstGeom>
          <a:solidFill>
            <a:srgbClr val="35E0C8"/>
          </a:solidFill>
          <a:ln w="12700">
            <a:solidFill>
              <a:srgbClr val="35E0C8"/>
            </a:solidFill>
            <a:prstDash val="solid"/>
          </a:ln>
        </p:spPr>
      </p:sp>
      <p:sp>
        <p:nvSpPr>
          <p:cNvPr id="8" name="Shape 5"/>
          <p:cNvSpPr/>
          <p:nvPr/>
        </p:nvSpPr>
        <p:spPr>
          <a:xfrm>
            <a:off x="1901952" y="1325880"/>
            <a:ext cx="365760" cy="292608"/>
          </a:xfrm>
          <a:prstGeom prst="roundRect">
            <a:avLst>
              <a:gd name="adj" fmla="val 9375"/>
            </a:avLst>
          </a:prstGeom>
          <a:solidFill>
            <a:srgbClr val="35E0C8"/>
          </a:solidFill>
          <a:ln w="12700">
            <a:solidFill>
              <a:srgbClr val="35E0C8"/>
            </a:solidFill>
            <a:prstDash val="solid"/>
          </a:ln>
        </p:spPr>
      </p:sp>
      <p:sp>
        <p:nvSpPr>
          <p:cNvPr id="9" name="Shape 6"/>
          <p:cNvSpPr/>
          <p:nvPr/>
        </p:nvSpPr>
        <p:spPr>
          <a:xfrm>
            <a:off x="2295144" y="1325880"/>
            <a:ext cx="365760" cy="292608"/>
          </a:xfrm>
          <a:prstGeom prst="roundRect">
            <a:avLst>
              <a:gd name="adj" fmla="val 9375"/>
            </a:avLst>
          </a:prstGeom>
          <a:solidFill>
            <a:srgbClr val="35E0C8"/>
          </a:solidFill>
          <a:ln w="12700">
            <a:solidFill>
              <a:srgbClr val="35E0C8"/>
            </a:solidFill>
            <a:prstDash val="solid"/>
          </a:ln>
        </p:spPr>
      </p:sp>
      <p:sp>
        <p:nvSpPr>
          <p:cNvPr id="10" name="Shape 7"/>
          <p:cNvSpPr/>
          <p:nvPr/>
        </p:nvSpPr>
        <p:spPr>
          <a:xfrm>
            <a:off x="2688336" y="1325880"/>
            <a:ext cx="365760" cy="292608"/>
          </a:xfrm>
          <a:prstGeom prst="roundRect">
            <a:avLst>
              <a:gd name="adj" fmla="val 9375"/>
            </a:avLst>
          </a:prstGeom>
          <a:solidFill>
            <a:srgbClr val="35E0C8"/>
          </a:solidFill>
          <a:ln w="12700">
            <a:solidFill>
              <a:srgbClr val="35E0C8"/>
            </a:solidFill>
            <a:prstDash val="solid"/>
          </a:ln>
        </p:spPr>
      </p:sp>
      <p:sp>
        <p:nvSpPr>
          <p:cNvPr id="11" name="Shape 8"/>
          <p:cNvSpPr/>
          <p:nvPr/>
        </p:nvSpPr>
        <p:spPr>
          <a:xfrm>
            <a:off x="3081528" y="1325880"/>
            <a:ext cx="365760" cy="292608"/>
          </a:xfrm>
          <a:prstGeom prst="roundRect">
            <a:avLst>
              <a:gd name="adj" fmla="val 9375"/>
            </a:avLst>
          </a:prstGeom>
          <a:solidFill>
            <a:srgbClr val="35E0C8"/>
          </a:solidFill>
          <a:ln w="12700">
            <a:solidFill>
              <a:srgbClr val="35E0C8"/>
            </a:solidFill>
            <a:prstDash val="solid"/>
          </a:ln>
        </p:spPr>
      </p:sp>
      <p:sp>
        <p:nvSpPr>
          <p:cNvPr id="12" name="Shape 9"/>
          <p:cNvSpPr/>
          <p:nvPr/>
        </p:nvSpPr>
        <p:spPr>
          <a:xfrm>
            <a:off x="3474720" y="1325880"/>
            <a:ext cx="365760" cy="292608"/>
          </a:xfrm>
          <a:prstGeom prst="roundRect">
            <a:avLst>
              <a:gd name="adj" fmla="val 9375"/>
            </a:avLst>
          </a:prstGeom>
          <a:solidFill>
            <a:srgbClr val="35E0C8"/>
          </a:solidFill>
          <a:ln w="12700">
            <a:solidFill>
              <a:srgbClr val="35E0C8"/>
            </a:solidFill>
            <a:prstDash val="solid"/>
          </a:ln>
        </p:spPr>
      </p:sp>
      <p:sp>
        <p:nvSpPr>
          <p:cNvPr id="13" name="Shape 10"/>
          <p:cNvSpPr/>
          <p:nvPr/>
        </p:nvSpPr>
        <p:spPr>
          <a:xfrm>
            <a:off x="3867912" y="1325880"/>
            <a:ext cx="365760" cy="292608"/>
          </a:xfrm>
          <a:prstGeom prst="roundRect">
            <a:avLst>
              <a:gd name="adj" fmla="val 9375"/>
            </a:avLst>
          </a:prstGeom>
          <a:solidFill>
            <a:srgbClr val="35E0C8"/>
          </a:solidFill>
          <a:ln w="12700">
            <a:solidFill>
              <a:srgbClr val="35E0C8"/>
            </a:solidFill>
            <a:prstDash val="solid"/>
          </a:ln>
        </p:spPr>
      </p:sp>
      <p:sp>
        <p:nvSpPr>
          <p:cNvPr id="14" name="Shape 11"/>
          <p:cNvSpPr/>
          <p:nvPr/>
        </p:nvSpPr>
        <p:spPr>
          <a:xfrm>
            <a:off x="4261104" y="1325880"/>
            <a:ext cx="365760" cy="292608"/>
          </a:xfrm>
          <a:prstGeom prst="roundRect">
            <a:avLst>
              <a:gd name="adj" fmla="val 9375"/>
            </a:avLst>
          </a:prstGeom>
          <a:solidFill>
            <a:srgbClr val="35E0C8"/>
          </a:solidFill>
          <a:ln w="12700">
            <a:solidFill>
              <a:srgbClr val="35E0C8"/>
            </a:solidFill>
            <a:prstDash val="solid"/>
          </a:ln>
        </p:spPr>
      </p:sp>
      <p:sp>
        <p:nvSpPr>
          <p:cNvPr id="15" name="Shape 12"/>
          <p:cNvSpPr/>
          <p:nvPr/>
        </p:nvSpPr>
        <p:spPr>
          <a:xfrm>
            <a:off x="4654296" y="1325880"/>
            <a:ext cx="365760" cy="292608"/>
          </a:xfrm>
          <a:prstGeom prst="roundRect">
            <a:avLst>
              <a:gd name="adj" fmla="val 9375"/>
            </a:avLst>
          </a:prstGeom>
          <a:solidFill>
            <a:srgbClr val="35E0C8"/>
          </a:solidFill>
          <a:ln w="12700">
            <a:solidFill>
              <a:srgbClr val="35E0C8"/>
            </a:solidFill>
            <a:prstDash val="solid"/>
          </a:ln>
        </p:spPr>
      </p:sp>
      <p:sp>
        <p:nvSpPr>
          <p:cNvPr id="16" name="Shape 13"/>
          <p:cNvSpPr/>
          <p:nvPr/>
        </p:nvSpPr>
        <p:spPr>
          <a:xfrm>
            <a:off x="5047488" y="1325880"/>
            <a:ext cx="365760" cy="292608"/>
          </a:xfrm>
          <a:prstGeom prst="roundRect">
            <a:avLst>
              <a:gd name="adj" fmla="val 9375"/>
            </a:avLst>
          </a:prstGeom>
          <a:solidFill>
            <a:srgbClr val="35E0C8"/>
          </a:solidFill>
          <a:ln w="12700">
            <a:solidFill>
              <a:srgbClr val="35E0C8"/>
            </a:solidFill>
            <a:prstDash val="solid"/>
          </a:ln>
        </p:spPr>
      </p:sp>
      <p:sp>
        <p:nvSpPr>
          <p:cNvPr id="17" name="Shape 14"/>
          <p:cNvSpPr/>
          <p:nvPr/>
        </p:nvSpPr>
        <p:spPr>
          <a:xfrm>
            <a:off x="5440680" y="1325880"/>
            <a:ext cx="365760" cy="292608"/>
          </a:xfrm>
          <a:prstGeom prst="roundRect">
            <a:avLst>
              <a:gd name="adj" fmla="val 9375"/>
            </a:avLst>
          </a:prstGeom>
          <a:solidFill>
            <a:srgbClr val="35E0C8"/>
          </a:solidFill>
          <a:ln w="12700">
            <a:solidFill>
              <a:srgbClr val="35E0C8"/>
            </a:solidFill>
            <a:prstDash val="solid"/>
          </a:ln>
        </p:spPr>
      </p:sp>
      <p:sp>
        <p:nvSpPr>
          <p:cNvPr id="18" name="Shape 15"/>
          <p:cNvSpPr/>
          <p:nvPr/>
        </p:nvSpPr>
        <p:spPr>
          <a:xfrm>
            <a:off x="5833872" y="1325880"/>
            <a:ext cx="365760" cy="292608"/>
          </a:xfrm>
          <a:prstGeom prst="roundRect">
            <a:avLst>
              <a:gd name="adj" fmla="val 9375"/>
            </a:avLst>
          </a:prstGeom>
          <a:solidFill>
            <a:srgbClr val="35E0C8"/>
          </a:solidFill>
          <a:ln w="12700">
            <a:solidFill>
              <a:srgbClr val="35E0C8"/>
            </a:solidFill>
            <a:prstDash val="solid"/>
          </a:ln>
        </p:spPr>
      </p:sp>
      <p:sp>
        <p:nvSpPr>
          <p:cNvPr id="19" name="Shape 16"/>
          <p:cNvSpPr/>
          <p:nvPr/>
        </p:nvSpPr>
        <p:spPr>
          <a:xfrm>
            <a:off x="6227064" y="1325880"/>
            <a:ext cx="365760" cy="292608"/>
          </a:xfrm>
          <a:prstGeom prst="roundRect">
            <a:avLst>
              <a:gd name="adj" fmla="val 9375"/>
            </a:avLst>
          </a:prstGeom>
          <a:solidFill>
            <a:srgbClr val="35E0C8"/>
          </a:solidFill>
          <a:ln w="12700">
            <a:solidFill>
              <a:srgbClr val="35E0C8"/>
            </a:solidFill>
            <a:prstDash val="solid"/>
          </a:ln>
        </p:spPr>
      </p:sp>
      <p:sp>
        <p:nvSpPr>
          <p:cNvPr id="20" name="Text 17"/>
          <p:cNvSpPr txBox="1"/>
          <p:nvPr/>
        </p:nvSpPr>
        <p:spPr>
          <a:xfrm>
            <a:off x="6766560" y="1397203"/>
            <a:ext cx="1828800" cy="164592"/>
          </a:xfrm>
          <a:prstGeom prst="rect">
            <a:avLst/>
          </a:prstGeom>
          <a:noFill/>
          <a:ln/>
        </p:spPr>
        <p:txBody>
          <a:bodyPr wrap="square" lIns="0" tIns="0" rIns="0" bIns="0" rtlCol="0" anchor="ctr"/>
          <a:lstStyle/>
          <a:p>
            <a:pPr marL="0" indent="0" algn="l">
              <a:buNone/>
            </a:pPr>
            <a:r>
              <a:rPr lang="en-US" sz="864" b="1" dirty="0">
                <a:solidFill>
                  <a:srgbClr val="FFFFFF"/>
                </a:solidFill>
                <a:latin typeface="Arial" pitchFamily="34" charset="0"/>
                <a:ea typeface="Arial" pitchFamily="34" charset="-122"/>
                <a:cs typeface="Arial" pitchFamily="34" charset="-120"/>
              </a:rPr>
              <a:t>1 751 turns</a:t>
            </a:r>
            <a:endParaRPr lang="en-US" sz="864" dirty="0"/>
          </a:p>
        </p:txBody>
      </p:sp>
      <p:sp>
        <p:nvSpPr>
          <p:cNvPr id="21" name="Text 18"/>
          <p:cNvSpPr txBox="1"/>
          <p:nvPr/>
        </p:nvSpPr>
        <p:spPr>
          <a:xfrm>
            <a:off x="502920" y="1798625"/>
            <a:ext cx="914400" cy="178308"/>
          </a:xfrm>
          <a:prstGeom prst="rect">
            <a:avLst/>
          </a:prstGeom>
          <a:noFill/>
          <a:ln/>
        </p:spPr>
        <p:txBody>
          <a:bodyPr wrap="square" lIns="0" tIns="0" rIns="0" bIns="0" rtlCol="0" anchor="ctr"/>
          <a:lstStyle/>
          <a:p>
            <a:pPr marL="0" indent="0" algn="l">
              <a:buNone/>
            </a:pPr>
            <a:r>
              <a:rPr lang="en-US" sz="936" b="1" dirty="0">
                <a:solidFill>
                  <a:srgbClr val="FFFFFF"/>
                </a:solidFill>
                <a:latin typeface="Arial" pitchFamily="34" charset="0"/>
                <a:ea typeface="Arial" pitchFamily="34" charset="-122"/>
                <a:cs typeface="Arial" pitchFamily="34" charset="-120"/>
              </a:rPr>
              <a:t>other</a:t>
            </a:r>
            <a:endParaRPr lang="en-US" sz="936" dirty="0"/>
          </a:p>
        </p:txBody>
      </p:sp>
      <p:sp>
        <p:nvSpPr>
          <p:cNvPr id="22" name="hatchR"/>
          <p:cNvSpPr/>
          <p:nvPr/>
        </p:nvSpPr>
        <p:spPr>
          <a:xfrm>
            <a:off x="1508760" y="1737360"/>
            <a:ext cx="1947672" cy="292608"/>
          </a:xfrm>
          <a:prstGeom prst="roundRect">
            <a:avLst>
              <a:gd name="adj" fmla="val 9375"/>
            </a:avLst>
          </a:prstGeom>
          <a:pattFill prst="wdUpDiag">
            <a:fgClr>
              <a:srgbClr val="6B2A27"/>
            </a:fgClr>
            <a:bgClr>
              <a:srgbClr val="1A0E0D"/>
            </a:bgClr>
          </a:pattFill>
          <a:ln w="9144">
            <a:solidFill>
              <a:srgbClr val="FF5A54"/>
            </a:solidFill>
            <a:prstDash val="solid"/>
          </a:ln>
        </p:spPr>
      </p:sp>
      <p:sp>
        <p:nvSpPr>
          <p:cNvPr id="23" name="Text 20"/>
          <p:cNvSpPr txBox="1"/>
          <p:nvPr/>
        </p:nvSpPr>
        <p:spPr>
          <a:xfrm>
            <a:off x="1531620" y="1814170"/>
            <a:ext cx="1920240" cy="150876"/>
          </a:xfrm>
          <a:prstGeom prst="rect">
            <a:avLst/>
          </a:prstGeom>
          <a:noFill/>
          <a:ln/>
        </p:spPr>
        <p:txBody>
          <a:bodyPr wrap="square" lIns="0" tIns="0" rIns="0" bIns="0" rtlCol="0" anchor="ctr"/>
          <a:lstStyle/>
          <a:p>
            <a:pPr marL="0" indent="0" algn="ctr">
              <a:buNone/>
            </a:pPr>
            <a:r>
              <a:rPr lang="en-US" sz="792" dirty="0">
                <a:solidFill>
                  <a:srgbClr val="FFFFFF"/>
                </a:solidFill>
                <a:latin typeface="Arial" pitchFamily="34" charset="0"/>
                <a:ea typeface="Arial" pitchFamily="34" charset="-122"/>
                <a:cs typeface="Arial" pitchFamily="34" charset="-120"/>
              </a:rPr>
              <a:t>waits</a:t>
            </a:r>
            <a:endParaRPr lang="en-US" sz="792" dirty="0"/>
          </a:p>
        </p:txBody>
      </p:sp>
      <p:sp>
        <p:nvSpPr>
          <p:cNvPr id="24" name="Shape 21"/>
          <p:cNvSpPr/>
          <p:nvPr/>
        </p:nvSpPr>
        <p:spPr>
          <a:xfrm>
            <a:off x="3474720" y="1737360"/>
            <a:ext cx="54864" cy="292608"/>
          </a:xfrm>
          <a:prstGeom prst="roundRect">
            <a:avLst>
              <a:gd name="adj" fmla="val 25000"/>
            </a:avLst>
          </a:prstGeom>
          <a:solidFill>
            <a:srgbClr val="35E0C8"/>
          </a:solidFill>
          <a:ln w="12700">
            <a:solidFill>
              <a:srgbClr val="35E0C8"/>
            </a:solidFill>
            <a:prstDash val="solid"/>
          </a:ln>
        </p:spPr>
      </p:sp>
      <p:sp>
        <p:nvSpPr>
          <p:cNvPr id="25" name="hatchR"/>
          <p:cNvSpPr/>
          <p:nvPr/>
        </p:nvSpPr>
        <p:spPr>
          <a:xfrm>
            <a:off x="3547872" y="1737360"/>
            <a:ext cx="1874520" cy="292608"/>
          </a:xfrm>
          <a:prstGeom prst="roundRect">
            <a:avLst>
              <a:gd name="adj" fmla="val 9375"/>
            </a:avLst>
          </a:prstGeom>
          <a:pattFill prst="wdUpDiag">
            <a:fgClr>
              <a:srgbClr val="6B2A27"/>
            </a:fgClr>
            <a:bgClr>
              <a:srgbClr val="1A0E0D"/>
            </a:bgClr>
          </a:pattFill>
          <a:ln w="9144">
            <a:solidFill>
              <a:srgbClr val="FF5A54"/>
            </a:solidFill>
            <a:prstDash val="solid"/>
          </a:ln>
        </p:spPr>
      </p:sp>
      <p:sp>
        <p:nvSpPr>
          <p:cNvPr id="26" name="Text 23"/>
          <p:cNvSpPr txBox="1"/>
          <p:nvPr/>
        </p:nvSpPr>
        <p:spPr>
          <a:xfrm>
            <a:off x="3570732" y="1814170"/>
            <a:ext cx="1847088" cy="150876"/>
          </a:xfrm>
          <a:prstGeom prst="rect">
            <a:avLst/>
          </a:prstGeom>
          <a:noFill/>
          <a:ln/>
        </p:spPr>
        <p:txBody>
          <a:bodyPr wrap="square" lIns="0" tIns="0" rIns="0" bIns="0" rtlCol="0" anchor="ctr"/>
          <a:lstStyle/>
          <a:p>
            <a:pPr marL="0" indent="0" algn="ctr">
              <a:buNone/>
            </a:pPr>
            <a:r>
              <a:rPr lang="en-US" sz="792" dirty="0">
                <a:solidFill>
                  <a:srgbClr val="FFFFFF"/>
                </a:solidFill>
                <a:latin typeface="Arial" pitchFamily="34" charset="0"/>
                <a:ea typeface="Arial" pitchFamily="34" charset="-122"/>
                <a:cs typeface="Arial" pitchFamily="34" charset="-120"/>
              </a:rPr>
              <a:t>waits</a:t>
            </a:r>
            <a:endParaRPr lang="en-US" sz="792" dirty="0"/>
          </a:p>
        </p:txBody>
      </p:sp>
      <p:sp>
        <p:nvSpPr>
          <p:cNvPr id="27" name="Shape 24"/>
          <p:cNvSpPr/>
          <p:nvPr/>
        </p:nvSpPr>
        <p:spPr>
          <a:xfrm>
            <a:off x="5440680" y="1737360"/>
            <a:ext cx="54864" cy="292608"/>
          </a:xfrm>
          <a:prstGeom prst="roundRect">
            <a:avLst>
              <a:gd name="adj" fmla="val 25000"/>
            </a:avLst>
          </a:prstGeom>
          <a:solidFill>
            <a:srgbClr val="35E0C8"/>
          </a:solidFill>
          <a:ln w="12700">
            <a:solidFill>
              <a:srgbClr val="35E0C8"/>
            </a:solidFill>
            <a:prstDash val="solid"/>
          </a:ln>
        </p:spPr>
      </p:sp>
      <p:sp>
        <p:nvSpPr>
          <p:cNvPr id="28" name="hatchR"/>
          <p:cNvSpPr/>
          <p:nvPr/>
        </p:nvSpPr>
        <p:spPr>
          <a:xfrm>
            <a:off x="5513832" y="1737360"/>
            <a:ext cx="1097280" cy="292608"/>
          </a:xfrm>
          <a:prstGeom prst="roundRect">
            <a:avLst>
              <a:gd name="adj" fmla="val 9375"/>
            </a:avLst>
          </a:prstGeom>
          <a:pattFill prst="wdUpDiag">
            <a:fgClr>
              <a:srgbClr val="6B2A27"/>
            </a:fgClr>
            <a:bgClr>
              <a:srgbClr val="1A0E0D"/>
            </a:bgClr>
          </a:pattFill>
          <a:ln w="9144">
            <a:solidFill>
              <a:srgbClr val="FF5A54"/>
            </a:solidFill>
            <a:prstDash val="solid"/>
          </a:ln>
        </p:spPr>
      </p:sp>
      <p:sp>
        <p:nvSpPr>
          <p:cNvPr id="29" name="Text 26"/>
          <p:cNvSpPr txBox="1"/>
          <p:nvPr/>
        </p:nvSpPr>
        <p:spPr>
          <a:xfrm>
            <a:off x="5536692" y="1814170"/>
            <a:ext cx="1069848" cy="150876"/>
          </a:xfrm>
          <a:prstGeom prst="rect">
            <a:avLst/>
          </a:prstGeom>
          <a:noFill/>
          <a:ln/>
        </p:spPr>
        <p:txBody>
          <a:bodyPr wrap="square" lIns="0" tIns="0" rIns="0" bIns="0" rtlCol="0" anchor="ctr"/>
          <a:lstStyle/>
          <a:p>
            <a:pPr marL="0" indent="0" algn="ctr">
              <a:buNone/>
            </a:pPr>
            <a:r>
              <a:rPr lang="en-US" sz="792" dirty="0">
                <a:solidFill>
                  <a:srgbClr val="FFFFFF"/>
                </a:solidFill>
                <a:latin typeface="Arial" pitchFamily="34" charset="0"/>
                <a:ea typeface="Arial" pitchFamily="34" charset="-122"/>
                <a:cs typeface="Arial" pitchFamily="34" charset="-120"/>
              </a:rPr>
              <a:t>waits</a:t>
            </a:r>
            <a:endParaRPr lang="en-US" sz="792" dirty="0"/>
          </a:p>
        </p:txBody>
      </p:sp>
      <p:sp>
        <p:nvSpPr>
          <p:cNvPr id="30" name="Text 27"/>
          <p:cNvSpPr txBox="1"/>
          <p:nvPr/>
        </p:nvSpPr>
        <p:spPr>
          <a:xfrm>
            <a:off x="6766560" y="1808683"/>
            <a:ext cx="1828800" cy="164592"/>
          </a:xfrm>
          <a:prstGeom prst="rect">
            <a:avLst/>
          </a:prstGeom>
          <a:noFill/>
          <a:ln/>
        </p:spPr>
        <p:txBody>
          <a:bodyPr wrap="square" lIns="0" tIns="0" rIns="0" bIns="0" rtlCol="0" anchor="ctr"/>
          <a:lstStyle/>
          <a:p>
            <a:pPr marL="0" indent="0" algn="l">
              <a:buNone/>
            </a:pPr>
            <a:r>
              <a:rPr lang="en-US" sz="864" b="1" dirty="0">
                <a:solidFill>
                  <a:srgbClr val="FF5A54"/>
                </a:solidFill>
                <a:latin typeface="Arial" pitchFamily="34" charset="0"/>
                <a:ea typeface="Arial" pitchFamily="34" charset="-122"/>
                <a:cs typeface="Arial" pitchFamily="34" charset="-120"/>
              </a:rPr>
              <a:t>23 turns</a:t>
            </a:r>
            <a:endParaRPr lang="en-US" sz="864" dirty="0"/>
          </a:p>
        </p:txBody>
      </p:sp>
      <p:sp>
        <p:nvSpPr>
          <p:cNvPr id="31" name="Text 28"/>
          <p:cNvSpPr txBox="1"/>
          <p:nvPr/>
        </p:nvSpPr>
        <p:spPr>
          <a:xfrm>
            <a:off x="502920" y="2321662"/>
            <a:ext cx="4114800" cy="150876"/>
          </a:xfrm>
          <a:prstGeom prst="rect">
            <a:avLst/>
          </a:prstGeom>
          <a:noFill/>
          <a:ln/>
        </p:spPr>
        <p:txBody>
          <a:bodyPr wrap="square" lIns="0" tIns="0" rIns="0" bIns="0" rtlCol="0" anchor="ctr"/>
          <a:lstStyle/>
          <a:p>
            <a:pPr marL="0" indent="0" algn="l">
              <a:buNone/>
            </a:pPr>
            <a:r>
              <a:rPr lang="en-US" sz="792" b="1" kern="0" spc="72" dirty="0">
                <a:solidFill>
                  <a:srgbClr val="D9F201"/>
                </a:solidFill>
                <a:latin typeface="Arial" pitchFamily="34" charset="0"/>
                <a:ea typeface="Arial" pitchFamily="34" charset="-122"/>
                <a:cs typeface="Arial" pitchFamily="34" charset="-120"/>
              </a:rPr>
              <a:t>SLOW WORK OUTSIDE THE LOCK</a:t>
            </a:r>
            <a:endParaRPr lang="en-US" sz="792" dirty="0"/>
          </a:p>
        </p:txBody>
      </p:sp>
      <p:sp>
        <p:nvSpPr>
          <p:cNvPr id="32" name="Text 29"/>
          <p:cNvSpPr txBox="1"/>
          <p:nvPr/>
        </p:nvSpPr>
        <p:spPr>
          <a:xfrm>
            <a:off x="502920" y="2621585"/>
            <a:ext cx="914400" cy="178308"/>
          </a:xfrm>
          <a:prstGeom prst="rect">
            <a:avLst/>
          </a:prstGeom>
          <a:noFill/>
          <a:ln/>
        </p:spPr>
        <p:txBody>
          <a:bodyPr wrap="square" lIns="0" tIns="0" rIns="0" bIns="0" rtlCol="0" anchor="ctr"/>
          <a:lstStyle/>
          <a:p>
            <a:pPr marL="0" indent="0" algn="l">
              <a:buNone/>
            </a:pPr>
            <a:r>
              <a:rPr lang="en-US" sz="936" b="1" dirty="0">
                <a:solidFill>
                  <a:srgbClr val="FFFFFF"/>
                </a:solidFill>
                <a:latin typeface="Arial" pitchFamily="34" charset="0"/>
                <a:ea typeface="Arial" pitchFamily="34" charset="-122"/>
                <a:cs typeface="Arial" pitchFamily="34" charset="-120"/>
              </a:rPr>
              <a:t>greedy</a:t>
            </a:r>
            <a:endParaRPr lang="en-US" sz="936" dirty="0"/>
          </a:p>
        </p:txBody>
      </p:sp>
      <p:sp>
        <p:nvSpPr>
          <p:cNvPr id="33" name="Text 30"/>
          <p:cNvSpPr txBox="1"/>
          <p:nvPr/>
        </p:nvSpPr>
        <p:spPr>
          <a:xfrm>
            <a:off x="502920" y="3033065"/>
            <a:ext cx="914400" cy="178308"/>
          </a:xfrm>
          <a:prstGeom prst="rect">
            <a:avLst/>
          </a:prstGeom>
          <a:noFill/>
          <a:ln/>
        </p:spPr>
        <p:txBody>
          <a:bodyPr wrap="square" lIns="0" tIns="0" rIns="0" bIns="0" rtlCol="0" anchor="ctr"/>
          <a:lstStyle/>
          <a:p>
            <a:pPr marL="0" indent="0" algn="l">
              <a:buNone/>
            </a:pPr>
            <a:r>
              <a:rPr lang="en-US" sz="936" b="1" dirty="0">
                <a:solidFill>
                  <a:srgbClr val="FFFFFF"/>
                </a:solidFill>
                <a:latin typeface="Arial" pitchFamily="34" charset="0"/>
                <a:ea typeface="Arial" pitchFamily="34" charset="-122"/>
                <a:cs typeface="Arial" pitchFamily="34" charset="-120"/>
              </a:rPr>
              <a:t>other</a:t>
            </a:r>
            <a:endParaRPr lang="en-US" sz="936" dirty="0"/>
          </a:p>
        </p:txBody>
      </p:sp>
      <p:sp>
        <p:nvSpPr>
          <p:cNvPr id="34" name="Shape 31"/>
          <p:cNvSpPr/>
          <p:nvPr/>
        </p:nvSpPr>
        <p:spPr>
          <a:xfrm>
            <a:off x="1508760" y="2560320"/>
            <a:ext cx="118872" cy="292608"/>
          </a:xfrm>
          <a:prstGeom prst="roundRect">
            <a:avLst>
              <a:gd name="adj" fmla="val 19231"/>
            </a:avLst>
          </a:prstGeom>
          <a:solidFill>
            <a:srgbClr val="35E0C8"/>
          </a:solidFill>
          <a:ln w="12700">
            <a:solidFill>
              <a:srgbClr val="35E0C8"/>
            </a:solidFill>
            <a:prstDash val="solid"/>
          </a:ln>
        </p:spPr>
      </p:sp>
      <p:sp>
        <p:nvSpPr>
          <p:cNvPr id="35" name="Shape 32"/>
          <p:cNvSpPr/>
          <p:nvPr/>
        </p:nvSpPr>
        <p:spPr>
          <a:xfrm>
            <a:off x="1691640" y="2971800"/>
            <a:ext cx="118872" cy="292608"/>
          </a:xfrm>
          <a:prstGeom prst="roundRect">
            <a:avLst>
              <a:gd name="adj" fmla="val 19231"/>
            </a:avLst>
          </a:prstGeom>
          <a:solidFill>
            <a:srgbClr val="35E0C8"/>
          </a:solidFill>
          <a:ln w="12700">
            <a:solidFill>
              <a:srgbClr val="35E0C8"/>
            </a:solidFill>
            <a:prstDash val="solid"/>
          </a:ln>
        </p:spPr>
      </p:sp>
      <p:sp>
        <p:nvSpPr>
          <p:cNvPr id="36" name="Shape 33"/>
          <p:cNvSpPr/>
          <p:nvPr/>
        </p:nvSpPr>
        <p:spPr>
          <a:xfrm>
            <a:off x="1874520" y="2560320"/>
            <a:ext cx="118872" cy="292608"/>
          </a:xfrm>
          <a:prstGeom prst="roundRect">
            <a:avLst>
              <a:gd name="adj" fmla="val 19231"/>
            </a:avLst>
          </a:prstGeom>
          <a:solidFill>
            <a:srgbClr val="35E0C8"/>
          </a:solidFill>
          <a:ln w="12700">
            <a:solidFill>
              <a:srgbClr val="35E0C8"/>
            </a:solidFill>
            <a:prstDash val="solid"/>
          </a:ln>
        </p:spPr>
      </p:sp>
      <p:sp>
        <p:nvSpPr>
          <p:cNvPr id="37" name="Shape 34"/>
          <p:cNvSpPr/>
          <p:nvPr/>
        </p:nvSpPr>
        <p:spPr>
          <a:xfrm>
            <a:off x="2057400" y="2971800"/>
            <a:ext cx="118872" cy="292608"/>
          </a:xfrm>
          <a:prstGeom prst="roundRect">
            <a:avLst>
              <a:gd name="adj" fmla="val 19231"/>
            </a:avLst>
          </a:prstGeom>
          <a:solidFill>
            <a:srgbClr val="35E0C8"/>
          </a:solidFill>
          <a:ln w="12700">
            <a:solidFill>
              <a:srgbClr val="35E0C8"/>
            </a:solidFill>
            <a:prstDash val="solid"/>
          </a:ln>
        </p:spPr>
      </p:sp>
      <p:sp>
        <p:nvSpPr>
          <p:cNvPr id="38" name="Shape 35"/>
          <p:cNvSpPr/>
          <p:nvPr/>
        </p:nvSpPr>
        <p:spPr>
          <a:xfrm>
            <a:off x="2240280" y="2560320"/>
            <a:ext cx="118872" cy="292608"/>
          </a:xfrm>
          <a:prstGeom prst="roundRect">
            <a:avLst>
              <a:gd name="adj" fmla="val 19231"/>
            </a:avLst>
          </a:prstGeom>
          <a:solidFill>
            <a:srgbClr val="35E0C8"/>
          </a:solidFill>
          <a:ln w="12700">
            <a:solidFill>
              <a:srgbClr val="35E0C8"/>
            </a:solidFill>
            <a:prstDash val="solid"/>
          </a:ln>
        </p:spPr>
      </p:sp>
      <p:sp>
        <p:nvSpPr>
          <p:cNvPr id="39" name="Shape 36"/>
          <p:cNvSpPr/>
          <p:nvPr/>
        </p:nvSpPr>
        <p:spPr>
          <a:xfrm>
            <a:off x="2423160" y="2971800"/>
            <a:ext cx="118872" cy="292608"/>
          </a:xfrm>
          <a:prstGeom prst="roundRect">
            <a:avLst>
              <a:gd name="adj" fmla="val 19231"/>
            </a:avLst>
          </a:prstGeom>
          <a:solidFill>
            <a:srgbClr val="35E0C8"/>
          </a:solidFill>
          <a:ln w="12700">
            <a:solidFill>
              <a:srgbClr val="35E0C8"/>
            </a:solidFill>
            <a:prstDash val="solid"/>
          </a:ln>
        </p:spPr>
      </p:sp>
      <p:sp>
        <p:nvSpPr>
          <p:cNvPr id="40" name="Shape 37"/>
          <p:cNvSpPr/>
          <p:nvPr/>
        </p:nvSpPr>
        <p:spPr>
          <a:xfrm>
            <a:off x="2606040" y="2560320"/>
            <a:ext cx="118872" cy="292608"/>
          </a:xfrm>
          <a:prstGeom prst="roundRect">
            <a:avLst>
              <a:gd name="adj" fmla="val 19231"/>
            </a:avLst>
          </a:prstGeom>
          <a:solidFill>
            <a:srgbClr val="35E0C8"/>
          </a:solidFill>
          <a:ln w="12700">
            <a:solidFill>
              <a:srgbClr val="35E0C8"/>
            </a:solidFill>
            <a:prstDash val="solid"/>
          </a:ln>
        </p:spPr>
      </p:sp>
      <p:sp>
        <p:nvSpPr>
          <p:cNvPr id="41" name="Shape 38"/>
          <p:cNvSpPr/>
          <p:nvPr/>
        </p:nvSpPr>
        <p:spPr>
          <a:xfrm>
            <a:off x="2788920" y="2971800"/>
            <a:ext cx="118872" cy="292608"/>
          </a:xfrm>
          <a:prstGeom prst="roundRect">
            <a:avLst>
              <a:gd name="adj" fmla="val 19231"/>
            </a:avLst>
          </a:prstGeom>
          <a:solidFill>
            <a:srgbClr val="35E0C8"/>
          </a:solidFill>
          <a:ln w="12700">
            <a:solidFill>
              <a:srgbClr val="35E0C8"/>
            </a:solidFill>
            <a:prstDash val="solid"/>
          </a:ln>
        </p:spPr>
      </p:sp>
      <p:sp>
        <p:nvSpPr>
          <p:cNvPr id="42" name="Shape 39"/>
          <p:cNvSpPr/>
          <p:nvPr/>
        </p:nvSpPr>
        <p:spPr>
          <a:xfrm>
            <a:off x="2971800" y="2560320"/>
            <a:ext cx="118872" cy="292608"/>
          </a:xfrm>
          <a:prstGeom prst="roundRect">
            <a:avLst>
              <a:gd name="adj" fmla="val 19231"/>
            </a:avLst>
          </a:prstGeom>
          <a:solidFill>
            <a:srgbClr val="35E0C8"/>
          </a:solidFill>
          <a:ln w="12700">
            <a:solidFill>
              <a:srgbClr val="35E0C8"/>
            </a:solidFill>
            <a:prstDash val="solid"/>
          </a:ln>
        </p:spPr>
      </p:sp>
      <p:sp>
        <p:nvSpPr>
          <p:cNvPr id="43" name="Shape 40"/>
          <p:cNvSpPr/>
          <p:nvPr/>
        </p:nvSpPr>
        <p:spPr>
          <a:xfrm>
            <a:off x="3154680" y="2971800"/>
            <a:ext cx="118872" cy="292608"/>
          </a:xfrm>
          <a:prstGeom prst="roundRect">
            <a:avLst>
              <a:gd name="adj" fmla="val 19231"/>
            </a:avLst>
          </a:prstGeom>
          <a:solidFill>
            <a:srgbClr val="35E0C8"/>
          </a:solidFill>
          <a:ln w="12700">
            <a:solidFill>
              <a:srgbClr val="35E0C8"/>
            </a:solidFill>
            <a:prstDash val="solid"/>
          </a:ln>
        </p:spPr>
      </p:sp>
      <p:sp>
        <p:nvSpPr>
          <p:cNvPr id="44" name="Shape 41"/>
          <p:cNvSpPr/>
          <p:nvPr/>
        </p:nvSpPr>
        <p:spPr>
          <a:xfrm>
            <a:off x="3337560" y="2560320"/>
            <a:ext cx="118872" cy="292608"/>
          </a:xfrm>
          <a:prstGeom prst="roundRect">
            <a:avLst>
              <a:gd name="adj" fmla="val 19231"/>
            </a:avLst>
          </a:prstGeom>
          <a:solidFill>
            <a:srgbClr val="35E0C8"/>
          </a:solidFill>
          <a:ln w="12700">
            <a:solidFill>
              <a:srgbClr val="35E0C8"/>
            </a:solidFill>
            <a:prstDash val="solid"/>
          </a:ln>
        </p:spPr>
      </p:sp>
      <p:sp>
        <p:nvSpPr>
          <p:cNvPr id="45" name="Shape 42"/>
          <p:cNvSpPr/>
          <p:nvPr/>
        </p:nvSpPr>
        <p:spPr>
          <a:xfrm>
            <a:off x="3520440" y="2971800"/>
            <a:ext cx="118872" cy="292608"/>
          </a:xfrm>
          <a:prstGeom prst="roundRect">
            <a:avLst>
              <a:gd name="adj" fmla="val 19231"/>
            </a:avLst>
          </a:prstGeom>
          <a:solidFill>
            <a:srgbClr val="35E0C8"/>
          </a:solidFill>
          <a:ln w="12700">
            <a:solidFill>
              <a:srgbClr val="35E0C8"/>
            </a:solidFill>
            <a:prstDash val="solid"/>
          </a:ln>
        </p:spPr>
      </p:sp>
      <p:sp>
        <p:nvSpPr>
          <p:cNvPr id="46" name="Shape 43"/>
          <p:cNvSpPr/>
          <p:nvPr/>
        </p:nvSpPr>
        <p:spPr>
          <a:xfrm>
            <a:off x="3703320" y="2560320"/>
            <a:ext cx="118872" cy="292608"/>
          </a:xfrm>
          <a:prstGeom prst="roundRect">
            <a:avLst>
              <a:gd name="adj" fmla="val 19231"/>
            </a:avLst>
          </a:prstGeom>
          <a:solidFill>
            <a:srgbClr val="35E0C8"/>
          </a:solidFill>
          <a:ln w="12700">
            <a:solidFill>
              <a:srgbClr val="35E0C8"/>
            </a:solidFill>
            <a:prstDash val="solid"/>
          </a:ln>
        </p:spPr>
      </p:sp>
      <p:sp>
        <p:nvSpPr>
          <p:cNvPr id="47" name="Shape 44"/>
          <p:cNvSpPr/>
          <p:nvPr/>
        </p:nvSpPr>
        <p:spPr>
          <a:xfrm>
            <a:off x="3886200" y="2971800"/>
            <a:ext cx="118872" cy="292608"/>
          </a:xfrm>
          <a:prstGeom prst="roundRect">
            <a:avLst>
              <a:gd name="adj" fmla="val 19231"/>
            </a:avLst>
          </a:prstGeom>
          <a:solidFill>
            <a:srgbClr val="35E0C8"/>
          </a:solidFill>
          <a:ln w="12700">
            <a:solidFill>
              <a:srgbClr val="35E0C8"/>
            </a:solidFill>
            <a:prstDash val="solid"/>
          </a:ln>
        </p:spPr>
      </p:sp>
      <p:sp>
        <p:nvSpPr>
          <p:cNvPr id="48" name="Shape 45"/>
          <p:cNvSpPr/>
          <p:nvPr/>
        </p:nvSpPr>
        <p:spPr>
          <a:xfrm>
            <a:off x="4069080" y="2560320"/>
            <a:ext cx="118872" cy="292608"/>
          </a:xfrm>
          <a:prstGeom prst="roundRect">
            <a:avLst>
              <a:gd name="adj" fmla="val 19231"/>
            </a:avLst>
          </a:prstGeom>
          <a:solidFill>
            <a:srgbClr val="35E0C8"/>
          </a:solidFill>
          <a:ln w="12700">
            <a:solidFill>
              <a:srgbClr val="35E0C8"/>
            </a:solidFill>
            <a:prstDash val="solid"/>
          </a:ln>
        </p:spPr>
      </p:sp>
      <p:sp>
        <p:nvSpPr>
          <p:cNvPr id="49" name="Shape 46"/>
          <p:cNvSpPr/>
          <p:nvPr/>
        </p:nvSpPr>
        <p:spPr>
          <a:xfrm>
            <a:off x="4251960" y="2971800"/>
            <a:ext cx="118872" cy="292608"/>
          </a:xfrm>
          <a:prstGeom prst="roundRect">
            <a:avLst>
              <a:gd name="adj" fmla="val 19231"/>
            </a:avLst>
          </a:prstGeom>
          <a:solidFill>
            <a:srgbClr val="35E0C8"/>
          </a:solidFill>
          <a:ln w="12700">
            <a:solidFill>
              <a:srgbClr val="35E0C8"/>
            </a:solidFill>
            <a:prstDash val="solid"/>
          </a:ln>
        </p:spPr>
      </p:sp>
      <p:sp>
        <p:nvSpPr>
          <p:cNvPr id="50" name="Shape 47"/>
          <p:cNvSpPr/>
          <p:nvPr/>
        </p:nvSpPr>
        <p:spPr>
          <a:xfrm>
            <a:off x="4434840" y="2560320"/>
            <a:ext cx="118872" cy="292608"/>
          </a:xfrm>
          <a:prstGeom prst="roundRect">
            <a:avLst>
              <a:gd name="adj" fmla="val 19231"/>
            </a:avLst>
          </a:prstGeom>
          <a:solidFill>
            <a:srgbClr val="35E0C8"/>
          </a:solidFill>
          <a:ln w="12700">
            <a:solidFill>
              <a:srgbClr val="35E0C8"/>
            </a:solidFill>
            <a:prstDash val="solid"/>
          </a:ln>
        </p:spPr>
      </p:sp>
      <p:sp>
        <p:nvSpPr>
          <p:cNvPr id="51" name="Shape 48"/>
          <p:cNvSpPr/>
          <p:nvPr/>
        </p:nvSpPr>
        <p:spPr>
          <a:xfrm>
            <a:off x="4617720" y="2971800"/>
            <a:ext cx="118872" cy="292608"/>
          </a:xfrm>
          <a:prstGeom prst="roundRect">
            <a:avLst>
              <a:gd name="adj" fmla="val 19231"/>
            </a:avLst>
          </a:prstGeom>
          <a:solidFill>
            <a:srgbClr val="35E0C8"/>
          </a:solidFill>
          <a:ln w="12700">
            <a:solidFill>
              <a:srgbClr val="35E0C8"/>
            </a:solidFill>
            <a:prstDash val="solid"/>
          </a:ln>
        </p:spPr>
      </p:sp>
      <p:sp>
        <p:nvSpPr>
          <p:cNvPr id="52" name="Shape 49"/>
          <p:cNvSpPr/>
          <p:nvPr/>
        </p:nvSpPr>
        <p:spPr>
          <a:xfrm>
            <a:off x="4800600" y="2560320"/>
            <a:ext cx="118872" cy="292608"/>
          </a:xfrm>
          <a:prstGeom prst="roundRect">
            <a:avLst>
              <a:gd name="adj" fmla="val 19231"/>
            </a:avLst>
          </a:prstGeom>
          <a:solidFill>
            <a:srgbClr val="35E0C8"/>
          </a:solidFill>
          <a:ln w="12700">
            <a:solidFill>
              <a:srgbClr val="35E0C8"/>
            </a:solidFill>
            <a:prstDash val="solid"/>
          </a:ln>
        </p:spPr>
      </p:sp>
      <p:sp>
        <p:nvSpPr>
          <p:cNvPr id="53" name="Shape 50"/>
          <p:cNvSpPr/>
          <p:nvPr/>
        </p:nvSpPr>
        <p:spPr>
          <a:xfrm>
            <a:off x="4983480" y="2971800"/>
            <a:ext cx="118872" cy="292608"/>
          </a:xfrm>
          <a:prstGeom prst="roundRect">
            <a:avLst>
              <a:gd name="adj" fmla="val 19231"/>
            </a:avLst>
          </a:prstGeom>
          <a:solidFill>
            <a:srgbClr val="35E0C8"/>
          </a:solidFill>
          <a:ln w="12700">
            <a:solidFill>
              <a:srgbClr val="35E0C8"/>
            </a:solidFill>
            <a:prstDash val="solid"/>
          </a:ln>
        </p:spPr>
      </p:sp>
      <p:sp>
        <p:nvSpPr>
          <p:cNvPr id="54" name="Shape 51"/>
          <p:cNvSpPr/>
          <p:nvPr/>
        </p:nvSpPr>
        <p:spPr>
          <a:xfrm>
            <a:off x="5166360" y="2560320"/>
            <a:ext cx="118872" cy="292608"/>
          </a:xfrm>
          <a:prstGeom prst="roundRect">
            <a:avLst>
              <a:gd name="adj" fmla="val 19231"/>
            </a:avLst>
          </a:prstGeom>
          <a:solidFill>
            <a:srgbClr val="35E0C8"/>
          </a:solidFill>
          <a:ln w="12700">
            <a:solidFill>
              <a:srgbClr val="35E0C8"/>
            </a:solidFill>
            <a:prstDash val="solid"/>
          </a:ln>
        </p:spPr>
      </p:sp>
      <p:sp>
        <p:nvSpPr>
          <p:cNvPr id="55" name="Shape 52"/>
          <p:cNvSpPr/>
          <p:nvPr/>
        </p:nvSpPr>
        <p:spPr>
          <a:xfrm>
            <a:off x="5349240" y="2971800"/>
            <a:ext cx="118872" cy="292608"/>
          </a:xfrm>
          <a:prstGeom prst="roundRect">
            <a:avLst>
              <a:gd name="adj" fmla="val 19231"/>
            </a:avLst>
          </a:prstGeom>
          <a:solidFill>
            <a:srgbClr val="35E0C8"/>
          </a:solidFill>
          <a:ln w="12700">
            <a:solidFill>
              <a:srgbClr val="35E0C8"/>
            </a:solidFill>
            <a:prstDash val="solid"/>
          </a:ln>
        </p:spPr>
      </p:sp>
      <p:sp>
        <p:nvSpPr>
          <p:cNvPr id="56" name="Shape 53"/>
          <p:cNvSpPr/>
          <p:nvPr/>
        </p:nvSpPr>
        <p:spPr>
          <a:xfrm>
            <a:off x="5532120" y="2560320"/>
            <a:ext cx="118872" cy="292608"/>
          </a:xfrm>
          <a:prstGeom prst="roundRect">
            <a:avLst>
              <a:gd name="adj" fmla="val 19231"/>
            </a:avLst>
          </a:prstGeom>
          <a:solidFill>
            <a:srgbClr val="35E0C8"/>
          </a:solidFill>
          <a:ln w="12700">
            <a:solidFill>
              <a:srgbClr val="35E0C8"/>
            </a:solidFill>
            <a:prstDash val="solid"/>
          </a:ln>
        </p:spPr>
      </p:sp>
      <p:sp>
        <p:nvSpPr>
          <p:cNvPr id="57" name="Shape 54"/>
          <p:cNvSpPr/>
          <p:nvPr/>
        </p:nvSpPr>
        <p:spPr>
          <a:xfrm>
            <a:off x="5715000" y="2971800"/>
            <a:ext cx="118872" cy="292608"/>
          </a:xfrm>
          <a:prstGeom prst="roundRect">
            <a:avLst>
              <a:gd name="adj" fmla="val 19231"/>
            </a:avLst>
          </a:prstGeom>
          <a:solidFill>
            <a:srgbClr val="35E0C8"/>
          </a:solidFill>
          <a:ln w="12700">
            <a:solidFill>
              <a:srgbClr val="35E0C8"/>
            </a:solidFill>
            <a:prstDash val="solid"/>
          </a:ln>
        </p:spPr>
      </p:sp>
      <p:sp>
        <p:nvSpPr>
          <p:cNvPr id="58" name="Shape 55"/>
          <p:cNvSpPr/>
          <p:nvPr/>
        </p:nvSpPr>
        <p:spPr>
          <a:xfrm>
            <a:off x="5897880" y="2560320"/>
            <a:ext cx="118872" cy="292608"/>
          </a:xfrm>
          <a:prstGeom prst="roundRect">
            <a:avLst>
              <a:gd name="adj" fmla="val 19231"/>
            </a:avLst>
          </a:prstGeom>
          <a:solidFill>
            <a:srgbClr val="35E0C8"/>
          </a:solidFill>
          <a:ln w="12700">
            <a:solidFill>
              <a:srgbClr val="35E0C8"/>
            </a:solidFill>
            <a:prstDash val="solid"/>
          </a:ln>
        </p:spPr>
      </p:sp>
      <p:sp>
        <p:nvSpPr>
          <p:cNvPr id="59" name="Shape 56"/>
          <p:cNvSpPr/>
          <p:nvPr/>
        </p:nvSpPr>
        <p:spPr>
          <a:xfrm>
            <a:off x="6080760" y="2971800"/>
            <a:ext cx="118872" cy="292608"/>
          </a:xfrm>
          <a:prstGeom prst="roundRect">
            <a:avLst>
              <a:gd name="adj" fmla="val 19231"/>
            </a:avLst>
          </a:prstGeom>
          <a:solidFill>
            <a:srgbClr val="35E0C8"/>
          </a:solidFill>
          <a:ln w="12700">
            <a:solidFill>
              <a:srgbClr val="35E0C8"/>
            </a:solidFill>
            <a:prstDash val="solid"/>
          </a:ln>
        </p:spPr>
      </p:sp>
      <p:sp>
        <p:nvSpPr>
          <p:cNvPr id="60" name="Shape 57"/>
          <p:cNvSpPr/>
          <p:nvPr/>
        </p:nvSpPr>
        <p:spPr>
          <a:xfrm>
            <a:off x="6263640" y="2560320"/>
            <a:ext cx="118872" cy="292608"/>
          </a:xfrm>
          <a:prstGeom prst="roundRect">
            <a:avLst>
              <a:gd name="adj" fmla="val 19231"/>
            </a:avLst>
          </a:prstGeom>
          <a:solidFill>
            <a:srgbClr val="35E0C8"/>
          </a:solidFill>
          <a:ln w="12700">
            <a:solidFill>
              <a:srgbClr val="35E0C8"/>
            </a:solidFill>
            <a:prstDash val="solid"/>
          </a:ln>
        </p:spPr>
      </p:sp>
      <p:sp>
        <p:nvSpPr>
          <p:cNvPr id="61" name="Shape 58"/>
          <p:cNvSpPr/>
          <p:nvPr/>
        </p:nvSpPr>
        <p:spPr>
          <a:xfrm>
            <a:off x="6446520" y="2971800"/>
            <a:ext cx="118872" cy="292608"/>
          </a:xfrm>
          <a:prstGeom prst="roundRect">
            <a:avLst>
              <a:gd name="adj" fmla="val 19231"/>
            </a:avLst>
          </a:prstGeom>
          <a:solidFill>
            <a:srgbClr val="35E0C8"/>
          </a:solidFill>
          <a:ln w="12700">
            <a:solidFill>
              <a:srgbClr val="35E0C8"/>
            </a:solidFill>
            <a:prstDash val="solid"/>
          </a:ln>
        </p:spPr>
      </p:sp>
      <p:sp>
        <p:nvSpPr>
          <p:cNvPr id="62" name="Text 59"/>
          <p:cNvSpPr txBox="1"/>
          <p:nvPr/>
        </p:nvSpPr>
        <p:spPr>
          <a:xfrm>
            <a:off x="6766560" y="2631643"/>
            <a:ext cx="1828800" cy="164592"/>
          </a:xfrm>
          <a:prstGeom prst="rect">
            <a:avLst/>
          </a:prstGeom>
          <a:noFill/>
          <a:ln/>
        </p:spPr>
        <p:txBody>
          <a:bodyPr wrap="square" lIns="0" tIns="0" rIns="0" bIns="0" rtlCol="0" anchor="ctr"/>
          <a:lstStyle/>
          <a:p>
            <a:pPr marL="0" indent="0" algn="l">
              <a:buNone/>
            </a:pPr>
            <a:r>
              <a:rPr lang="en-US" sz="864" b="1" dirty="0">
                <a:solidFill>
                  <a:srgbClr val="D9F201"/>
                </a:solidFill>
                <a:latin typeface="Arial" pitchFamily="34" charset="0"/>
                <a:ea typeface="Arial" pitchFamily="34" charset="-122"/>
                <a:cs typeface="Arial" pitchFamily="34" charset="-120"/>
              </a:rPr>
              <a:t>1 754 turns</a:t>
            </a:r>
            <a:endParaRPr lang="en-US" sz="864" dirty="0"/>
          </a:p>
        </p:txBody>
      </p:sp>
      <p:sp>
        <p:nvSpPr>
          <p:cNvPr id="63" name="Text 60"/>
          <p:cNvSpPr txBox="1"/>
          <p:nvPr/>
        </p:nvSpPr>
        <p:spPr>
          <a:xfrm>
            <a:off x="6766560" y="3043123"/>
            <a:ext cx="1828800" cy="164592"/>
          </a:xfrm>
          <a:prstGeom prst="rect">
            <a:avLst/>
          </a:prstGeom>
          <a:noFill/>
          <a:ln/>
        </p:spPr>
        <p:txBody>
          <a:bodyPr wrap="square" lIns="0" tIns="0" rIns="0" bIns="0" rtlCol="0" anchor="ctr"/>
          <a:lstStyle/>
          <a:p>
            <a:pPr marL="0" indent="0" algn="l">
              <a:buNone/>
            </a:pPr>
            <a:r>
              <a:rPr lang="en-US" sz="864" b="1" dirty="0">
                <a:solidFill>
                  <a:srgbClr val="D9F201"/>
                </a:solidFill>
                <a:latin typeface="Arial" pitchFamily="34" charset="0"/>
                <a:ea typeface="Arial" pitchFamily="34" charset="-122"/>
                <a:cs typeface="Arial" pitchFamily="34" charset="-120"/>
              </a:rPr>
              <a:t>1 753 turns</a:t>
            </a:r>
            <a:endParaRPr lang="en-US" sz="864" dirty="0"/>
          </a:p>
        </p:txBody>
      </p:sp>
      <p:sp>
        <p:nvSpPr>
          <p:cNvPr id="64" name="Shape 61"/>
          <p:cNvSpPr/>
          <p:nvPr/>
        </p:nvSpPr>
        <p:spPr>
          <a:xfrm>
            <a:off x="1508760" y="3611880"/>
            <a:ext cx="182880" cy="155448"/>
          </a:xfrm>
          <a:prstGeom prst="roundRect">
            <a:avLst>
              <a:gd name="adj" fmla="val 14706"/>
            </a:avLst>
          </a:prstGeom>
          <a:solidFill>
            <a:srgbClr val="35E0C8"/>
          </a:solidFill>
          <a:ln w="12700">
            <a:solidFill>
              <a:srgbClr val="35E0C8"/>
            </a:solidFill>
            <a:prstDash val="solid"/>
          </a:ln>
        </p:spPr>
      </p:sp>
      <p:sp>
        <p:nvSpPr>
          <p:cNvPr id="65" name="Text 62"/>
          <p:cNvSpPr txBox="1"/>
          <p:nvPr/>
        </p:nvSpPr>
        <p:spPr>
          <a:xfrm>
            <a:off x="1764792" y="3620110"/>
            <a:ext cx="1371600" cy="150876"/>
          </a:xfrm>
          <a:prstGeom prst="rect">
            <a:avLst/>
          </a:prstGeom>
          <a:noFill/>
          <a:ln/>
        </p:spPr>
        <p:txBody>
          <a:bodyPr wrap="square" lIns="0" tIns="0" rIns="0" bIns="0" rtlCol="0" anchor="ctr"/>
          <a:lstStyle/>
          <a:p>
            <a:pPr marL="0" indent="0" algn="l">
              <a:buNone/>
            </a:pPr>
            <a:r>
              <a:rPr lang="en-US" sz="792" dirty="0">
                <a:solidFill>
                  <a:srgbClr val="9AA095"/>
                </a:solidFill>
                <a:latin typeface="Arial" pitchFamily="34" charset="0"/>
                <a:ea typeface="Arial" pitchFamily="34" charset="-122"/>
                <a:cs typeface="Arial" pitchFamily="34" charset="-120"/>
              </a:rPr>
              <a:t>holds the lock</a:t>
            </a:r>
            <a:endParaRPr lang="en-US" sz="792" dirty="0"/>
          </a:p>
        </p:txBody>
      </p:sp>
      <p:sp>
        <p:nvSpPr>
          <p:cNvPr id="66" name="hatchR"/>
          <p:cNvSpPr/>
          <p:nvPr/>
        </p:nvSpPr>
        <p:spPr>
          <a:xfrm>
            <a:off x="3017520" y="3611880"/>
            <a:ext cx="182880" cy="155448"/>
          </a:xfrm>
          <a:prstGeom prst="roundRect">
            <a:avLst>
              <a:gd name="adj" fmla="val 14706"/>
            </a:avLst>
          </a:prstGeom>
          <a:pattFill prst="wdUpDiag">
            <a:fgClr>
              <a:srgbClr val="6B2A27"/>
            </a:fgClr>
            <a:bgClr>
              <a:srgbClr val="1A0E0D"/>
            </a:bgClr>
          </a:pattFill>
          <a:ln w="9144">
            <a:solidFill>
              <a:srgbClr val="FF5A54"/>
            </a:solidFill>
            <a:prstDash val="solid"/>
          </a:ln>
        </p:spPr>
      </p:sp>
      <p:sp>
        <p:nvSpPr>
          <p:cNvPr id="67" name="Text 64"/>
          <p:cNvSpPr txBox="1"/>
          <p:nvPr/>
        </p:nvSpPr>
        <p:spPr>
          <a:xfrm>
            <a:off x="3273552" y="3620110"/>
            <a:ext cx="3200400" cy="150876"/>
          </a:xfrm>
          <a:prstGeom prst="rect">
            <a:avLst/>
          </a:prstGeom>
          <a:noFill/>
          <a:ln/>
        </p:spPr>
        <p:txBody>
          <a:bodyPr wrap="square" lIns="0" tIns="0" rIns="0" bIns="0" rtlCol="0" anchor="ctr"/>
          <a:lstStyle/>
          <a:p>
            <a:pPr marL="0" indent="0" algn="l">
              <a:buNone/>
            </a:pPr>
            <a:r>
              <a:rPr lang="en-US" sz="792" dirty="0">
                <a:solidFill>
                  <a:srgbClr val="9AA095"/>
                </a:solidFill>
                <a:latin typeface="Arial" pitchFamily="34" charset="0"/>
                <a:ea typeface="Arial" pitchFamily="34" charset="-122"/>
                <a:cs typeface="Arial" pitchFamily="34" charset="-120"/>
              </a:rPr>
              <a:t>waits for the lock - ready, but not running</a:t>
            </a:r>
            <a:endParaRPr lang="en-US" sz="792" dirty="0"/>
          </a:p>
        </p:txBody>
      </p:sp>
      <p:sp>
        <p:nvSpPr>
          <p:cNvPr id="68" name="Text 65"/>
          <p:cNvSpPr txBox="1"/>
          <p:nvPr/>
        </p:nvSpPr>
        <p:spPr>
          <a:xfrm>
            <a:off x="502920" y="4700473"/>
            <a:ext cx="8458200" cy="198882"/>
          </a:xfrm>
          <a:prstGeom prst="rect">
            <a:avLst/>
          </a:prstGeom>
          <a:noFill/>
          <a:ln/>
        </p:spPr>
        <p:txBody>
          <a:bodyPr wrap="square" lIns="0" tIns="0" rIns="0" bIns="0" rtlCol="0" anchor="ctr"/>
          <a:lstStyle/>
          <a:p>
            <a:pPr marL="0" indent="0" algn="l">
              <a:buNone/>
            </a:pPr>
            <a:r>
              <a:rPr lang="en-US" sz="1044" dirty="0">
                <a:solidFill>
                  <a:srgbClr val="FFFFFF"/>
                </a:solidFill>
                <a:latin typeface="Arial" pitchFamily="34" charset="0"/>
                <a:ea typeface="Arial" pitchFamily="34" charset="-122"/>
                <a:cs typeface="Arial" pitchFamily="34" charset="-120"/>
              </a:rPr>
              <a:t>lock is not a queue: when it is released, the thread that is already running usually takes it again.</a:t>
            </a:r>
            <a:endParaRPr lang="en-US" sz="1044"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3" name="Text 10"/>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STARVATION — RUN IT LIVE</a:t>
            </a:r>
            <a:endParaRPr lang="en-US" sz="1050" dirty="0"/>
          </a:p>
        </p:txBody>
      </p:sp>
      <p:sp>
        <p:nvSpPr>
          <p:cNvPr id="14" name="Text 11"/>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 greedy thread</a:t>
            </a:r>
            <a:endParaRPr lang="en-US" sz="3200" dirty="0"/>
          </a:p>
        </p:txBody>
      </p:sp>
      <p:sp>
        <p:nvSpPr>
          <p:cNvPr id="15" name="Shape 12"/>
          <p:cNvSpPr/>
          <p:nvPr/>
        </p:nvSpPr>
        <p:spPr>
          <a:xfrm>
            <a:off x="566928" y="1444752"/>
            <a:ext cx="3931920" cy="2743200"/>
          </a:xfrm>
          <a:prstGeom prst="roundRect">
            <a:avLst>
              <a:gd name="adj" fmla="val 1667"/>
            </a:avLst>
          </a:prstGeom>
          <a:solidFill>
            <a:srgbClr val="141613"/>
          </a:solidFill>
          <a:ln w="12700">
            <a:solidFill>
              <a:srgbClr val="1F231B"/>
            </a:solidFill>
            <a:prstDash val="solid"/>
          </a:ln>
        </p:spPr>
      </p:sp>
      <p:sp>
        <p:nvSpPr>
          <p:cNvPr id="16" name="Text 13"/>
          <p:cNvSpPr txBox="1"/>
          <p:nvPr/>
        </p:nvSpPr>
        <p:spPr>
          <a:xfrm>
            <a:off x="822960" y="1627632"/>
            <a:ext cx="3474720" cy="237744"/>
          </a:xfrm>
          <a:prstGeom prst="rect">
            <a:avLst/>
          </a:prstGeom>
          <a:noFill/>
          <a:ln/>
        </p:spPr>
        <p:txBody>
          <a:bodyPr wrap="square" lIns="0" tIns="0" rIns="0" bIns="0" rtlCol="0" anchor="ctr"/>
          <a:lstStyle/>
          <a:p>
            <a:pPr marL="0" indent="0">
              <a:buNone/>
            </a:pPr>
            <a:r>
              <a:rPr lang="en-US" sz="1100" b="1" kern="0" spc="200" dirty="0">
                <a:solidFill>
                  <a:srgbClr val="D9F201"/>
                </a:solidFill>
                <a:latin typeface="Arial" pitchFamily="34" charset="0"/>
                <a:ea typeface="Arial" pitchFamily="34" charset="-122"/>
                <a:cs typeface="Arial" pitchFamily="34" charset="-120"/>
              </a:rPr>
              <a:t>GREEDY THREAD</a:t>
            </a:r>
            <a:endParaRPr lang="en-US" sz="1100" dirty="0"/>
          </a:p>
        </p:txBody>
      </p:sp>
      <p:sp>
        <p:nvSpPr>
          <p:cNvPr id="17" name="Text 14"/>
          <p:cNvSpPr txBox="1"/>
          <p:nvPr/>
        </p:nvSpPr>
        <p:spPr>
          <a:xfrm>
            <a:off x="822960" y="1956816"/>
            <a:ext cx="3474720" cy="1600200"/>
          </a:xfrm>
          <a:prstGeom prst="rect">
            <a:avLst/>
          </a:prstGeom>
          <a:noFill/>
          <a:ln/>
        </p:spPr>
        <p:txBody>
          <a:bodyPr wrap="square" lIns="0" tIns="0" rIns="0" bIns="0" rtlCol="0" anchor="t"/>
          <a:lstStyle/>
          <a:p>
            <a:pPr marL="0" indent="0">
              <a:lnSpc>
                <a:spcPts val="1600"/>
              </a:lnSpc>
              <a:buNone/>
            </a:pPr>
            <a:r>
              <a:rPr lang="en-US" sz="1200" dirty="0">
                <a:solidFill>
                  <a:srgbClr val="D9F201"/>
                </a:solidFill>
                <a:latin typeface="Courier New" pitchFamily="34" charset="0"/>
                <a:ea typeface="Courier New" pitchFamily="34" charset="-122"/>
                <a:cs typeface="Courier New" pitchFamily="34" charset="-120"/>
              </a:rPr>
              <a:t>while</a:t>
            </a:r>
            <a:r>
              <a:rPr lang="en-US" sz="1200" dirty="0">
                <a:solidFill>
                  <a:srgbClr val="FFFFFF"/>
                </a:solidFill>
                <a:latin typeface="Courier New" pitchFamily="34" charset="0"/>
                <a:ea typeface="Courier New" pitchFamily="34" charset="-122"/>
                <a:cs typeface="Courier New" pitchFamily="34" charset="-120"/>
              </a:rPr>
              <a:t> (</a:t>
            </a:r>
            <a:r>
              <a:rPr lang="en-US" sz="1200" dirty="0">
                <a:solidFill>
                  <a:srgbClr val="35E0C8"/>
                </a:solidFill>
                <a:latin typeface="Courier New" pitchFamily="34" charset="0"/>
                <a:ea typeface="Courier New" pitchFamily="34" charset="-122"/>
                <a:cs typeface="Courier New" pitchFamily="34" charset="-120"/>
              </a:rPr>
              <a:t>Running</a:t>
            </a: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    </a:t>
            </a:r>
            <a:r>
              <a:rPr lang="en-US" sz="1200" dirty="0">
                <a:solidFill>
                  <a:srgbClr val="D9F201"/>
                </a:solidFill>
                <a:latin typeface="Courier New" pitchFamily="34" charset="0"/>
                <a:ea typeface="Courier New" pitchFamily="34" charset="-122"/>
                <a:cs typeface="Courier New" pitchFamily="34" charset="-120"/>
              </a:rPr>
              <a:t>lock</a:t>
            </a:r>
            <a:r>
              <a:rPr lang="en-US" sz="1200" dirty="0">
                <a:solidFill>
                  <a:srgbClr val="FFFFFF"/>
                </a:solidFill>
                <a:latin typeface="Courier New" pitchFamily="34" charset="0"/>
                <a:ea typeface="Courier New" pitchFamily="34" charset="-122"/>
                <a:cs typeface="Courier New" pitchFamily="34" charset="-120"/>
              </a:rPr>
              <a:t> (gate)</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        greedyTurns++;</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        </a:t>
            </a:r>
            <a:r>
              <a:rPr lang="en-US" sz="1200" dirty="0">
                <a:solidFill>
                  <a:srgbClr val="35E0C8"/>
                </a:solidFill>
                <a:latin typeface="Courier New" pitchFamily="34" charset="0"/>
                <a:ea typeface="Courier New" pitchFamily="34" charset="-122"/>
                <a:cs typeface="Courier New" pitchFamily="34" charset="-120"/>
              </a:rPr>
              <a:t>Thread</a:t>
            </a:r>
            <a:r>
              <a:rPr lang="en-US" sz="1200" dirty="0">
                <a:solidFill>
                  <a:srgbClr val="FFFFFF"/>
                </a:solidFill>
                <a:latin typeface="Courier New" pitchFamily="34" charset="0"/>
                <a:ea typeface="Courier New" pitchFamily="34" charset="-122"/>
                <a:cs typeface="Courier New" pitchFamily="34" charset="-120"/>
              </a:rPr>
              <a:t>.</a:t>
            </a:r>
            <a:r>
              <a:rPr lang="en-US" sz="1200" dirty="0">
                <a:solidFill>
                  <a:srgbClr val="35E0C8"/>
                </a:solidFill>
                <a:latin typeface="Courier New" pitchFamily="34" charset="0"/>
                <a:ea typeface="Courier New" pitchFamily="34" charset="-122"/>
                <a:cs typeface="Courier New" pitchFamily="34" charset="-120"/>
              </a:rPr>
              <a:t>Sleep</a:t>
            </a:r>
            <a:r>
              <a:rPr lang="en-US" sz="1200" dirty="0">
                <a:solidFill>
                  <a:srgbClr val="FFFFFF"/>
                </a:solidFill>
                <a:latin typeface="Courier New" pitchFamily="34" charset="0"/>
                <a:ea typeface="Courier New" pitchFamily="34" charset="-122"/>
                <a:cs typeface="Courier New" pitchFamily="34" charset="-120"/>
              </a:rPr>
              <a:t>(</a:t>
            </a:r>
            <a:r>
              <a:rPr lang="en-US" sz="1200" dirty="0">
                <a:solidFill>
                  <a:srgbClr val="35E0C8"/>
                </a:solidFill>
                <a:latin typeface="Courier New" pitchFamily="34" charset="0"/>
                <a:ea typeface="Courier New" pitchFamily="34" charset="-122"/>
                <a:cs typeface="Courier New" pitchFamily="34" charset="-120"/>
              </a:rPr>
              <a:t>1</a:t>
            </a:r>
            <a:r>
              <a:rPr lang="en-US" sz="1200" dirty="0">
                <a:solidFill>
                  <a:srgbClr val="FFFFFF"/>
                </a:solidFill>
                <a:latin typeface="Courier New" pitchFamily="34" charset="0"/>
                <a:ea typeface="Courier New" pitchFamily="34" charset="-122"/>
                <a:cs typeface="Courier New" pitchFamily="34" charset="-120"/>
              </a:rPr>
              <a:t>); </a:t>
            </a:r>
            <a:r>
              <a:rPr lang="en-US" sz="1200" dirty="0">
                <a:solidFill>
                  <a:srgbClr val="5E6357"/>
                </a:solidFill>
                <a:latin typeface="Courier New" pitchFamily="34" charset="0"/>
                <a:ea typeface="Courier New" pitchFamily="34" charset="-122"/>
                <a:cs typeface="Courier New" pitchFamily="34" charset="-120"/>
              </a:rPr>
              <a:t>// inside!</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    }   </a:t>
            </a:r>
            <a:r>
              <a:rPr lang="en-US" sz="1200" dirty="0">
                <a:solidFill>
                  <a:srgbClr val="5E6357"/>
                </a:solidFill>
                <a:latin typeface="Courier New" pitchFamily="34" charset="0"/>
                <a:ea typeface="Courier New" pitchFamily="34" charset="-122"/>
                <a:cs typeface="Courier New" pitchFamily="34" charset="-120"/>
              </a:rPr>
              <a:t>// and straight back in</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18" name="Text 15"/>
          <p:cNvSpPr txBox="1"/>
          <p:nvPr/>
        </p:nvSpPr>
        <p:spPr>
          <a:xfrm>
            <a:off x="822960" y="3639312"/>
            <a:ext cx="2377440" cy="384048"/>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1 751 turns</a:t>
            </a:r>
            <a:endParaRPr lang="en-US" sz="2200" dirty="0"/>
          </a:p>
        </p:txBody>
      </p:sp>
      <p:sp>
        <p:nvSpPr>
          <p:cNvPr id="19" name="Shape 16"/>
          <p:cNvSpPr/>
          <p:nvPr/>
        </p:nvSpPr>
        <p:spPr>
          <a:xfrm>
            <a:off x="4663440" y="1444752"/>
            <a:ext cx="3913632" cy="2743200"/>
          </a:xfrm>
          <a:prstGeom prst="roundRect">
            <a:avLst>
              <a:gd name="adj" fmla="val 1667"/>
            </a:avLst>
          </a:prstGeom>
          <a:solidFill>
            <a:srgbClr val="141613"/>
          </a:solidFill>
          <a:ln w="12700">
            <a:solidFill>
              <a:srgbClr val="1F231B"/>
            </a:solidFill>
            <a:prstDash val="solid"/>
          </a:ln>
        </p:spPr>
      </p:sp>
      <p:sp>
        <p:nvSpPr>
          <p:cNvPr id="20" name="Text 17"/>
          <p:cNvSpPr txBox="1"/>
          <p:nvPr/>
        </p:nvSpPr>
        <p:spPr>
          <a:xfrm>
            <a:off x="4919472" y="1627632"/>
            <a:ext cx="3474720" cy="237744"/>
          </a:xfrm>
          <a:prstGeom prst="rect">
            <a:avLst/>
          </a:prstGeom>
          <a:noFill/>
          <a:ln/>
        </p:spPr>
        <p:txBody>
          <a:bodyPr wrap="square" lIns="0" tIns="0" rIns="0" bIns="0" rtlCol="0" anchor="ctr"/>
          <a:lstStyle/>
          <a:p>
            <a:pPr marL="0" indent="0">
              <a:buNone/>
            </a:pPr>
            <a:r>
              <a:rPr lang="en-US" sz="1100" b="1" kern="0" spc="200" dirty="0">
                <a:solidFill>
                  <a:srgbClr val="D9F201"/>
                </a:solidFill>
                <a:latin typeface="Arial" pitchFamily="34" charset="0"/>
                <a:ea typeface="Arial" pitchFamily="34" charset="-122"/>
                <a:cs typeface="Arial" pitchFamily="34" charset="-120"/>
              </a:rPr>
              <a:t>THE OTHER THREAD</a:t>
            </a:r>
            <a:endParaRPr lang="en-US" sz="1100" dirty="0"/>
          </a:p>
        </p:txBody>
      </p:sp>
      <p:sp>
        <p:nvSpPr>
          <p:cNvPr id="21" name="Text 18"/>
          <p:cNvSpPr txBox="1"/>
          <p:nvPr/>
        </p:nvSpPr>
        <p:spPr>
          <a:xfrm>
            <a:off x="4919472" y="1956816"/>
            <a:ext cx="3456432" cy="1600200"/>
          </a:xfrm>
          <a:prstGeom prst="rect">
            <a:avLst/>
          </a:prstGeom>
          <a:noFill/>
          <a:ln/>
        </p:spPr>
        <p:txBody>
          <a:bodyPr wrap="square" lIns="0" tIns="0" rIns="0" bIns="0" rtlCol="0" anchor="t"/>
          <a:lstStyle/>
          <a:p>
            <a:pPr marL="0" indent="0">
              <a:lnSpc>
                <a:spcPts val="1600"/>
              </a:lnSpc>
              <a:buNone/>
            </a:pPr>
            <a:r>
              <a:rPr lang="en-US" sz="1200" dirty="0">
                <a:solidFill>
                  <a:srgbClr val="D9F201"/>
                </a:solidFill>
                <a:latin typeface="Courier New" pitchFamily="34" charset="0"/>
                <a:ea typeface="Courier New" pitchFamily="34" charset="-122"/>
                <a:cs typeface="Courier New" pitchFamily="34" charset="-120"/>
              </a:rPr>
              <a:t>while</a:t>
            </a:r>
            <a:r>
              <a:rPr lang="en-US" sz="1200" dirty="0">
                <a:solidFill>
                  <a:srgbClr val="FFFFFF"/>
                </a:solidFill>
                <a:latin typeface="Courier New" pitchFamily="34" charset="0"/>
                <a:ea typeface="Courier New" pitchFamily="34" charset="-122"/>
                <a:cs typeface="Courier New" pitchFamily="34" charset="-120"/>
              </a:rPr>
              <a:t> (</a:t>
            </a:r>
            <a:r>
              <a:rPr lang="en-US" sz="1200" dirty="0">
                <a:solidFill>
                  <a:srgbClr val="35E0C8"/>
                </a:solidFill>
                <a:latin typeface="Courier New" pitchFamily="34" charset="0"/>
                <a:ea typeface="Courier New" pitchFamily="34" charset="-122"/>
                <a:cs typeface="Courier New" pitchFamily="34" charset="-120"/>
              </a:rPr>
              <a:t>Running</a:t>
            </a: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    </a:t>
            </a:r>
            <a:r>
              <a:rPr lang="en-US" sz="1200" dirty="0">
                <a:solidFill>
                  <a:srgbClr val="D9F201"/>
                </a:solidFill>
                <a:latin typeface="Courier New" pitchFamily="34" charset="0"/>
                <a:ea typeface="Courier New" pitchFamily="34" charset="-122"/>
                <a:cs typeface="Courier New" pitchFamily="34" charset="-120"/>
              </a:rPr>
              <a:t>lock</a:t>
            </a:r>
            <a:r>
              <a:rPr lang="en-US" sz="1200" dirty="0">
                <a:solidFill>
                  <a:srgbClr val="FFFFFF"/>
                </a:solidFill>
                <a:latin typeface="Courier New" pitchFamily="34" charset="0"/>
                <a:ea typeface="Courier New" pitchFamily="34" charset="-122"/>
                <a:cs typeface="Courier New" pitchFamily="34" charset="-120"/>
              </a:rPr>
              <a:t> (gate)</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        otherTurns++;</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    </a:t>
            </a:r>
            <a:r>
              <a:rPr lang="en-US" sz="1200" dirty="0">
                <a:solidFill>
                  <a:srgbClr val="35E0C8"/>
                </a:solidFill>
                <a:latin typeface="Courier New" pitchFamily="34" charset="0"/>
                <a:ea typeface="Courier New" pitchFamily="34" charset="-122"/>
                <a:cs typeface="Courier New" pitchFamily="34" charset="-120"/>
              </a:rPr>
              <a:t>Thread</a:t>
            </a:r>
            <a:r>
              <a:rPr lang="en-US" sz="1200" dirty="0">
                <a:solidFill>
                  <a:srgbClr val="FFFFFF"/>
                </a:solidFill>
                <a:latin typeface="Courier New" pitchFamily="34" charset="0"/>
                <a:ea typeface="Courier New" pitchFamily="34" charset="-122"/>
                <a:cs typeface="Courier New" pitchFamily="34" charset="-120"/>
              </a:rPr>
              <a:t>.</a:t>
            </a:r>
            <a:r>
              <a:rPr lang="en-US" sz="1200" dirty="0">
                <a:solidFill>
                  <a:srgbClr val="35E0C8"/>
                </a:solidFill>
                <a:latin typeface="Courier New" pitchFamily="34" charset="0"/>
                <a:ea typeface="Courier New" pitchFamily="34" charset="-122"/>
                <a:cs typeface="Courier New" pitchFamily="34" charset="-120"/>
              </a:rPr>
              <a:t>Sleep</a:t>
            </a:r>
            <a:r>
              <a:rPr lang="en-US" sz="1200" dirty="0">
                <a:solidFill>
                  <a:srgbClr val="FFFFFF"/>
                </a:solidFill>
                <a:latin typeface="Courier New" pitchFamily="34" charset="0"/>
                <a:ea typeface="Courier New" pitchFamily="34" charset="-122"/>
                <a:cs typeface="Courier New" pitchFamily="34" charset="-120"/>
              </a:rPr>
              <a:t>(</a:t>
            </a:r>
            <a:r>
              <a:rPr lang="en-US" sz="1200" dirty="0">
                <a:solidFill>
                  <a:srgbClr val="35E0C8"/>
                </a:solidFill>
                <a:latin typeface="Courier New" pitchFamily="34" charset="0"/>
                <a:ea typeface="Courier New" pitchFamily="34" charset="-122"/>
                <a:cs typeface="Courier New" pitchFamily="34" charset="-120"/>
              </a:rPr>
              <a:t>1</a:t>
            </a:r>
            <a:r>
              <a:rPr lang="en-US" sz="1200" dirty="0">
                <a:solidFill>
                  <a:srgbClr val="FFFFFF"/>
                </a:solidFill>
                <a:latin typeface="Courier New" pitchFamily="34" charset="0"/>
                <a:ea typeface="Courier New" pitchFamily="34" charset="-122"/>
                <a:cs typeface="Courier New" pitchFamily="34" charset="-120"/>
              </a:rPr>
              <a:t>);   </a:t>
            </a:r>
            <a:r>
              <a:rPr lang="en-US" sz="1200" dirty="0">
                <a:solidFill>
                  <a:srgbClr val="5E6357"/>
                </a:solidFill>
                <a:latin typeface="Courier New" pitchFamily="34" charset="0"/>
                <a:ea typeface="Courier New" pitchFamily="34" charset="-122"/>
                <a:cs typeface="Courier New" pitchFamily="34" charset="-120"/>
              </a:rPr>
              <a:t>// outside</a:t>
            </a:r>
            <a:endParaRPr lang="en-US" sz="1200" dirty="0"/>
          </a:p>
          <a:p>
            <a:pPr marL="0" indent="0">
              <a:lnSpc>
                <a:spcPts val="1600"/>
              </a:lnSpc>
              <a:buNone/>
            </a:pPr>
            <a:r>
              <a:rPr lang="en-US" sz="1200"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22" name="Text 19"/>
          <p:cNvSpPr txBox="1"/>
          <p:nvPr/>
        </p:nvSpPr>
        <p:spPr>
          <a:xfrm>
            <a:off x="4919472" y="3639312"/>
            <a:ext cx="1325880" cy="384048"/>
          </a:xfrm>
          <a:prstGeom prst="rect">
            <a:avLst/>
          </a:prstGeom>
          <a:noFill/>
          <a:ln/>
        </p:spPr>
        <p:txBody>
          <a:bodyPr wrap="square" lIns="0" tIns="0" rIns="0" bIns="0" rtlCol="0" anchor="ctr"/>
          <a:lstStyle/>
          <a:p>
            <a:pPr marL="0" indent="0">
              <a:buNone/>
            </a:pPr>
            <a:r>
              <a:rPr lang="en-US" sz="2200" b="1" dirty="0">
                <a:solidFill>
                  <a:srgbClr val="FF5A54"/>
                </a:solidFill>
                <a:latin typeface="Arial" pitchFamily="34" charset="0"/>
                <a:ea typeface="Arial" pitchFamily="34" charset="-122"/>
                <a:cs typeface="Arial" pitchFamily="34" charset="-120"/>
              </a:rPr>
              <a:t>23 turns</a:t>
            </a:r>
            <a:endParaRPr lang="en-US" sz="2200" dirty="0"/>
          </a:p>
        </p:txBody>
      </p:sp>
      <p:sp>
        <p:nvSpPr>
          <p:cNvPr id="23" name="Text 20"/>
          <p:cNvSpPr txBox="1"/>
          <p:nvPr/>
        </p:nvSpPr>
        <p:spPr>
          <a:xfrm>
            <a:off x="6291072" y="3639312"/>
            <a:ext cx="2103120" cy="384048"/>
          </a:xfrm>
          <a:prstGeom prst="rect">
            <a:avLst/>
          </a:prstGeom>
          <a:noFill/>
          <a:ln/>
        </p:spPr>
        <p:txBody>
          <a:bodyPr wrap="square" lIns="0" tIns="0" rIns="0" bIns="0" rtlCol="0" anchor="ctr"/>
          <a:lstStyle/>
          <a:p>
            <a:pPr marL="0" indent="0">
              <a:buNone/>
            </a:pPr>
            <a:r>
              <a:rPr lang="en-US" sz="1200" dirty="0">
                <a:solidFill>
                  <a:srgbClr val="9AA095"/>
                </a:solidFill>
                <a:latin typeface="Arial" pitchFamily="34" charset="0"/>
                <a:ea typeface="Arial" pitchFamily="34" charset="-122"/>
                <a:cs typeface="Arial" pitchFamily="34" charset="-120"/>
              </a:rPr>
              <a:t>waited up to 99 ms for each</a:t>
            </a:r>
            <a:endParaRPr lang="en-US" sz="1200" dirty="0"/>
          </a:p>
        </p:txBody>
      </p:sp>
      <p:sp>
        <p:nvSpPr>
          <p:cNvPr id="24" name="Text 21"/>
          <p:cNvSpPr txBox="1"/>
          <p:nvPr/>
        </p:nvSpPr>
        <p:spPr>
          <a:xfrm>
            <a:off x="566928" y="4370832"/>
            <a:ext cx="8010144" cy="274320"/>
          </a:xfrm>
          <a:prstGeom prst="rect">
            <a:avLst/>
          </a:prstGeom>
          <a:noFill/>
          <a:ln/>
        </p:spPr>
        <p:txBody>
          <a:bodyPr wrap="square" lIns="0" tIns="0" rIns="0" bIns="0" rtlCol="0" anchor="ctr"/>
          <a:lstStyle/>
          <a:p>
            <a:pPr marL="0" indent="0">
              <a:buNone/>
            </a:pPr>
            <a:r>
              <a:rPr lang="en-US" sz="1300" i="1" dirty="0">
                <a:solidFill>
                  <a:srgbClr val="D9F201"/>
                </a:solidFill>
                <a:latin typeface="Arial" pitchFamily="34" charset="0"/>
                <a:ea typeface="Arial" pitchFamily="34" charset="-122"/>
                <a:cs typeface="Arial" pitchFamily="34" charset="-120"/>
              </a:rPr>
              <a:t>Fix (Ex15b): move the slow work out of the lock - then both threads get about 1 750 turns.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3" name="Text 10"/>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LIVENESS</a:t>
            </a:r>
            <a:endParaRPr lang="en-US" sz="1050" dirty="0"/>
          </a:p>
        </p:txBody>
      </p:sp>
      <p:sp>
        <p:nvSpPr>
          <p:cNvPr id="14" name="Text 11"/>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Three ways to stop making progress</a:t>
            </a:r>
            <a:endParaRPr lang="en-US" sz="3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8010144" cy="2450592"/>
        </p:xfrm>
        <a:graphic>
          <a:graphicData uri="http://schemas.openxmlformats.org/drawingml/2006/table">
            <a:tbl>
              <a:tblPr/>
              <a:tblGrid>
                <a:gridCol w="15544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157984">
                  <a:extLst>
                    <a:ext uri="{9D8B030D-6E8A-4147-A177-3AD203B41FA5}">
                      <a16:colId xmlns:a16="http://schemas.microsoft.com/office/drawing/2014/main" val="20003"/>
                    </a:ext>
                  </a:extLst>
                </a:gridCol>
              </a:tblGrid>
              <a:tr h="365760">
                <a:tc>
                  <a:txBody>
                    <a:bodyPr/>
                    <a:lstStyle/>
                    <a:p>
                      <a:pPr marL="0" indent="0">
                        <a:buNone/>
                      </a:pPr>
                      <a:endParaRPr lang="en-US" sz="13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300" b="1" dirty="0">
                          <a:solidFill>
                            <a:srgbClr val="D9F201"/>
                          </a:solidFill>
                          <a:latin typeface="Arial" pitchFamily="34" charset="0"/>
                          <a:ea typeface="Arial" pitchFamily="34" charset="-122"/>
                          <a:cs typeface="Arial" pitchFamily="34" charset="-120"/>
                        </a:rPr>
                        <a:t>Deadlock</a:t>
                      </a:r>
                      <a:endParaRPr lang="en-US" sz="13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300" b="1" dirty="0">
                          <a:solidFill>
                            <a:srgbClr val="D9F201"/>
                          </a:solidFill>
                          <a:latin typeface="Arial" pitchFamily="34" charset="0"/>
                          <a:ea typeface="Arial" pitchFamily="34" charset="-122"/>
                          <a:cs typeface="Arial" pitchFamily="34" charset="-120"/>
                        </a:rPr>
                        <a:t>Livelock</a:t>
                      </a:r>
                      <a:endParaRPr lang="en-US" sz="13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300" b="1" dirty="0">
                          <a:solidFill>
                            <a:srgbClr val="D9F201"/>
                          </a:solidFill>
                          <a:latin typeface="Arial" pitchFamily="34" charset="0"/>
                          <a:ea typeface="Arial" pitchFamily="34" charset="-122"/>
                          <a:cs typeface="Arial" pitchFamily="34" charset="-120"/>
                        </a:rPr>
                        <a:t>Starvation</a:t>
                      </a:r>
                      <a:endParaRPr lang="en-US" sz="13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0"/>
                  </a:ext>
                </a:extLst>
              </a:tr>
              <a:tr h="438912">
                <a:tc>
                  <a:txBody>
                    <a:bodyPr/>
                    <a:lstStyle/>
                    <a:p>
                      <a:pPr marL="0" indent="0">
                        <a:buNone/>
                      </a:pPr>
                      <a:r>
                        <a:rPr lang="en-US" sz="1200" b="1" dirty="0">
                          <a:solidFill>
                            <a:srgbClr val="9AA095"/>
                          </a:solidFill>
                          <a:latin typeface="Arial" pitchFamily="34" charset="0"/>
                          <a:ea typeface="Arial" pitchFamily="34" charset="-122"/>
                          <a:cs typeface="Arial" pitchFamily="34" charset="-120"/>
                        </a:rPr>
                        <a:t>The threads</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FFFF"/>
                          </a:solidFill>
                          <a:latin typeface="Arial" pitchFamily="34" charset="0"/>
                          <a:ea typeface="Arial" pitchFamily="34" charset="-122"/>
                          <a:cs typeface="Arial" pitchFamily="34" charset="-120"/>
                        </a:rPr>
                        <a:t>wait for each other</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FFFF"/>
                          </a:solidFill>
                          <a:latin typeface="Arial" pitchFamily="34" charset="0"/>
                          <a:ea typeface="Arial" pitchFamily="34" charset="-122"/>
                          <a:cs typeface="Arial" pitchFamily="34" charset="-120"/>
                        </a:rPr>
                        <a:t>react to each other</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FFFF"/>
                          </a:solidFill>
                          <a:latin typeface="Arial" pitchFamily="34" charset="0"/>
                          <a:ea typeface="Arial" pitchFamily="34" charset="-122"/>
                          <a:cs typeface="Arial" pitchFamily="34" charset="-120"/>
                        </a:rPr>
                        <a:t>one waits, the others run</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1"/>
                  </a:ext>
                </a:extLst>
              </a:tr>
              <a:tr h="365760">
                <a:tc>
                  <a:txBody>
                    <a:bodyPr/>
                    <a:lstStyle/>
                    <a:p>
                      <a:pPr marL="0" indent="0">
                        <a:buNone/>
                      </a:pPr>
                      <a:r>
                        <a:rPr lang="en-US" sz="1200" b="1" dirty="0">
                          <a:solidFill>
                            <a:srgbClr val="9AA095"/>
                          </a:solidFill>
                          <a:latin typeface="Arial" pitchFamily="34" charset="0"/>
                          <a:ea typeface="Arial" pitchFamily="34" charset="-122"/>
                          <a:cs typeface="Arial" pitchFamily="34" charset="-120"/>
                        </a:rPr>
                        <a:t>CPU</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FFFF"/>
                          </a:solidFill>
                          <a:latin typeface="Arial" pitchFamily="34" charset="0"/>
                          <a:ea typeface="Arial" pitchFamily="34" charset="-122"/>
                          <a:cs typeface="Arial" pitchFamily="34" charset="-120"/>
                        </a:rPr>
                        <a:t>idle</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FFFF"/>
                          </a:solidFill>
                          <a:latin typeface="Arial" pitchFamily="34" charset="0"/>
                          <a:ea typeface="Arial" pitchFamily="34" charset="-122"/>
                          <a:cs typeface="Arial" pitchFamily="34" charset="-120"/>
                        </a:rPr>
                        <a:t>busy</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FFFF"/>
                          </a:solidFill>
                          <a:latin typeface="Arial" pitchFamily="34" charset="0"/>
                          <a:ea typeface="Arial" pitchFamily="34" charset="-122"/>
                          <a:cs typeface="Arial" pitchFamily="34" charset="-120"/>
                        </a:rPr>
                        <a:t>busy</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2"/>
                  </a:ext>
                </a:extLst>
              </a:tr>
              <a:tr h="365760">
                <a:tc>
                  <a:txBody>
                    <a:bodyPr/>
                    <a:lstStyle/>
                    <a:p>
                      <a:pPr marL="0" indent="0">
                        <a:buNone/>
                      </a:pPr>
                      <a:r>
                        <a:rPr lang="en-US" sz="1200" b="1" dirty="0">
                          <a:solidFill>
                            <a:srgbClr val="9AA095"/>
                          </a:solidFill>
                          <a:latin typeface="Arial" pitchFamily="34" charset="0"/>
                          <a:ea typeface="Arial" pitchFamily="34" charset="-122"/>
                          <a:cs typeface="Arial" pitchFamily="34" charset="-120"/>
                        </a:rPr>
                        <a:t>Progress</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5A54"/>
                          </a:solidFill>
                          <a:latin typeface="Arial" pitchFamily="34" charset="0"/>
                          <a:ea typeface="Arial" pitchFamily="34" charset="-122"/>
                          <a:cs typeface="Arial" pitchFamily="34" charset="-120"/>
                        </a:rPr>
                        <a:t>nobody</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5A54"/>
                          </a:solidFill>
                          <a:latin typeface="Arial" pitchFamily="34" charset="0"/>
                          <a:ea typeface="Arial" pitchFamily="34" charset="-122"/>
                          <a:cs typeface="Arial" pitchFamily="34" charset="-120"/>
                        </a:rPr>
                        <a:t>nobody</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5A54"/>
                          </a:solidFill>
                          <a:latin typeface="Arial" pitchFamily="34" charset="0"/>
                          <a:ea typeface="Arial" pitchFamily="34" charset="-122"/>
                          <a:cs typeface="Arial" pitchFamily="34" charset="-120"/>
                        </a:rPr>
                        <a:t>everybody but one</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9AA095"/>
                          </a:solidFill>
                          <a:latin typeface="Arial" pitchFamily="34" charset="0"/>
                          <a:ea typeface="Arial" pitchFamily="34" charset="-122"/>
                          <a:cs typeface="Arial" pitchFamily="34" charset="-120"/>
                        </a:rPr>
                        <a:t>Typical cause</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FFFF"/>
                          </a:solidFill>
                          <a:latin typeface="Arial" pitchFamily="34" charset="0"/>
                          <a:ea typeface="Arial" pitchFamily="34" charset="-122"/>
                          <a:cs typeface="Arial" pitchFamily="34" charset="-120"/>
                        </a:rPr>
                        <a:t>locks taken in opposite order</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FFFF"/>
                          </a:solidFill>
                          <a:latin typeface="Arial" pitchFamily="34" charset="0"/>
                          <a:ea typeface="Arial" pitchFamily="34" charset="-122"/>
                          <a:cs typeface="Arial" pitchFamily="34" charset="-120"/>
                        </a:rPr>
                        <a:t>everybody backs off the same way</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FFFF"/>
                          </a:solidFill>
                          <a:latin typeface="Arial" pitchFamily="34" charset="0"/>
                          <a:ea typeface="Arial" pitchFamily="34" charset="-122"/>
                          <a:cs typeface="Arial" pitchFamily="34" charset="-120"/>
                        </a:rPr>
                        <a:t>a greedy thread holds the lock</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4"/>
                  </a:ext>
                </a:extLst>
              </a:tr>
              <a:tr h="457200">
                <a:tc>
                  <a:txBody>
                    <a:bodyPr/>
                    <a:lstStyle/>
                    <a:p>
                      <a:pPr marL="0" indent="0">
                        <a:buNone/>
                      </a:pPr>
                      <a:r>
                        <a:rPr lang="en-US" sz="1200" b="1" dirty="0">
                          <a:solidFill>
                            <a:srgbClr val="9AA095"/>
                          </a:solidFill>
                          <a:latin typeface="Arial" pitchFamily="34" charset="0"/>
                          <a:ea typeface="Arial" pitchFamily="34" charset="-122"/>
                          <a:cs typeface="Arial" pitchFamily="34" charset="-120"/>
                        </a:rPr>
                        <a:t>Fix</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FFFF"/>
                          </a:solidFill>
                          <a:latin typeface="Arial" pitchFamily="34" charset="0"/>
                          <a:ea typeface="Arial" pitchFamily="34" charset="-122"/>
                          <a:cs typeface="Arial" pitchFamily="34" charset="-120"/>
                        </a:rPr>
                        <a:t>one lock order for everybody</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FFFF"/>
                          </a:solidFill>
                          <a:latin typeface="Arial" pitchFamily="34" charset="0"/>
                          <a:ea typeface="Arial" pitchFamily="34" charset="-122"/>
                          <a:cs typeface="Arial" pitchFamily="34" charset="-120"/>
                        </a:rPr>
                        <a:t>break the tie: a random wait</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tc>
                  <a:txBody>
                    <a:bodyPr/>
                    <a:lstStyle/>
                    <a:p>
                      <a:pPr marL="0" indent="0">
                        <a:buNone/>
                      </a:pPr>
                      <a:r>
                        <a:rPr lang="en-US" sz="1200" dirty="0">
                          <a:solidFill>
                            <a:srgbClr val="FFFFFF"/>
                          </a:solidFill>
                          <a:latin typeface="Arial" pitchFamily="34" charset="0"/>
                          <a:ea typeface="Arial" pitchFamily="34" charset="-122"/>
                          <a:cs typeface="Arial" pitchFamily="34" charset="-120"/>
                        </a:rPr>
                        <a:t>short critical sections</a:t>
                      </a:r>
                      <a:endParaRPr lang="en-US" sz="1200" dirty="0">
                        <a:latin typeface="Arial" charset="0"/>
                        <a:ea typeface="Arial" charset="0"/>
                        <a:cs typeface="Arial" charset="0"/>
                      </a:endParaRPr>
                    </a:p>
                  </a:txBody>
                  <a:tcPr marT="27432" marB="27432" anchor="ctr">
                    <a:lnL w="12700" cap="flat" cmpd="sng" algn="ctr">
                      <a:solidFill>
                        <a:srgbClr val="1F231B"/>
                      </a:solidFill>
                      <a:prstDash val="solid"/>
                      <a:round/>
                      <a:headEnd type="none" w="med" len="med"/>
                      <a:tailEnd type="none" w="med" len="med"/>
                    </a:lnL>
                    <a:lnR w="12700" cap="flat" cmpd="sng" algn="ctr">
                      <a:solidFill>
                        <a:srgbClr val="1F231B"/>
                      </a:solidFill>
                      <a:prstDash val="solid"/>
                      <a:round/>
                      <a:headEnd type="none" w="med" len="med"/>
                      <a:tailEnd type="none" w="med" len="med"/>
                    </a:lnR>
                    <a:lnT w="12700" cap="flat" cmpd="sng" algn="ctr">
                      <a:solidFill>
                        <a:srgbClr val="1F231B"/>
                      </a:solidFill>
                      <a:prstDash val="solid"/>
                      <a:round/>
                      <a:headEnd type="none" w="med" len="med"/>
                      <a:tailEnd type="none" w="med" len="med"/>
                    </a:lnT>
                    <a:lnB w="12700" cap="flat" cmpd="sng" algn="ctr">
                      <a:solidFill>
                        <a:srgbClr val="1F231B"/>
                      </a:solidFill>
                      <a:prstDash val="solid"/>
                      <a:round/>
                      <a:headEnd type="none" w="med" len="med"/>
                      <a:tailEnd type="none" w="med" len="med"/>
                    </a:lnB>
                    <a:solidFill>
                      <a:srgbClr val="141613"/>
                    </a:solidFill>
                  </a:tcPr>
                </a:tc>
                <a:extLst>
                  <a:ext uri="{0D108BD9-81ED-4DB2-BD59-A6C34878D82A}">
                    <a16:rowId xmlns:a16="http://schemas.microsoft.com/office/drawing/2014/main" val="10005"/>
                  </a:ext>
                </a:extLst>
              </a:tr>
            </a:tbl>
          </a:graphicData>
        </a:graphic>
      </p:graphicFrame>
      <p:sp>
        <p:nvSpPr>
          <p:cNvPr id="16" name="Text 12"/>
          <p:cNvSpPr txBox="1"/>
          <p:nvPr/>
        </p:nvSpPr>
        <p:spPr>
          <a:xfrm>
            <a:off x="566928" y="4370832"/>
            <a:ext cx="8010144" cy="274320"/>
          </a:xfrm>
          <a:prstGeom prst="rect">
            <a:avLst/>
          </a:prstGeom>
          <a:noFill/>
          <a:ln/>
        </p:spPr>
        <p:txBody>
          <a:bodyPr wrap="square" lIns="0" tIns="0" rIns="0" bIns="0" rtlCol="0" anchor="ctr"/>
          <a:lstStyle/>
          <a:p>
            <a:pPr marL="0" indent="0">
              <a:buNone/>
            </a:pPr>
            <a:r>
              <a:rPr lang="en-US" sz="1300" i="1" dirty="0">
                <a:solidFill>
                  <a:srgbClr val="D9F201"/>
                </a:solidFill>
                <a:latin typeface="Arial" pitchFamily="34" charset="0"/>
                <a:ea typeface="Arial" pitchFamily="34" charset="-122"/>
                <a:cs typeface="Arial" pitchFamily="34" charset="-120"/>
              </a:rPr>
              <a:t>Deadlock and livelock stop everybody. Starvation stops one thread - and the averages still look fine.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a:effectLst/>
      </p:bgPr>
    </p:bg>
    <p:spTree>
      <p:nvGrpSpPr>
        <p:cNvPr id="1" name=""/>
        <p:cNvGrpSpPr/>
        <p:nvPr/>
      </p:nvGrpSpPr>
      <p:grpSpPr>
        <a:xfrm>
          <a:off x="0" y="0"/>
          <a:ext cx="0" cy="0"/>
          <a:chOff x="0" y="0"/>
          <a:chExt cx="0" cy="0"/>
        </a:xfrm>
      </p:grpSpPr>
      <p:pic>
        <p:nvPicPr>
          <p:cNvPr id="3" name="Image 0" descr="/home/claude/L2-07-coordination.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Semaphore diagram" descr="L2-08-semaphore.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SEMAPHORESLIM</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Limiting how many, not who</a:t>
            </a:r>
            <a:endParaRPr lang="en-US" sz="3200" dirty="0"/>
          </a:p>
        </p:txBody>
      </p:sp>
      <p:sp>
        <p:nvSpPr>
          <p:cNvPr id="16" name="Shape 13"/>
          <p:cNvSpPr/>
          <p:nvPr/>
        </p:nvSpPr>
        <p:spPr>
          <a:xfrm>
            <a:off x="566928" y="1444752"/>
            <a:ext cx="8010144" cy="2651760"/>
          </a:xfrm>
          <a:prstGeom prst="roundRect">
            <a:avLst>
              <a:gd name="adj" fmla="val 1724"/>
            </a:avLst>
          </a:prstGeom>
          <a:solidFill>
            <a:srgbClr val="141613"/>
          </a:solidFill>
          <a:ln w="12700">
            <a:solidFill>
              <a:srgbClr val="1F231B"/>
            </a:solidFill>
            <a:prstDash val="solid"/>
          </a:ln>
        </p:spPr>
        <p:txBody>
          <a:bodyPr/>
          <a:lstStyle/>
          <a:p>
            <a:endParaRPr/>
          </a:p>
        </p:txBody>
      </p:sp>
      <p:sp>
        <p:nvSpPr>
          <p:cNvPr id="17" name="Text 14"/>
          <p:cNvSpPr txBox="1"/>
          <p:nvPr/>
        </p:nvSpPr>
        <p:spPr>
          <a:xfrm>
            <a:off x="822960" y="1627632"/>
            <a:ext cx="7498080" cy="2331720"/>
          </a:xfrm>
          <a:prstGeom prst="rect">
            <a:avLst/>
          </a:prstGeom>
          <a:noFill/>
          <a:ln/>
        </p:spPr>
        <p:txBody>
          <a:bodyPr wrap="square" lIns="0" tIns="0" rIns="0" bIns="0" rtlCol="0" anchor="t"/>
          <a:lstStyle/>
          <a:p>
            <a:pPr marL="0" indent="0">
              <a:lnSpc>
                <a:spcPts val="1800"/>
              </a:lnSpc>
              <a:buNone/>
            </a:pPr>
            <a:r>
              <a:rPr lang="en-US" sz="1350" dirty="0">
                <a:solidFill>
                  <a:srgbClr val="5E6357"/>
                </a:solidFill>
                <a:latin typeface="Courier New" pitchFamily="34" charset="0"/>
                <a:ea typeface="Courier New" pitchFamily="34" charset="-122"/>
                <a:cs typeface="Courier New" pitchFamily="34" charset="-120"/>
              </a:rPr>
              <a:t>// at most 3 threads inside at any moment</a:t>
            </a:r>
            <a:endParaRPr lang="en-US" sz="1350" dirty="0"/>
          </a:p>
          <a:p>
            <a:pPr marL="0" indent="0">
              <a:lnSpc>
                <a:spcPts val="1800"/>
              </a:lnSpc>
              <a:buNone/>
            </a:pPr>
            <a:r>
              <a:rPr lang="en-US" sz="1350" dirty="0">
                <a:solidFill>
                  <a:srgbClr val="D9F201"/>
                </a:solidFill>
                <a:latin typeface="Courier New" pitchFamily="34" charset="0"/>
                <a:ea typeface="Courier New" pitchFamily="34" charset="-122"/>
                <a:cs typeface="Courier New" pitchFamily="34" charset="-120"/>
              </a:rPr>
              <a:t>var</a:t>
            </a:r>
            <a:r>
              <a:rPr lang="en-US" sz="1350" dirty="0">
                <a:solidFill>
                  <a:srgbClr val="FFFFFF"/>
                </a:solidFill>
                <a:latin typeface="Courier New" pitchFamily="34" charset="0"/>
                <a:ea typeface="Courier New" pitchFamily="34" charset="-122"/>
                <a:cs typeface="Courier New" pitchFamily="34" charset="-120"/>
              </a:rPr>
              <a:t> gate = </a:t>
            </a:r>
            <a:r>
              <a:rPr lang="en-US" sz="1350" dirty="0">
                <a:solidFill>
                  <a:srgbClr val="D9F201"/>
                </a:solidFill>
                <a:latin typeface="Courier New" pitchFamily="34" charset="0"/>
                <a:ea typeface="Courier New" pitchFamily="34" charset="-122"/>
                <a:cs typeface="Courier New" pitchFamily="34" charset="-120"/>
              </a:rPr>
              <a:t>new</a:t>
            </a:r>
            <a:r>
              <a:rPr lang="en-US" sz="1350" dirty="0">
                <a:solidFill>
                  <a:srgbClr val="FFFFFF"/>
                </a:solidFill>
                <a:latin typeface="Courier New" pitchFamily="34" charset="0"/>
                <a:ea typeface="Courier New" pitchFamily="34" charset="-122"/>
                <a:cs typeface="Courier New" pitchFamily="34" charset="-120"/>
              </a:rPr>
              <a:t> </a:t>
            </a:r>
            <a:r>
              <a:rPr lang="en-US" sz="1350" dirty="0">
                <a:solidFill>
                  <a:srgbClr val="35E0C8"/>
                </a:solidFill>
                <a:latin typeface="Courier New" pitchFamily="34" charset="0"/>
                <a:ea typeface="Courier New" pitchFamily="34" charset="-122"/>
                <a:cs typeface="Courier New" pitchFamily="34" charset="-120"/>
              </a:rPr>
              <a:t>SemaphoreSlim</a:t>
            </a:r>
            <a:r>
              <a:rPr lang="en-US" sz="1350" dirty="0">
                <a:solidFill>
                  <a:srgbClr val="FFFFFF"/>
                </a:solidFill>
                <a:latin typeface="Courier New" pitchFamily="34" charset="0"/>
                <a:ea typeface="Courier New" pitchFamily="34" charset="-122"/>
                <a:cs typeface="Courier New" pitchFamily="34" charset="-120"/>
              </a:rPr>
              <a:t>(</a:t>
            </a:r>
            <a:r>
              <a:rPr lang="en-US" sz="1350" dirty="0">
                <a:solidFill>
                  <a:srgbClr val="35E0C8"/>
                </a:solidFill>
                <a:latin typeface="Courier New" pitchFamily="34" charset="0"/>
                <a:ea typeface="Courier New" pitchFamily="34" charset="-122"/>
                <a:cs typeface="Courier New" pitchFamily="34" charset="-120"/>
              </a:rPr>
              <a:t>3</a:t>
            </a:r>
            <a:r>
              <a:rPr lang="en-US" sz="1350" dirty="0">
                <a:solidFill>
                  <a:srgbClr val="FFFFFF"/>
                </a:solidFill>
                <a:latin typeface="Courier New" pitchFamily="34" charset="0"/>
                <a:ea typeface="Courier New" pitchFamily="34" charset="-122"/>
                <a:cs typeface="Courier New" pitchFamily="34" charset="-120"/>
              </a:rPr>
              <a:t>);</a:t>
            </a:r>
            <a:endParaRPr lang="en-US" sz="1350" dirty="0"/>
          </a:p>
          <a:p>
            <a:pPr marL="0" indent="0">
              <a:lnSpc>
                <a:spcPts val="1800"/>
              </a:lnSpc>
              <a:buNone/>
            </a:pP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gate.</a:t>
            </a:r>
            <a:r>
              <a:rPr lang="en-US" sz="1350" dirty="0">
                <a:solidFill>
                  <a:srgbClr val="35E0C8"/>
                </a:solidFill>
                <a:latin typeface="Courier New" pitchFamily="34" charset="0"/>
                <a:ea typeface="Courier New" pitchFamily="34" charset="-122"/>
                <a:cs typeface="Courier New" pitchFamily="34" charset="-120"/>
              </a:rPr>
              <a:t>Wait</a:t>
            </a:r>
            <a:r>
              <a:rPr lang="en-US" sz="1350" dirty="0">
                <a:solidFill>
                  <a:srgbClr val="FFFFFF"/>
                </a:solidFill>
                <a:latin typeface="Courier New" pitchFamily="34" charset="0"/>
                <a:ea typeface="Courier New" pitchFamily="34" charset="-122"/>
                <a:cs typeface="Courier New" pitchFamily="34" charset="-120"/>
              </a:rPr>
              <a:t>();          </a:t>
            </a:r>
            <a:r>
              <a:rPr lang="en-US" sz="1350" dirty="0">
                <a:solidFill>
                  <a:srgbClr val="5E6357"/>
                </a:solidFill>
                <a:latin typeface="Courier New" pitchFamily="34" charset="0"/>
                <a:ea typeface="Courier New" pitchFamily="34" charset="-122"/>
                <a:cs typeface="Courier New" pitchFamily="34" charset="-120"/>
              </a:rPr>
              <a:t>// take a ticket, or queue for one</a:t>
            </a:r>
            <a:endParaRPr lang="en-US" sz="1350" dirty="0"/>
          </a:p>
          <a:p>
            <a:pPr marL="0" indent="0">
              <a:lnSpc>
                <a:spcPts val="1800"/>
              </a:lnSpc>
              <a:buNone/>
            </a:pPr>
            <a:r>
              <a:rPr lang="en-US" sz="1350" dirty="0">
                <a:solidFill>
                  <a:srgbClr val="D9F201"/>
                </a:solidFill>
                <a:latin typeface="Courier New" pitchFamily="34" charset="0"/>
                <a:ea typeface="Courier New" pitchFamily="34" charset="-122"/>
                <a:cs typeface="Courier New" pitchFamily="34" charset="-120"/>
              </a:rPr>
              <a:t>try</a:t>
            </a:r>
            <a:r>
              <a:rPr lang="en-US" sz="1350" dirty="0">
                <a:solidFill>
                  <a:srgbClr val="FFFFFF"/>
                </a:solidFill>
                <a:latin typeface="Courier New" pitchFamily="34" charset="0"/>
                <a:ea typeface="Courier New" pitchFamily="34" charset="-122"/>
                <a:cs typeface="Courier New" pitchFamily="34" charset="-120"/>
              </a:rPr>
              <a:t> { DoWork(); }</a:t>
            </a:r>
            <a:endParaRPr lang="en-US" sz="1350" dirty="0"/>
          </a:p>
          <a:p>
            <a:pPr marL="0" indent="0">
              <a:lnSpc>
                <a:spcPts val="1800"/>
              </a:lnSpc>
              <a:buNone/>
            </a:pPr>
            <a:r>
              <a:rPr lang="en-US" sz="1350" dirty="0">
                <a:solidFill>
                  <a:srgbClr val="D9F201"/>
                </a:solidFill>
                <a:latin typeface="Courier New" pitchFamily="34" charset="0"/>
                <a:ea typeface="Courier New" pitchFamily="34" charset="-122"/>
                <a:cs typeface="Courier New" pitchFamily="34" charset="-120"/>
              </a:rPr>
              <a:t>finally</a:t>
            </a:r>
            <a:r>
              <a:rPr lang="en-US" sz="1350" dirty="0">
                <a:solidFill>
                  <a:srgbClr val="FFFFFF"/>
                </a:solidFill>
                <a:latin typeface="Courier New" pitchFamily="34" charset="0"/>
                <a:ea typeface="Courier New" pitchFamily="34" charset="-122"/>
                <a:cs typeface="Courier New" pitchFamily="34" charset="-120"/>
              </a:rPr>
              <a:t> { gate.</a:t>
            </a:r>
            <a:r>
              <a:rPr lang="en-US" sz="1350" dirty="0">
                <a:solidFill>
                  <a:srgbClr val="35E0C8"/>
                </a:solidFill>
                <a:latin typeface="Courier New" pitchFamily="34" charset="0"/>
                <a:ea typeface="Courier New" pitchFamily="34" charset="-122"/>
                <a:cs typeface="Courier New" pitchFamily="34" charset="-120"/>
              </a:rPr>
              <a:t>Release</a:t>
            </a:r>
            <a:r>
              <a:rPr lang="en-US" sz="1350" dirty="0">
                <a:solidFill>
                  <a:srgbClr val="FFFFFF"/>
                </a:solidFill>
                <a:latin typeface="Courier New" pitchFamily="34" charset="0"/>
                <a:ea typeface="Courier New" pitchFamily="34" charset="-122"/>
                <a:cs typeface="Courier New" pitchFamily="34" charset="-120"/>
              </a:rPr>
              <a:t>(); }   </a:t>
            </a:r>
            <a:r>
              <a:rPr lang="en-US" sz="1350" dirty="0">
                <a:solidFill>
                  <a:srgbClr val="5E6357"/>
                </a:solidFill>
                <a:latin typeface="Courier New" pitchFamily="34" charset="0"/>
                <a:ea typeface="Courier New" pitchFamily="34" charset="-122"/>
                <a:cs typeface="Courier New" pitchFamily="34" charset="-120"/>
              </a:rPr>
              <a:t>// ALWAYS release in finally</a:t>
            </a:r>
            <a:endParaRPr lang="en-US" sz="1350" dirty="0"/>
          </a:p>
          <a:p>
            <a:pPr marL="0" indent="0">
              <a:lnSpc>
                <a:spcPts val="1800"/>
              </a:lnSpc>
              <a:buNone/>
            </a:pPr>
            <a:endParaRPr lang="en-US" sz="1350" dirty="0"/>
          </a:p>
          <a:p>
            <a:pPr marL="0" indent="0">
              <a:lnSpc>
                <a:spcPts val="1800"/>
              </a:lnSpc>
              <a:buNone/>
            </a:pPr>
            <a:r>
              <a:rPr lang="en-US" sz="1350" dirty="0">
                <a:solidFill>
                  <a:srgbClr val="5E6357"/>
                </a:solidFill>
                <a:latin typeface="Courier New" pitchFamily="34" charset="0"/>
                <a:ea typeface="Courier New" pitchFamily="34" charset="-122"/>
                <a:cs typeface="Courier New" pitchFamily="34" charset="-120"/>
              </a:rPr>
              <a:t>// this is how you cap concurrent downloads, connections,</a:t>
            </a:r>
            <a:endParaRPr lang="en-US" sz="1350" dirty="0"/>
          </a:p>
          <a:p>
            <a:pPr marL="0" indent="0">
              <a:lnSpc>
                <a:spcPts val="1800"/>
              </a:lnSpc>
              <a:buNone/>
            </a:pPr>
            <a:r>
              <a:rPr lang="en-US" sz="1350" dirty="0">
                <a:solidFill>
                  <a:srgbClr val="5E6357"/>
                </a:solidFill>
                <a:latin typeface="Courier New" pitchFamily="34" charset="0"/>
                <a:ea typeface="Courier New" pitchFamily="34" charset="-122"/>
                <a:cs typeface="Courier New" pitchFamily="34" charset="-120"/>
              </a:rPr>
              <a:t>// or database calls. You will use it in lecture 3.</a:t>
            </a:r>
            <a:endParaRPr lang="en-US" sz="1350" dirty="0"/>
          </a:p>
        </p:txBody>
      </p:sp>
      <p:sp>
        <p:nvSpPr>
          <p:cNvPr id="18" name="Text 15"/>
          <p:cNvSpPr txBox="1"/>
          <p:nvPr/>
        </p:nvSpPr>
        <p:spPr>
          <a:xfrm>
            <a:off x="566928" y="4261104"/>
            <a:ext cx="8010144" cy="274320"/>
          </a:xfrm>
          <a:prstGeom prst="rect">
            <a:avLst/>
          </a:prstGeom>
          <a:noFill/>
          <a:ln/>
        </p:spPr>
        <p:txBody>
          <a:bodyPr wrap="square" lIns="0" tIns="0" rIns="0" bIns="0" rtlCol="0" anchor="ctr"/>
          <a:lstStyle/>
          <a:p>
            <a:pPr marL="0" indent="0">
              <a:buNone/>
            </a:pPr>
            <a:r>
              <a:rPr lang="en-US" sz="1300" i="1" dirty="0">
                <a:solidFill>
                  <a:srgbClr val="D9F201"/>
                </a:solidFill>
                <a:latin typeface="Arial" pitchFamily="34" charset="0"/>
                <a:ea typeface="Arial" pitchFamily="34" charset="-122"/>
                <a:cs typeface="Arial" pitchFamily="34" charset="-120"/>
              </a:rPr>
              <a:t>A semaphore with a count of 1 behaves like a lock — which is true, and confusing. Do not start there.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Barrier diagram" descr="L2-09-barrier.png"/>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BARRIER</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Waiting for everyone</a:t>
            </a:r>
            <a:endParaRPr lang="en-US" sz="3200" dirty="0"/>
          </a:p>
        </p:txBody>
      </p:sp>
      <p:sp>
        <p:nvSpPr>
          <p:cNvPr id="16" name="Shape 13"/>
          <p:cNvSpPr/>
          <p:nvPr/>
        </p:nvSpPr>
        <p:spPr>
          <a:xfrm>
            <a:off x="566928" y="1444752"/>
            <a:ext cx="8010144" cy="2651760"/>
          </a:xfrm>
          <a:prstGeom prst="roundRect">
            <a:avLst>
              <a:gd name="adj" fmla="val 1724"/>
            </a:avLst>
          </a:prstGeom>
          <a:solidFill>
            <a:srgbClr val="141613"/>
          </a:solidFill>
          <a:ln w="12700">
            <a:solidFill>
              <a:srgbClr val="1F231B"/>
            </a:solidFill>
            <a:prstDash val="solid"/>
          </a:ln>
        </p:spPr>
        <p:txBody>
          <a:bodyPr/>
          <a:lstStyle/>
          <a:p>
            <a:endParaRPr/>
          </a:p>
        </p:txBody>
      </p:sp>
      <p:sp>
        <p:nvSpPr>
          <p:cNvPr id="17" name="Text 14"/>
          <p:cNvSpPr txBox="1"/>
          <p:nvPr/>
        </p:nvSpPr>
        <p:spPr>
          <a:xfrm>
            <a:off x="822960" y="1627632"/>
            <a:ext cx="7498080" cy="2331720"/>
          </a:xfrm>
          <a:prstGeom prst="rect">
            <a:avLst/>
          </a:prstGeom>
          <a:noFill/>
          <a:ln/>
        </p:spPr>
        <p:txBody>
          <a:bodyPr wrap="square" lIns="0" tIns="0" rIns="0" bIns="0" rtlCol="0" anchor="t"/>
          <a:lstStyle/>
          <a:p>
            <a:pPr marL="0" indent="0">
              <a:lnSpc>
                <a:spcPts val="1800"/>
              </a:lnSpc>
              <a:buNone/>
            </a:pPr>
            <a:r>
              <a:rPr lang="en-US" sz="1350" dirty="0">
                <a:solidFill>
                  <a:srgbClr val="5E6357"/>
                </a:solidFill>
                <a:latin typeface="Courier New" pitchFamily="34" charset="0"/>
                <a:ea typeface="Courier New" pitchFamily="34" charset="-122"/>
                <a:cs typeface="Courier New" pitchFamily="34" charset="-120"/>
              </a:rPr>
              <a:t>// 4 workers; the action runs once, after all 4 have arrived</a:t>
            </a:r>
            <a:endParaRPr lang="en-US" sz="1350" dirty="0"/>
          </a:p>
          <a:p>
            <a:pPr marL="0" indent="0">
              <a:lnSpc>
                <a:spcPts val="1800"/>
              </a:lnSpc>
              <a:buNone/>
            </a:pPr>
            <a:r>
              <a:rPr lang="en-US" sz="1350" dirty="0">
                <a:solidFill>
                  <a:srgbClr val="35E0C8"/>
                </a:solidFill>
                <a:latin typeface="Courier New" pitchFamily="34" charset="0"/>
                <a:ea typeface="Courier New" pitchFamily="34" charset="-122"/>
                <a:cs typeface="Courier New" pitchFamily="34" charset="-120"/>
              </a:rPr>
              <a:t>Barrier</a:t>
            </a:r>
            <a:r>
              <a:rPr lang="en-US" sz="1350" dirty="0">
                <a:solidFill>
                  <a:srgbClr val="FFFFFF"/>
                </a:solidFill>
                <a:latin typeface="Courier New" pitchFamily="34" charset="0"/>
                <a:ea typeface="Courier New" pitchFamily="34" charset="-122"/>
                <a:cs typeface="Courier New" pitchFamily="34" charset="-120"/>
              </a:rPr>
              <a:t> barrier = </a:t>
            </a:r>
            <a:r>
              <a:rPr lang="en-US" sz="1350" dirty="0">
                <a:solidFill>
                  <a:srgbClr val="D9F201"/>
                </a:solidFill>
                <a:latin typeface="Courier New" pitchFamily="34" charset="0"/>
                <a:ea typeface="Courier New" pitchFamily="34" charset="-122"/>
                <a:cs typeface="Courier New" pitchFamily="34" charset="-120"/>
              </a:rPr>
              <a:t>new</a:t>
            </a:r>
            <a:r>
              <a:rPr lang="en-US" sz="1350" dirty="0">
                <a:solidFill>
                  <a:srgbClr val="FFFFFF"/>
                </a:solidFill>
                <a:latin typeface="Courier New" pitchFamily="34" charset="0"/>
                <a:ea typeface="Courier New" pitchFamily="34" charset="-122"/>
                <a:cs typeface="Courier New" pitchFamily="34" charset="-120"/>
              </a:rPr>
              <a:t> </a:t>
            </a:r>
            <a:r>
              <a:rPr lang="en-US" sz="1350" dirty="0">
                <a:solidFill>
                  <a:srgbClr val="35E0C8"/>
                </a:solidFill>
                <a:latin typeface="Courier New" pitchFamily="34" charset="0"/>
                <a:ea typeface="Courier New" pitchFamily="34" charset="-122"/>
                <a:cs typeface="Courier New" pitchFamily="34" charset="-120"/>
              </a:rPr>
              <a:t>Barrier</a:t>
            </a:r>
            <a:r>
              <a:rPr lang="en-US" sz="1350" dirty="0">
                <a:solidFill>
                  <a:srgbClr val="FFFFFF"/>
                </a:solidFill>
                <a:latin typeface="Courier New" pitchFamily="34" charset="0"/>
                <a:ea typeface="Courier New" pitchFamily="34" charset="-122"/>
                <a:cs typeface="Courier New" pitchFamily="34" charset="-120"/>
              </a:rPr>
              <a:t>(4, b =&gt;</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    </a:t>
            </a:r>
            <a:r>
              <a:rPr lang="en-US" sz="1350" dirty="0">
                <a:solidFill>
                  <a:srgbClr val="35E0C8"/>
                </a:solidFill>
                <a:latin typeface="Courier New" pitchFamily="34" charset="0"/>
                <a:ea typeface="Courier New" pitchFamily="34" charset="-122"/>
                <a:cs typeface="Courier New" pitchFamily="34" charset="-120"/>
              </a:rPr>
              <a:t>Console</a:t>
            </a:r>
            <a:r>
              <a:rPr lang="en-US" sz="1350" dirty="0">
                <a:solidFill>
                  <a:srgbClr val="FFFFFF"/>
                </a:solidFill>
                <a:latin typeface="Courier New" pitchFamily="34" charset="0"/>
                <a:ea typeface="Courier New" pitchFamily="34" charset="-122"/>
                <a:cs typeface="Courier New" pitchFamily="34" charset="-120"/>
              </a:rPr>
              <a:t>.WriteLine($"phase {b.CurrentPhaseNumber + 1} done"));</a:t>
            </a:r>
            <a:endParaRPr lang="en-US" sz="1350" dirty="0"/>
          </a:p>
          <a:p>
            <a:pPr marL="0" indent="0">
              <a:lnSpc>
                <a:spcPts val="1800"/>
              </a:lnSpc>
              <a:buNone/>
            </a:pPr>
            <a:endParaRPr lang="en-US" sz="1350" dirty="0"/>
          </a:p>
          <a:p>
            <a:pPr marL="0" indent="0">
              <a:lnSpc>
                <a:spcPts val="1800"/>
              </a:lnSpc>
              <a:buNone/>
            </a:pPr>
            <a:r>
              <a:rPr lang="en-US" sz="1350" dirty="0">
                <a:solidFill>
                  <a:srgbClr val="5E6357"/>
                </a:solidFill>
                <a:latin typeface="Courier New" pitchFamily="34" charset="0"/>
                <a:ea typeface="Courier New" pitchFamily="34" charset="-122"/>
                <a:cs typeface="Courier New" pitchFamily="34" charset="-120"/>
              </a:rPr>
              <a:t>// every worker runs this</a:t>
            </a:r>
            <a:endParaRPr lang="en-US" sz="1350" dirty="0"/>
          </a:p>
          <a:p>
            <a:pPr marL="0" indent="0">
              <a:lnSpc>
                <a:spcPts val="1800"/>
              </a:lnSpc>
              <a:buNone/>
            </a:pPr>
            <a:r>
              <a:rPr lang="en-US" sz="1350" dirty="0">
                <a:solidFill>
                  <a:srgbClr val="D9F201"/>
                </a:solidFill>
                <a:latin typeface="Courier New" pitchFamily="34" charset="0"/>
                <a:ea typeface="Courier New" pitchFamily="34" charset="-122"/>
                <a:cs typeface="Courier New" pitchFamily="34" charset="-120"/>
              </a:rPr>
              <a:t>for</a:t>
            </a:r>
            <a:r>
              <a:rPr lang="en-US" sz="1350" dirty="0">
                <a:solidFill>
                  <a:srgbClr val="FFFFFF"/>
                </a:solidFill>
                <a:latin typeface="Courier New" pitchFamily="34" charset="0"/>
                <a:ea typeface="Courier New" pitchFamily="34" charset="-122"/>
                <a:cs typeface="Courier New" pitchFamily="34" charset="-120"/>
              </a:rPr>
              <a:t> (</a:t>
            </a:r>
            <a:r>
              <a:rPr lang="en-US" sz="1350" dirty="0">
                <a:solidFill>
                  <a:srgbClr val="D9F201"/>
                </a:solidFill>
                <a:latin typeface="Courier New" pitchFamily="34" charset="0"/>
                <a:ea typeface="Courier New" pitchFamily="34" charset="-122"/>
                <a:cs typeface="Courier New" pitchFamily="34" charset="-120"/>
              </a:rPr>
              <a:t>int</a:t>
            </a:r>
            <a:r>
              <a:rPr lang="en-US" sz="1350" dirty="0">
                <a:solidFill>
                  <a:srgbClr val="FFFFFF"/>
                </a:solidFill>
                <a:latin typeface="Courier New" pitchFamily="34" charset="0"/>
                <a:ea typeface="Courier New" pitchFamily="34" charset="-122"/>
                <a:cs typeface="Courier New" pitchFamily="34" charset="-120"/>
              </a:rPr>
              <a:t> phase = 1; phase &lt;= 3; phase++)</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    DoWork(phase);             </a:t>
            </a:r>
            <a:r>
              <a:rPr lang="en-US" sz="1350" dirty="0">
                <a:solidFill>
                  <a:srgbClr val="5E6357"/>
                </a:solidFill>
                <a:latin typeface="Courier New" pitchFamily="34" charset="0"/>
                <a:ea typeface="Courier New" pitchFamily="34" charset="-122"/>
                <a:cs typeface="Courier New" pitchFamily="34" charset="-120"/>
              </a:rPr>
              <a:t>// each worker takes a different time</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    barrier.</a:t>
            </a:r>
            <a:r>
              <a:rPr lang="en-US" sz="1350" dirty="0">
                <a:solidFill>
                  <a:srgbClr val="35E0C8"/>
                </a:solidFill>
                <a:latin typeface="Courier New" pitchFamily="34" charset="0"/>
                <a:ea typeface="Courier New" pitchFamily="34" charset="-122"/>
                <a:cs typeface="Courier New" pitchFamily="34" charset="-120"/>
              </a:rPr>
              <a:t>SignalAndWait</a:t>
            </a:r>
            <a:r>
              <a:rPr lang="en-US" sz="1350" dirty="0">
                <a:solidFill>
                  <a:srgbClr val="FFFFFF"/>
                </a:solidFill>
                <a:latin typeface="Courier New" pitchFamily="34" charset="0"/>
                <a:ea typeface="Courier New" pitchFamily="34" charset="-122"/>
                <a:cs typeface="Courier New" pitchFamily="34" charset="-120"/>
              </a:rPr>
              <a:t>();   </a:t>
            </a:r>
            <a:r>
              <a:rPr lang="en-US" sz="1350" dirty="0">
                <a:solidFill>
                  <a:srgbClr val="5E6357"/>
                </a:solidFill>
                <a:latin typeface="Courier New" pitchFamily="34" charset="0"/>
                <a:ea typeface="Courier New" pitchFamily="34" charset="-122"/>
                <a:cs typeface="Courier New" pitchFamily="34" charset="-120"/>
              </a:rPr>
              <a:t>// done, wait for the other three</a:t>
            </a:r>
            <a:endParaRPr lang="en-US" sz="1350" dirty="0"/>
          </a:p>
          <a:p>
            <a:pPr marL="0" indent="0">
              <a:lnSpc>
                <a:spcPts val="1800"/>
              </a:lnSpc>
              <a:buNone/>
            </a:pPr>
            <a:r>
              <a:rPr lang="en-US" sz="1350" dirty="0">
                <a:solidFill>
                  <a:srgbClr val="FFFFFF"/>
                </a:solidFill>
                <a:latin typeface="Courier New" pitchFamily="34" charset="0"/>
                <a:ea typeface="Courier New" pitchFamily="34" charset="-122"/>
                <a:cs typeface="Courier New" pitchFamily="34" charset="-120"/>
              </a:rPr>
              <a:t>}</a:t>
            </a:r>
            <a:endParaRPr lang="en-US" sz="1350" dirty="0"/>
          </a:p>
        </p:txBody>
      </p:sp>
      <p:sp>
        <p:nvSpPr>
          <p:cNvPr id="18" name="Text 15"/>
          <p:cNvSpPr txBox="1"/>
          <p:nvPr/>
        </p:nvSpPr>
        <p:spPr>
          <a:xfrm>
            <a:off x="566928" y="4261104"/>
            <a:ext cx="8010144" cy="274320"/>
          </a:xfrm>
          <a:prstGeom prst="rect">
            <a:avLst/>
          </a:prstGeom>
          <a:noFill/>
          <a:ln/>
        </p:spPr>
        <p:txBody>
          <a:bodyPr wrap="square" lIns="0" tIns="0" rIns="0" bIns="0" rtlCol="0" anchor="ctr"/>
          <a:lstStyle/>
          <a:p>
            <a:pPr marL="0" indent="0">
              <a:buNone/>
            </a:pPr>
            <a:r>
              <a:rPr lang="en-US" sz="1300" i="1" dirty="0">
                <a:solidFill>
                  <a:srgbClr val="D9F201"/>
                </a:solidFill>
                <a:latin typeface="Arial" pitchFamily="34" charset="0"/>
                <a:ea typeface="Arial" pitchFamily="34" charset="-122"/>
                <a:cs typeface="Arial" pitchFamily="34" charset="-120"/>
              </a:rPr>
              <a:t>The same loop runs on every worker. Nobody starts phase 2 until all four have finished phase 1.</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8366760" y="502920"/>
            <a:ext cx="50292" cy="50292"/>
          </a:xfrm>
          <a:prstGeom prst="ellipse">
            <a:avLst/>
          </a:prstGeom>
          <a:solidFill>
            <a:srgbClr val="D9F201"/>
          </a:solidFill>
          <a:ln w="12700">
            <a:solidFill>
              <a:srgbClr val="D9F201"/>
            </a:solidFill>
            <a:prstDash val="solid"/>
          </a:ln>
        </p:spPr>
        <p:txBody>
          <a:bodyPr/>
          <a:lstStyle/>
          <a:p>
            <a:endParaRPr/>
          </a:p>
        </p:txBody>
      </p:sp>
      <p:sp>
        <p:nvSpPr>
          <p:cNvPr id="4" name="Shape 1"/>
          <p:cNvSpPr/>
          <p:nvPr/>
        </p:nvSpPr>
        <p:spPr>
          <a:xfrm>
            <a:off x="8499348" y="502920"/>
            <a:ext cx="50292" cy="50292"/>
          </a:xfrm>
          <a:prstGeom prst="ellipse">
            <a:avLst/>
          </a:prstGeom>
          <a:solidFill>
            <a:srgbClr val="D9F201"/>
          </a:solidFill>
          <a:ln w="12700">
            <a:solidFill>
              <a:srgbClr val="D9F201"/>
            </a:solidFill>
            <a:prstDash val="solid"/>
          </a:ln>
        </p:spPr>
        <p:txBody>
          <a:bodyPr/>
          <a:lstStyle/>
          <a:p>
            <a:endParaRPr/>
          </a:p>
        </p:txBody>
      </p:sp>
      <p:sp>
        <p:nvSpPr>
          <p:cNvPr id="5" name="Shape 2"/>
          <p:cNvSpPr/>
          <p:nvPr/>
        </p:nvSpPr>
        <p:spPr>
          <a:xfrm>
            <a:off x="8631936" y="502920"/>
            <a:ext cx="50292" cy="50292"/>
          </a:xfrm>
          <a:prstGeom prst="ellipse">
            <a:avLst/>
          </a:prstGeom>
          <a:solidFill>
            <a:srgbClr val="D9F201"/>
          </a:solidFill>
          <a:ln w="12700">
            <a:solidFill>
              <a:srgbClr val="D9F201"/>
            </a:solidFill>
            <a:prstDash val="solid"/>
          </a:ln>
        </p:spPr>
        <p:txBody>
          <a:bodyPr/>
          <a:lstStyle/>
          <a:p>
            <a:endParaRPr/>
          </a:p>
        </p:txBody>
      </p:sp>
      <p:sp>
        <p:nvSpPr>
          <p:cNvPr id="6" name="Shape 3"/>
          <p:cNvSpPr/>
          <p:nvPr/>
        </p:nvSpPr>
        <p:spPr>
          <a:xfrm>
            <a:off x="8366760" y="635508"/>
            <a:ext cx="50292" cy="50292"/>
          </a:xfrm>
          <a:prstGeom prst="ellipse">
            <a:avLst/>
          </a:prstGeom>
          <a:solidFill>
            <a:srgbClr val="D9F201"/>
          </a:solidFill>
          <a:ln w="12700">
            <a:solidFill>
              <a:srgbClr val="D9F201"/>
            </a:solidFill>
            <a:prstDash val="solid"/>
          </a:ln>
        </p:spPr>
        <p:txBody>
          <a:bodyPr/>
          <a:lstStyle/>
          <a:p>
            <a:endParaRPr/>
          </a:p>
        </p:txBody>
      </p:sp>
      <p:sp>
        <p:nvSpPr>
          <p:cNvPr id="7" name="Shape 4"/>
          <p:cNvSpPr/>
          <p:nvPr/>
        </p:nvSpPr>
        <p:spPr>
          <a:xfrm>
            <a:off x="8499348" y="635508"/>
            <a:ext cx="50292" cy="50292"/>
          </a:xfrm>
          <a:prstGeom prst="ellipse">
            <a:avLst/>
          </a:prstGeom>
          <a:solidFill>
            <a:srgbClr val="D9F201"/>
          </a:solidFill>
          <a:ln w="12700">
            <a:solidFill>
              <a:srgbClr val="D9F201"/>
            </a:solidFill>
            <a:prstDash val="solid"/>
          </a:ln>
        </p:spPr>
        <p:txBody>
          <a:bodyPr/>
          <a:lstStyle/>
          <a:p>
            <a:endParaRPr/>
          </a:p>
        </p:txBody>
      </p:sp>
      <p:sp>
        <p:nvSpPr>
          <p:cNvPr id="8" name="Shape 5"/>
          <p:cNvSpPr/>
          <p:nvPr/>
        </p:nvSpPr>
        <p:spPr>
          <a:xfrm>
            <a:off x="8631936" y="635508"/>
            <a:ext cx="50292" cy="50292"/>
          </a:xfrm>
          <a:prstGeom prst="ellipse">
            <a:avLst/>
          </a:prstGeom>
          <a:solidFill>
            <a:srgbClr val="D9F201"/>
          </a:solidFill>
          <a:ln w="12700">
            <a:solidFill>
              <a:srgbClr val="D9F201"/>
            </a:solidFill>
            <a:prstDash val="solid"/>
          </a:ln>
        </p:spPr>
        <p:txBody>
          <a:bodyPr/>
          <a:lstStyle/>
          <a:p>
            <a:endParaRPr/>
          </a:p>
        </p:txBody>
      </p:sp>
      <p:sp>
        <p:nvSpPr>
          <p:cNvPr id="9" name="Shape 6"/>
          <p:cNvSpPr/>
          <p:nvPr/>
        </p:nvSpPr>
        <p:spPr>
          <a:xfrm>
            <a:off x="8366760" y="768096"/>
            <a:ext cx="50292" cy="50292"/>
          </a:xfrm>
          <a:prstGeom prst="ellipse">
            <a:avLst/>
          </a:prstGeom>
          <a:solidFill>
            <a:srgbClr val="D9F201"/>
          </a:solidFill>
          <a:ln w="12700">
            <a:solidFill>
              <a:srgbClr val="D9F201"/>
            </a:solidFill>
            <a:prstDash val="solid"/>
          </a:ln>
        </p:spPr>
        <p:txBody>
          <a:bodyPr/>
          <a:lstStyle/>
          <a:p>
            <a:endParaRPr/>
          </a:p>
        </p:txBody>
      </p:sp>
      <p:sp>
        <p:nvSpPr>
          <p:cNvPr id="10" name="Shape 7"/>
          <p:cNvSpPr/>
          <p:nvPr/>
        </p:nvSpPr>
        <p:spPr>
          <a:xfrm>
            <a:off x="8499348" y="768096"/>
            <a:ext cx="50292" cy="50292"/>
          </a:xfrm>
          <a:prstGeom prst="ellipse">
            <a:avLst/>
          </a:prstGeom>
          <a:solidFill>
            <a:srgbClr val="D9F201"/>
          </a:solidFill>
          <a:ln w="12700">
            <a:solidFill>
              <a:srgbClr val="D9F201"/>
            </a:solidFill>
            <a:prstDash val="solid"/>
          </a:ln>
        </p:spPr>
        <p:txBody>
          <a:bodyPr/>
          <a:lstStyle/>
          <a:p>
            <a:endParaRPr/>
          </a:p>
        </p:txBody>
      </p:sp>
      <p:sp>
        <p:nvSpPr>
          <p:cNvPr id="11" name="Shape 8"/>
          <p:cNvSpPr/>
          <p:nvPr/>
        </p:nvSpPr>
        <p:spPr>
          <a:xfrm>
            <a:off x="8631936" y="768096"/>
            <a:ext cx="50292" cy="50292"/>
          </a:xfrm>
          <a:prstGeom prst="ellipse">
            <a:avLst/>
          </a:prstGeom>
          <a:solidFill>
            <a:srgbClr val="D9F201"/>
          </a:solidFill>
          <a:ln w="12700">
            <a:solidFill>
              <a:srgbClr val="D9F201"/>
            </a:solidFill>
            <a:prstDash val="solid"/>
          </a:ln>
        </p:spPr>
        <p:txBody>
          <a:bodyPr/>
          <a:lstStyle/>
          <a:p>
            <a:endParaRPr/>
          </a:p>
        </p:txBody>
      </p:sp>
      <p:sp>
        <p:nvSpPr>
          <p:cNvPr id="12" name="Text 9"/>
          <p:cNvSpPr txBox="1"/>
          <p:nvPr/>
        </p:nvSpPr>
        <p:spPr>
          <a:xfrm>
            <a:off x="566928" y="4759452"/>
            <a:ext cx="4114800" cy="228600"/>
          </a:xfrm>
          <a:prstGeom prst="rect">
            <a:avLst/>
          </a:prstGeom>
          <a:noFill/>
          <a:ln/>
        </p:spPr>
        <p:txBody>
          <a:bodyPr wrap="square" lIns="0" tIns="0" rIns="0" bIns="0" rtlCol="0" anchor="ctr"/>
          <a:lstStyle/>
          <a:p>
            <a:pPr marL="0" indent="0">
              <a:buNone/>
            </a:pPr>
            <a:r>
              <a:rPr lang="en-US" sz="900" dirty="0">
                <a:solidFill>
                  <a:srgbClr val="5E6357"/>
                </a:solidFill>
                <a:latin typeface="Arial" pitchFamily="34" charset="0"/>
                <a:ea typeface="Arial" pitchFamily="34" charset="-122"/>
                <a:cs typeface="Arial" pitchFamily="34" charset="-120"/>
              </a:rPr>
              <a:t>Network Programming · Lecture 2</a:t>
            </a:r>
            <a:endParaRPr lang="en-US" sz="900" dirty="0"/>
          </a:p>
        </p:txBody>
      </p:sp>
      <p:sp>
        <p:nvSpPr>
          <p:cNvPr id="14" name="Text 11"/>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RECAP</a:t>
            </a:r>
            <a:endParaRPr lang="en-US" sz="1050" dirty="0"/>
          </a:p>
        </p:txBody>
      </p:sp>
      <p:sp>
        <p:nvSpPr>
          <p:cNvPr id="15" name="Text 12"/>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Takeaways</a:t>
            </a:r>
            <a:endParaRPr lang="en-US" sz="3200" dirty="0"/>
          </a:p>
        </p:txBody>
      </p:sp>
      <p:sp>
        <p:nvSpPr>
          <p:cNvPr id="16" name="Text 13"/>
          <p:cNvSpPr txBox="1"/>
          <p:nvPr/>
        </p:nvSpPr>
        <p:spPr>
          <a:xfrm>
            <a:off x="566928" y="1481328"/>
            <a:ext cx="566928" cy="365760"/>
          </a:xfrm>
          <a:prstGeom prst="rect">
            <a:avLst/>
          </a:prstGeom>
          <a:noFill/>
          <a:ln/>
        </p:spPr>
        <p:txBody>
          <a:bodyPr wrap="square" lIns="0" tIns="0" rIns="0" bIns="0" rtlCol="0" anchor="ctr"/>
          <a:lstStyle/>
          <a:p>
            <a:pPr marL="0" indent="0">
              <a:buNone/>
            </a:pPr>
            <a:r>
              <a:rPr lang="en-US" sz="1800" b="1" dirty="0">
                <a:solidFill>
                  <a:srgbClr val="D9F201"/>
                </a:solidFill>
                <a:latin typeface="Arial" pitchFamily="34" charset="0"/>
                <a:ea typeface="Arial" pitchFamily="34" charset="-122"/>
                <a:cs typeface="Arial" pitchFamily="34" charset="-120"/>
              </a:rPr>
              <a:t>01</a:t>
            </a:r>
            <a:endParaRPr lang="en-US" sz="1800" dirty="0"/>
          </a:p>
        </p:txBody>
      </p:sp>
      <p:sp>
        <p:nvSpPr>
          <p:cNvPr id="17" name="Text 14"/>
          <p:cNvSpPr txBox="1"/>
          <p:nvPr/>
        </p:nvSpPr>
        <p:spPr>
          <a:xfrm>
            <a:off x="1188720" y="1463040"/>
            <a:ext cx="7040880" cy="457200"/>
          </a:xfrm>
          <a:prstGeom prst="rect">
            <a:avLst/>
          </a:prstGeom>
          <a:noFill/>
          <a:ln/>
        </p:spPr>
        <p:txBody>
          <a:bodyPr wrap="square" lIns="0" tIns="0" rIns="0" bIns="0" rtlCol="0" anchor="ctr"/>
          <a:lstStyle/>
          <a:p>
            <a:pPr marL="0" indent="0">
              <a:lnSpc>
                <a:spcPts val="1900"/>
              </a:lnSpc>
              <a:buNone/>
            </a:pPr>
            <a:r>
              <a:rPr lang="en-US" sz="1500" dirty="0">
                <a:solidFill>
                  <a:srgbClr val="FFFFFF"/>
                </a:solidFill>
                <a:latin typeface="Arial" pitchFamily="34" charset="0"/>
                <a:ea typeface="Arial" pitchFamily="34" charset="-122"/>
                <a:cs typeface="Arial" pitchFamily="34" charset="-120"/>
              </a:rPr>
              <a:t>A race needs shared mutable state plus more than one thread. Remove either one.</a:t>
            </a:r>
            <a:endParaRPr lang="en-US" sz="1500" dirty="0"/>
          </a:p>
        </p:txBody>
      </p:sp>
      <p:sp>
        <p:nvSpPr>
          <p:cNvPr id="18" name="Shape 15"/>
          <p:cNvSpPr/>
          <p:nvPr/>
        </p:nvSpPr>
        <p:spPr>
          <a:xfrm>
            <a:off x="566928" y="1911096"/>
            <a:ext cx="7626096" cy="10973"/>
          </a:xfrm>
          <a:prstGeom prst="rect">
            <a:avLst/>
          </a:prstGeom>
          <a:solidFill>
            <a:srgbClr val="1F231B"/>
          </a:solidFill>
          <a:ln w="12700">
            <a:solidFill>
              <a:srgbClr val="1F231B"/>
            </a:solidFill>
            <a:prstDash val="solid"/>
          </a:ln>
        </p:spPr>
        <p:txBody>
          <a:bodyPr/>
          <a:lstStyle/>
          <a:p>
            <a:endParaRPr/>
          </a:p>
        </p:txBody>
      </p:sp>
      <p:sp>
        <p:nvSpPr>
          <p:cNvPr id="19" name="Text 16"/>
          <p:cNvSpPr txBox="1"/>
          <p:nvPr/>
        </p:nvSpPr>
        <p:spPr>
          <a:xfrm>
            <a:off x="566928" y="2048256"/>
            <a:ext cx="566928" cy="365760"/>
          </a:xfrm>
          <a:prstGeom prst="rect">
            <a:avLst/>
          </a:prstGeom>
          <a:noFill/>
          <a:ln/>
        </p:spPr>
        <p:txBody>
          <a:bodyPr wrap="square" lIns="0" tIns="0" rIns="0" bIns="0" rtlCol="0" anchor="ctr"/>
          <a:lstStyle/>
          <a:p>
            <a:pPr marL="0" indent="0">
              <a:buNone/>
            </a:pPr>
            <a:r>
              <a:rPr lang="en-US" sz="1800" b="1" dirty="0">
                <a:solidFill>
                  <a:srgbClr val="D9F201"/>
                </a:solidFill>
                <a:latin typeface="Arial" pitchFamily="34" charset="0"/>
                <a:ea typeface="Arial" pitchFamily="34" charset="-122"/>
                <a:cs typeface="Arial" pitchFamily="34" charset="-120"/>
              </a:rPr>
              <a:t>02</a:t>
            </a:r>
            <a:endParaRPr lang="en-US" sz="1800" dirty="0"/>
          </a:p>
        </p:txBody>
      </p:sp>
      <p:sp>
        <p:nvSpPr>
          <p:cNvPr id="20" name="Text 17"/>
          <p:cNvSpPr txBox="1"/>
          <p:nvPr/>
        </p:nvSpPr>
        <p:spPr>
          <a:xfrm>
            <a:off x="1188720" y="2029968"/>
            <a:ext cx="7040880" cy="457200"/>
          </a:xfrm>
          <a:prstGeom prst="rect">
            <a:avLst/>
          </a:prstGeom>
          <a:noFill/>
          <a:ln/>
        </p:spPr>
        <p:txBody>
          <a:bodyPr wrap="square" lIns="0" tIns="0" rIns="0" bIns="0" rtlCol="0" anchor="ctr"/>
          <a:lstStyle/>
          <a:p>
            <a:pPr marL="0" indent="0">
              <a:lnSpc>
                <a:spcPts val="1900"/>
              </a:lnSpc>
              <a:buNone/>
            </a:pPr>
            <a:r>
              <a:rPr lang="en-US" sz="1500" dirty="0">
                <a:solidFill>
                  <a:srgbClr val="FFFFFF"/>
                </a:solidFill>
                <a:latin typeface="Arial" pitchFamily="34" charset="0"/>
                <a:ea typeface="Arial" pitchFamily="34" charset="-122"/>
                <a:cs typeface="Arial" pitchFamily="34" charset="-120"/>
              </a:rPr>
              <a:t>counter++ is three operations. The OS can stop you between any two.</a:t>
            </a:r>
            <a:endParaRPr lang="en-US" sz="1500" dirty="0"/>
          </a:p>
        </p:txBody>
      </p:sp>
      <p:sp>
        <p:nvSpPr>
          <p:cNvPr id="21" name="Shape 18"/>
          <p:cNvSpPr/>
          <p:nvPr/>
        </p:nvSpPr>
        <p:spPr>
          <a:xfrm>
            <a:off x="566928" y="2478024"/>
            <a:ext cx="7626096" cy="10973"/>
          </a:xfrm>
          <a:prstGeom prst="rect">
            <a:avLst/>
          </a:prstGeom>
          <a:solidFill>
            <a:srgbClr val="1F231B"/>
          </a:solidFill>
          <a:ln w="12700">
            <a:solidFill>
              <a:srgbClr val="1F231B"/>
            </a:solidFill>
            <a:prstDash val="solid"/>
          </a:ln>
        </p:spPr>
        <p:txBody>
          <a:bodyPr/>
          <a:lstStyle/>
          <a:p>
            <a:endParaRPr/>
          </a:p>
        </p:txBody>
      </p:sp>
      <p:sp>
        <p:nvSpPr>
          <p:cNvPr id="22" name="Text 19"/>
          <p:cNvSpPr txBox="1"/>
          <p:nvPr/>
        </p:nvSpPr>
        <p:spPr>
          <a:xfrm>
            <a:off x="566928" y="2615184"/>
            <a:ext cx="566928" cy="365760"/>
          </a:xfrm>
          <a:prstGeom prst="rect">
            <a:avLst/>
          </a:prstGeom>
          <a:noFill/>
          <a:ln/>
        </p:spPr>
        <p:txBody>
          <a:bodyPr wrap="square" lIns="0" tIns="0" rIns="0" bIns="0" rtlCol="0" anchor="ctr"/>
          <a:lstStyle/>
          <a:p>
            <a:pPr marL="0" indent="0">
              <a:buNone/>
            </a:pPr>
            <a:r>
              <a:rPr lang="en-US" sz="1800" b="1" dirty="0">
                <a:solidFill>
                  <a:srgbClr val="D9F201"/>
                </a:solidFill>
                <a:latin typeface="Arial" pitchFamily="34" charset="0"/>
                <a:ea typeface="Arial" pitchFamily="34" charset="-122"/>
                <a:cs typeface="Arial" pitchFamily="34" charset="-120"/>
              </a:rPr>
              <a:t>03</a:t>
            </a:r>
            <a:endParaRPr lang="en-US" sz="1800" dirty="0"/>
          </a:p>
        </p:txBody>
      </p:sp>
      <p:sp>
        <p:nvSpPr>
          <p:cNvPr id="23" name="Text 20"/>
          <p:cNvSpPr txBox="1"/>
          <p:nvPr/>
        </p:nvSpPr>
        <p:spPr>
          <a:xfrm>
            <a:off x="1188720" y="2596896"/>
            <a:ext cx="7040880" cy="457200"/>
          </a:xfrm>
          <a:prstGeom prst="rect">
            <a:avLst/>
          </a:prstGeom>
          <a:noFill/>
          <a:ln/>
        </p:spPr>
        <p:txBody>
          <a:bodyPr wrap="square" lIns="0" tIns="0" rIns="0" bIns="0" rtlCol="0" anchor="ctr"/>
          <a:lstStyle/>
          <a:p>
            <a:pPr marL="0" indent="0">
              <a:lnSpc>
                <a:spcPts val="1900"/>
              </a:lnSpc>
              <a:buNone/>
            </a:pPr>
            <a:r>
              <a:rPr lang="en-US" sz="1500" dirty="0">
                <a:solidFill>
                  <a:srgbClr val="FFFFFF"/>
                </a:solidFill>
                <a:latin typeface="Arial" pitchFamily="34" charset="0"/>
                <a:ea typeface="Arial" pitchFamily="34" charset="-122"/>
                <a:cs typeface="Arial" pitchFamily="34" charset="-120"/>
              </a:rPr>
              <a:t>You cannot test your way out of a race — the odds change, the bug does not.</a:t>
            </a:r>
            <a:endParaRPr lang="en-US" sz="1500" dirty="0"/>
          </a:p>
        </p:txBody>
      </p:sp>
      <p:sp>
        <p:nvSpPr>
          <p:cNvPr id="24" name="Shape 21"/>
          <p:cNvSpPr/>
          <p:nvPr/>
        </p:nvSpPr>
        <p:spPr>
          <a:xfrm>
            <a:off x="566928" y="3044952"/>
            <a:ext cx="7626096" cy="10973"/>
          </a:xfrm>
          <a:prstGeom prst="rect">
            <a:avLst/>
          </a:prstGeom>
          <a:solidFill>
            <a:srgbClr val="1F231B"/>
          </a:solidFill>
          <a:ln w="12700">
            <a:solidFill>
              <a:srgbClr val="1F231B"/>
            </a:solidFill>
            <a:prstDash val="solid"/>
          </a:ln>
        </p:spPr>
        <p:txBody>
          <a:bodyPr/>
          <a:lstStyle/>
          <a:p>
            <a:endParaRPr/>
          </a:p>
        </p:txBody>
      </p:sp>
      <p:sp>
        <p:nvSpPr>
          <p:cNvPr id="25" name="Text 22"/>
          <p:cNvSpPr txBox="1"/>
          <p:nvPr/>
        </p:nvSpPr>
        <p:spPr>
          <a:xfrm>
            <a:off x="566928" y="3182112"/>
            <a:ext cx="566928" cy="365760"/>
          </a:xfrm>
          <a:prstGeom prst="rect">
            <a:avLst/>
          </a:prstGeom>
          <a:noFill/>
          <a:ln/>
        </p:spPr>
        <p:txBody>
          <a:bodyPr wrap="square" lIns="0" tIns="0" rIns="0" bIns="0" rtlCol="0" anchor="ctr"/>
          <a:lstStyle/>
          <a:p>
            <a:pPr marL="0" indent="0">
              <a:buNone/>
            </a:pPr>
            <a:r>
              <a:rPr lang="en-US" sz="1800" b="1" dirty="0">
                <a:solidFill>
                  <a:srgbClr val="D9F201"/>
                </a:solidFill>
                <a:latin typeface="Arial" pitchFamily="34" charset="0"/>
                <a:ea typeface="Arial" pitchFamily="34" charset="-122"/>
                <a:cs typeface="Arial" pitchFamily="34" charset="-120"/>
              </a:rPr>
              <a:t>04</a:t>
            </a:r>
            <a:endParaRPr lang="en-US" sz="1800" dirty="0"/>
          </a:p>
        </p:txBody>
      </p:sp>
      <p:sp>
        <p:nvSpPr>
          <p:cNvPr id="26" name="Text 23"/>
          <p:cNvSpPr txBox="1"/>
          <p:nvPr/>
        </p:nvSpPr>
        <p:spPr>
          <a:xfrm>
            <a:off x="1188720" y="3163824"/>
            <a:ext cx="7040880" cy="457200"/>
          </a:xfrm>
          <a:prstGeom prst="rect">
            <a:avLst/>
          </a:prstGeom>
          <a:noFill/>
          <a:ln/>
        </p:spPr>
        <p:txBody>
          <a:bodyPr wrap="square" lIns="0" tIns="0" rIns="0" bIns="0" rtlCol="0" anchor="ctr"/>
          <a:lstStyle/>
          <a:p>
            <a:pPr marL="0" indent="0">
              <a:lnSpc>
                <a:spcPts val="1900"/>
              </a:lnSpc>
              <a:buNone/>
            </a:pPr>
            <a:r>
              <a:rPr lang="en-US" sz="1500" dirty="0">
                <a:solidFill>
                  <a:srgbClr val="FFFFFF"/>
                </a:solidFill>
                <a:latin typeface="Arial" pitchFamily="34" charset="0"/>
                <a:ea typeface="Arial" pitchFamily="34" charset="-122"/>
                <a:cs typeface="Arial" pitchFamily="34" charset="-120"/>
              </a:rPr>
              <a:t>Climb the ladder from the bottom: don't share, then immutable, then Interlocked, then lock.</a:t>
            </a:r>
            <a:endParaRPr lang="en-US" sz="1500" dirty="0"/>
          </a:p>
        </p:txBody>
      </p:sp>
      <p:sp>
        <p:nvSpPr>
          <p:cNvPr id="27" name="Shape 24"/>
          <p:cNvSpPr/>
          <p:nvPr/>
        </p:nvSpPr>
        <p:spPr>
          <a:xfrm>
            <a:off x="566928" y="3611880"/>
            <a:ext cx="7626096" cy="10973"/>
          </a:xfrm>
          <a:prstGeom prst="rect">
            <a:avLst/>
          </a:prstGeom>
          <a:solidFill>
            <a:srgbClr val="1F231B"/>
          </a:solidFill>
          <a:ln w="12700">
            <a:solidFill>
              <a:srgbClr val="1F231B"/>
            </a:solidFill>
            <a:prstDash val="solid"/>
          </a:ln>
        </p:spPr>
        <p:txBody>
          <a:bodyPr/>
          <a:lstStyle/>
          <a:p>
            <a:endParaRPr/>
          </a:p>
        </p:txBody>
      </p:sp>
      <p:sp>
        <p:nvSpPr>
          <p:cNvPr id="28" name="Text 25"/>
          <p:cNvSpPr txBox="1"/>
          <p:nvPr/>
        </p:nvSpPr>
        <p:spPr>
          <a:xfrm>
            <a:off x="566928" y="3749040"/>
            <a:ext cx="566928" cy="365760"/>
          </a:xfrm>
          <a:prstGeom prst="rect">
            <a:avLst/>
          </a:prstGeom>
          <a:noFill/>
          <a:ln/>
        </p:spPr>
        <p:txBody>
          <a:bodyPr wrap="square" lIns="0" tIns="0" rIns="0" bIns="0" rtlCol="0" anchor="ctr"/>
          <a:lstStyle/>
          <a:p>
            <a:pPr marL="0" indent="0">
              <a:buNone/>
            </a:pPr>
            <a:r>
              <a:rPr lang="en-US" sz="1800" b="1" dirty="0">
                <a:solidFill>
                  <a:srgbClr val="D9F201"/>
                </a:solidFill>
                <a:latin typeface="Arial" pitchFamily="34" charset="0"/>
                <a:ea typeface="Arial" pitchFamily="34" charset="-122"/>
                <a:cs typeface="Arial" pitchFamily="34" charset="-120"/>
              </a:rPr>
              <a:t>05</a:t>
            </a:r>
            <a:endParaRPr lang="en-US" sz="1800" dirty="0"/>
          </a:p>
        </p:txBody>
      </p:sp>
      <p:sp>
        <p:nvSpPr>
          <p:cNvPr id="29" name="Text 26"/>
          <p:cNvSpPr txBox="1"/>
          <p:nvPr/>
        </p:nvSpPr>
        <p:spPr>
          <a:xfrm>
            <a:off x="1188720" y="3730752"/>
            <a:ext cx="7040880" cy="457200"/>
          </a:xfrm>
          <a:prstGeom prst="rect">
            <a:avLst/>
          </a:prstGeom>
          <a:noFill/>
          <a:ln/>
        </p:spPr>
        <p:txBody>
          <a:bodyPr wrap="square" lIns="0" tIns="0" rIns="0" bIns="0" rtlCol="0" anchor="ctr"/>
          <a:lstStyle/>
          <a:p>
            <a:pPr marL="0" indent="0">
              <a:lnSpc>
                <a:spcPts val="1900"/>
              </a:lnSpc>
              <a:buNone/>
            </a:pPr>
            <a:r>
              <a:rPr lang="en-US" sz="1500" dirty="0">
                <a:solidFill>
                  <a:srgbClr val="FFFFFF"/>
                </a:solidFill>
                <a:latin typeface="Arial" pitchFamily="34" charset="0"/>
                <a:ea typeface="Arial" pitchFamily="34" charset="-122"/>
                <a:cs typeface="Arial" pitchFamily="34" charset="-120"/>
              </a:rPr>
              <a:t>Deadlock is a cycle. Always take locks in the same order.</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rot="2700000">
            <a:off x="-137160" y="-91440"/>
            <a:ext cx="23774" cy="502920"/>
          </a:xfrm>
          <a:prstGeom prst="rect">
            <a:avLst/>
          </a:prstGeom>
          <a:solidFill>
            <a:srgbClr val="FFFFFF"/>
          </a:solidFill>
          <a:ln w="12700">
            <a:solidFill>
              <a:srgbClr val="FFFFFF"/>
            </a:solidFill>
            <a:prstDash val="solid"/>
          </a:ln>
        </p:spPr>
        <p:txBody>
          <a:bodyPr/>
          <a:lstStyle/>
          <a:p>
            <a:endParaRPr/>
          </a:p>
        </p:txBody>
      </p:sp>
      <p:sp>
        <p:nvSpPr>
          <p:cNvPr id="4" name="Shape 1"/>
          <p:cNvSpPr/>
          <p:nvPr/>
        </p:nvSpPr>
        <p:spPr>
          <a:xfrm rot="2700000">
            <a:off x="-68580" y="-91440"/>
            <a:ext cx="23774" cy="502920"/>
          </a:xfrm>
          <a:prstGeom prst="rect">
            <a:avLst/>
          </a:prstGeom>
          <a:solidFill>
            <a:srgbClr val="FFFFFF"/>
          </a:solidFill>
          <a:ln w="12700">
            <a:solidFill>
              <a:srgbClr val="FFFFFF"/>
            </a:solidFill>
            <a:prstDash val="solid"/>
          </a:ln>
        </p:spPr>
        <p:txBody>
          <a:bodyPr/>
          <a:lstStyle/>
          <a:p>
            <a:endParaRPr/>
          </a:p>
        </p:txBody>
      </p:sp>
      <p:sp>
        <p:nvSpPr>
          <p:cNvPr id="5" name="Shape 2"/>
          <p:cNvSpPr/>
          <p:nvPr/>
        </p:nvSpPr>
        <p:spPr>
          <a:xfrm rot="2700000">
            <a:off x="0" y="-91440"/>
            <a:ext cx="23774" cy="502920"/>
          </a:xfrm>
          <a:prstGeom prst="rect">
            <a:avLst/>
          </a:prstGeom>
          <a:solidFill>
            <a:srgbClr val="FFFFFF"/>
          </a:solidFill>
          <a:ln w="12700">
            <a:solidFill>
              <a:srgbClr val="FFFFFF"/>
            </a:solidFill>
            <a:prstDash val="solid"/>
          </a:ln>
        </p:spPr>
        <p:txBody>
          <a:bodyPr/>
          <a:lstStyle/>
          <a:p>
            <a:endParaRPr/>
          </a:p>
        </p:txBody>
      </p:sp>
      <p:sp>
        <p:nvSpPr>
          <p:cNvPr id="6" name="Shape 3"/>
          <p:cNvSpPr/>
          <p:nvPr/>
        </p:nvSpPr>
        <p:spPr>
          <a:xfrm rot="2700000">
            <a:off x="68580" y="-91440"/>
            <a:ext cx="23774" cy="502920"/>
          </a:xfrm>
          <a:prstGeom prst="rect">
            <a:avLst/>
          </a:prstGeom>
          <a:solidFill>
            <a:srgbClr val="FFFFFF"/>
          </a:solidFill>
          <a:ln w="12700">
            <a:solidFill>
              <a:srgbClr val="FFFFFF"/>
            </a:solidFill>
            <a:prstDash val="solid"/>
          </a:ln>
        </p:spPr>
        <p:txBody>
          <a:bodyPr/>
          <a:lstStyle/>
          <a:p>
            <a:endParaRPr/>
          </a:p>
        </p:txBody>
      </p:sp>
      <p:sp>
        <p:nvSpPr>
          <p:cNvPr id="7" name="Shape 4"/>
          <p:cNvSpPr/>
          <p:nvPr/>
        </p:nvSpPr>
        <p:spPr>
          <a:xfrm rot="2700000">
            <a:off x="137160" y="-91440"/>
            <a:ext cx="23774" cy="502920"/>
          </a:xfrm>
          <a:prstGeom prst="rect">
            <a:avLst/>
          </a:prstGeom>
          <a:solidFill>
            <a:srgbClr val="FFFFFF"/>
          </a:solidFill>
          <a:ln w="12700">
            <a:solidFill>
              <a:srgbClr val="FFFFFF"/>
            </a:solidFill>
            <a:prstDash val="solid"/>
          </a:ln>
        </p:spPr>
        <p:txBody>
          <a:bodyPr/>
          <a:lstStyle/>
          <a:p>
            <a:endParaRPr/>
          </a:p>
        </p:txBody>
      </p:sp>
      <p:sp>
        <p:nvSpPr>
          <p:cNvPr id="8" name="Shape 5"/>
          <p:cNvSpPr/>
          <p:nvPr/>
        </p:nvSpPr>
        <p:spPr>
          <a:xfrm rot="2700000">
            <a:off x="205740" y="-91440"/>
            <a:ext cx="23774" cy="502920"/>
          </a:xfrm>
          <a:prstGeom prst="rect">
            <a:avLst/>
          </a:prstGeom>
          <a:solidFill>
            <a:srgbClr val="FFFFFF"/>
          </a:solidFill>
          <a:ln w="12700">
            <a:solidFill>
              <a:srgbClr val="FFFFFF"/>
            </a:solidFill>
            <a:prstDash val="solid"/>
          </a:ln>
        </p:spPr>
        <p:txBody>
          <a:bodyPr/>
          <a:lstStyle/>
          <a:p>
            <a:endParaRPr/>
          </a:p>
        </p:txBody>
      </p:sp>
      <p:sp>
        <p:nvSpPr>
          <p:cNvPr id="9" name="Shape 6"/>
          <p:cNvSpPr/>
          <p:nvPr/>
        </p:nvSpPr>
        <p:spPr>
          <a:xfrm rot="2700000">
            <a:off x="274320" y="-91440"/>
            <a:ext cx="23774" cy="502920"/>
          </a:xfrm>
          <a:prstGeom prst="rect">
            <a:avLst/>
          </a:prstGeom>
          <a:solidFill>
            <a:srgbClr val="FFFFFF"/>
          </a:solidFill>
          <a:ln w="12700">
            <a:solidFill>
              <a:srgbClr val="FFFFFF"/>
            </a:solidFill>
            <a:prstDash val="solid"/>
          </a:ln>
        </p:spPr>
        <p:txBody>
          <a:bodyPr/>
          <a:lstStyle/>
          <a:p>
            <a:endParaRPr/>
          </a:p>
        </p:txBody>
      </p:sp>
      <p:sp>
        <p:nvSpPr>
          <p:cNvPr id="10" name="Shape 7"/>
          <p:cNvSpPr/>
          <p:nvPr/>
        </p:nvSpPr>
        <p:spPr>
          <a:xfrm rot="2700000">
            <a:off x="342900" y="-91440"/>
            <a:ext cx="23774" cy="502920"/>
          </a:xfrm>
          <a:prstGeom prst="rect">
            <a:avLst/>
          </a:prstGeom>
          <a:solidFill>
            <a:srgbClr val="FFFFFF"/>
          </a:solidFill>
          <a:ln w="12700">
            <a:solidFill>
              <a:srgbClr val="FFFFFF"/>
            </a:solidFill>
            <a:prstDash val="solid"/>
          </a:ln>
        </p:spPr>
        <p:txBody>
          <a:bodyPr/>
          <a:lstStyle/>
          <a:p>
            <a:endParaRPr/>
          </a:p>
        </p:txBody>
      </p:sp>
      <p:sp>
        <p:nvSpPr>
          <p:cNvPr id="11" name="Shape 8"/>
          <p:cNvSpPr/>
          <p:nvPr/>
        </p:nvSpPr>
        <p:spPr>
          <a:xfrm rot="2700000">
            <a:off x="411480" y="-91440"/>
            <a:ext cx="23774" cy="502920"/>
          </a:xfrm>
          <a:prstGeom prst="rect">
            <a:avLst/>
          </a:prstGeom>
          <a:solidFill>
            <a:srgbClr val="FFFFFF"/>
          </a:solidFill>
          <a:ln w="12700">
            <a:solidFill>
              <a:srgbClr val="FFFFFF"/>
            </a:solidFill>
            <a:prstDash val="solid"/>
          </a:ln>
        </p:spPr>
        <p:txBody>
          <a:bodyPr/>
          <a:lstStyle/>
          <a:p>
            <a:endParaRPr/>
          </a:p>
        </p:txBody>
      </p:sp>
      <p:sp>
        <p:nvSpPr>
          <p:cNvPr id="12" name="Shape 9"/>
          <p:cNvSpPr/>
          <p:nvPr/>
        </p:nvSpPr>
        <p:spPr>
          <a:xfrm rot="2700000">
            <a:off x="480060" y="-91440"/>
            <a:ext cx="23774" cy="502920"/>
          </a:xfrm>
          <a:prstGeom prst="rect">
            <a:avLst/>
          </a:prstGeom>
          <a:solidFill>
            <a:srgbClr val="FFFFFF"/>
          </a:solidFill>
          <a:ln w="12700">
            <a:solidFill>
              <a:srgbClr val="FFFFFF"/>
            </a:solidFill>
            <a:prstDash val="solid"/>
          </a:ln>
        </p:spPr>
        <p:txBody>
          <a:bodyPr/>
          <a:lstStyle/>
          <a:p>
            <a:endParaRPr/>
          </a:p>
        </p:txBody>
      </p:sp>
      <p:sp>
        <p:nvSpPr>
          <p:cNvPr id="13" name="Shape 10"/>
          <p:cNvSpPr/>
          <p:nvPr/>
        </p:nvSpPr>
        <p:spPr>
          <a:xfrm rot="2700000">
            <a:off x="548640" y="-91440"/>
            <a:ext cx="23774" cy="502920"/>
          </a:xfrm>
          <a:prstGeom prst="rect">
            <a:avLst/>
          </a:prstGeom>
          <a:solidFill>
            <a:srgbClr val="FFFFFF"/>
          </a:solidFill>
          <a:ln w="12700">
            <a:solidFill>
              <a:srgbClr val="FFFFFF"/>
            </a:solidFill>
            <a:prstDash val="solid"/>
          </a:ln>
        </p:spPr>
        <p:txBody>
          <a:bodyPr/>
          <a:lstStyle/>
          <a:p>
            <a:endParaRPr/>
          </a:p>
        </p:txBody>
      </p:sp>
      <p:sp>
        <p:nvSpPr>
          <p:cNvPr id="14" name="Shape 11"/>
          <p:cNvSpPr/>
          <p:nvPr/>
        </p:nvSpPr>
        <p:spPr>
          <a:xfrm rot="2700000">
            <a:off x="617220" y="-91440"/>
            <a:ext cx="23774" cy="502920"/>
          </a:xfrm>
          <a:prstGeom prst="rect">
            <a:avLst/>
          </a:prstGeom>
          <a:solidFill>
            <a:srgbClr val="FFFFFF"/>
          </a:solidFill>
          <a:ln w="12700">
            <a:solidFill>
              <a:srgbClr val="FFFFFF"/>
            </a:solidFill>
            <a:prstDash val="solid"/>
          </a:ln>
        </p:spPr>
        <p:txBody>
          <a:bodyPr/>
          <a:lstStyle/>
          <a:p>
            <a:endParaRPr/>
          </a:p>
        </p:txBody>
      </p:sp>
      <p:sp>
        <p:nvSpPr>
          <p:cNvPr id="15" name="Shape 12"/>
          <p:cNvSpPr/>
          <p:nvPr/>
        </p:nvSpPr>
        <p:spPr>
          <a:xfrm rot="2700000">
            <a:off x="685800" y="-91440"/>
            <a:ext cx="23774" cy="502920"/>
          </a:xfrm>
          <a:prstGeom prst="rect">
            <a:avLst/>
          </a:prstGeom>
          <a:solidFill>
            <a:srgbClr val="FFFFFF"/>
          </a:solidFill>
          <a:ln w="12700">
            <a:solidFill>
              <a:srgbClr val="FFFFFF"/>
            </a:solidFill>
            <a:prstDash val="solid"/>
          </a:ln>
        </p:spPr>
        <p:txBody>
          <a:bodyPr/>
          <a:lstStyle/>
          <a:p>
            <a:endParaRPr/>
          </a:p>
        </p:txBody>
      </p:sp>
      <p:sp>
        <p:nvSpPr>
          <p:cNvPr id="16" name="Shape 13"/>
          <p:cNvSpPr/>
          <p:nvPr/>
        </p:nvSpPr>
        <p:spPr>
          <a:xfrm>
            <a:off x="-1463040" y="3200400"/>
            <a:ext cx="3291840" cy="3291840"/>
          </a:xfrm>
          <a:prstGeom prst="ellipse">
            <a:avLst/>
          </a:prstGeom>
          <a:solidFill>
            <a:srgbClr val="000000">
              <a:alpha val="0"/>
            </a:srgbClr>
          </a:solidFill>
          <a:ln w="12700">
            <a:solidFill>
              <a:srgbClr val="5E6357"/>
            </a:solidFill>
            <a:prstDash val="solid"/>
          </a:ln>
        </p:spPr>
        <p:txBody>
          <a:bodyPr/>
          <a:lstStyle/>
          <a:p>
            <a:endParaRPr/>
          </a:p>
        </p:txBody>
      </p:sp>
      <p:sp>
        <p:nvSpPr>
          <p:cNvPr id="17" name="Shape 14"/>
          <p:cNvSpPr/>
          <p:nvPr/>
        </p:nvSpPr>
        <p:spPr>
          <a:xfrm>
            <a:off x="-1051560" y="3611880"/>
            <a:ext cx="2468880" cy="2468880"/>
          </a:xfrm>
          <a:prstGeom prst="ellipse">
            <a:avLst/>
          </a:prstGeom>
          <a:solidFill>
            <a:srgbClr val="000000">
              <a:alpha val="0"/>
            </a:srgbClr>
          </a:solidFill>
          <a:ln w="12700">
            <a:solidFill>
              <a:srgbClr val="5E6357"/>
            </a:solidFill>
            <a:prstDash val="solid"/>
          </a:ln>
        </p:spPr>
        <p:txBody>
          <a:bodyPr/>
          <a:lstStyle/>
          <a:p>
            <a:endParaRPr/>
          </a:p>
        </p:txBody>
      </p:sp>
      <p:sp>
        <p:nvSpPr>
          <p:cNvPr id="18" name="Shape 15"/>
          <p:cNvSpPr/>
          <p:nvPr/>
        </p:nvSpPr>
        <p:spPr>
          <a:xfrm>
            <a:off x="-640080" y="4023360"/>
            <a:ext cx="1645920" cy="1645920"/>
          </a:xfrm>
          <a:prstGeom prst="ellipse">
            <a:avLst/>
          </a:prstGeom>
          <a:solidFill>
            <a:srgbClr val="000000">
              <a:alpha val="0"/>
            </a:srgbClr>
          </a:solidFill>
          <a:ln w="12700">
            <a:solidFill>
              <a:srgbClr val="5E6357"/>
            </a:solidFill>
            <a:prstDash val="solid"/>
          </a:ln>
        </p:spPr>
        <p:txBody>
          <a:bodyPr/>
          <a:lstStyle/>
          <a:p>
            <a:endParaRPr/>
          </a:p>
        </p:txBody>
      </p:sp>
      <p:sp>
        <p:nvSpPr>
          <p:cNvPr id="19" name="Shape 16"/>
          <p:cNvSpPr/>
          <p:nvPr/>
        </p:nvSpPr>
        <p:spPr>
          <a:xfrm>
            <a:off x="-228600" y="4434840"/>
            <a:ext cx="822960" cy="822960"/>
          </a:xfrm>
          <a:prstGeom prst="ellipse">
            <a:avLst/>
          </a:prstGeom>
          <a:solidFill>
            <a:srgbClr val="000000">
              <a:alpha val="0"/>
            </a:srgbClr>
          </a:solidFill>
          <a:ln w="12700">
            <a:solidFill>
              <a:srgbClr val="D9F201"/>
            </a:solidFill>
            <a:prstDash val="solid"/>
          </a:ln>
        </p:spPr>
        <p:txBody>
          <a:bodyPr/>
          <a:lstStyle/>
          <a:p>
            <a:endParaRPr/>
          </a:p>
        </p:txBody>
      </p:sp>
      <p:sp>
        <p:nvSpPr>
          <p:cNvPr id="20" name="Shape 17"/>
          <p:cNvSpPr/>
          <p:nvPr/>
        </p:nvSpPr>
        <p:spPr>
          <a:xfrm>
            <a:off x="8321040" y="502920"/>
            <a:ext cx="50292" cy="50292"/>
          </a:xfrm>
          <a:prstGeom prst="ellipse">
            <a:avLst/>
          </a:prstGeom>
          <a:solidFill>
            <a:srgbClr val="D9F201"/>
          </a:solidFill>
          <a:ln w="12700">
            <a:solidFill>
              <a:srgbClr val="D9F201"/>
            </a:solidFill>
            <a:prstDash val="solid"/>
          </a:ln>
        </p:spPr>
        <p:txBody>
          <a:bodyPr/>
          <a:lstStyle/>
          <a:p>
            <a:endParaRPr/>
          </a:p>
        </p:txBody>
      </p:sp>
      <p:sp>
        <p:nvSpPr>
          <p:cNvPr id="21" name="Shape 18"/>
          <p:cNvSpPr/>
          <p:nvPr/>
        </p:nvSpPr>
        <p:spPr>
          <a:xfrm>
            <a:off x="8453628" y="502920"/>
            <a:ext cx="50292" cy="50292"/>
          </a:xfrm>
          <a:prstGeom prst="ellipse">
            <a:avLst/>
          </a:prstGeom>
          <a:solidFill>
            <a:srgbClr val="D9F201"/>
          </a:solidFill>
          <a:ln w="12700">
            <a:solidFill>
              <a:srgbClr val="D9F201"/>
            </a:solidFill>
            <a:prstDash val="solid"/>
          </a:ln>
        </p:spPr>
        <p:txBody>
          <a:bodyPr/>
          <a:lstStyle/>
          <a:p>
            <a:endParaRPr/>
          </a:p>
        </p:txBody>
      </p:sp>
      <p:sp>
        <p:nvSpPr>
          <p:cNvPr id="22" name="Shape 19"/>
          <p:cNvSpPr/>
          <p:nvPr/>
        </p:nvSpPr>
        <p:spPr>
          <a:xfrm>
            <a:off x="8586216" y="502920"/>
            <a:ext cx="50292" cy="50292"/>
          </a:xfrm>
          <a:prstGeom prst="ellipse">
            <a:avLst/>
          </a:prstGeom>
          <a:solidFill>
            <a:srgbClr val="D9F201"/>
          </a:solidFill>
          <a:ln w="12700">
            <a:solidFill>
              <a:srgbClr val="D9F201"/>
            </a:solidFill>
            <a:prstDash val="solid"/>
          </a:ln>
        </p:spPr>
        <p:txBody>
          <a:bodyPr/>
          <a:lstStyle/>
          <a:p>
            <a:endParaRPr/>
          </a:p>
        </p:txBody>
      </p:sp>
      <p:sp>
        <p:nvSpPr>
          <p:cNvPr id="23" name="Shape 20"/>
          <p:cNvSpPr/>
          <p:nvPr/>
        </p:nvSpPr>
        <p:spPr>
          <a:xfrm>
            <a:off x="8321040" y="635508"/>
            <a:ext cx="50292" cy="50292"/>
          </a:xfrm>
          <a:prstGeom prst="ellipse">
            <a:avLst/>
          </a:prstGeom>
          <a:solidFill>
            <a:srgbClr val="D9F201"/>
          </a:solidFill>
          <a:ln w="12700">
            <a:solidFill>
              <a:srgbClr val="D9F201"/>
            </a:solidFill>
            <a:prstDash val="solid"/>
          </a:ln>
        </p:spPr>
        <p:txBody>
          <a:bodyPr/>
          <a:lstStyle/>
          <a:p>
            <a:endParaRPr/>
          </a:p>
        </p:txBody>
      </p:sp>
      <p:sp>
        <p:nvSpPr>
          <p:cNvPr id="24" name="Shape 21"/>
          <p:cNvSpPr/>
          <p:nvPr/>
        </p:nvSpPr>
        <p:spPr>
          <a:xfrm>
            <a:off x="8453628" y="635508"/>
            <a:ext cx="50292" cy="50292"/>
          </a:xfrm>
          <a:prstGeom prst="ellipse">
            <a:avLst/>
          </a:prstGeom>
          <a:solidFill>
            <a:srgbClr val="D9F201"/>
          </a:solidFill>
          <a:ln w="12700">
            <a:solidFill>
              <a:srgbClr val="D9F201"/>
            </a:solidFill>
            <a:prstDash val="solid"/>
          </a:ln>
        </p:spPr>
        <p:txBody>
          <a:bodyPr/>
          <a:lstStyle/>
          <a:p>
            <a:endParaRPr/>
          </a:p>
        </p:txBody>
      </p:sp>
      <p:sp>
        <p:nvSpPr>
          <p:cNvPr id="25" name="Shape 22"/>
          <p:cNvSpPr/>
          <p:nvPr/>
        </p:nvSpPr>
        <p:spPr>
          <a:xfrm>
            <a:off x="8586216" y="635508"/>
            <a:ext cx="50292" cy="50292"/>
          </a:xfrm>
          <a:prstGeom prst="ellipse">
            <a:avLst/>
          </a:prstGeom>
          <a:solidFill>
            <a:srgbClr val="D9F201"/>
          </a:solidFill>
          <a:ln w="12700">
            <a:solidFill>
              <a:srgbClr val="D9F201"/>
            </a:solidFill>
            <a:prstDash val="solid"/>
          </a:ln>
        </p:spPr>
        <p:txBody>
          <a:bodyPr/>
          <a:lstStyle/>
          <a:p>
            <a:endParaRPr/>
          </a:p>
        </p:txBody>
      </p:sp>
      <p:sp>
        <p:nvSpPr>
          <p:cNvPr id="26" name="Shape 23"/>
          <p:cNvSpPr/>
          <p:nvPr/>
        </p:nvSpPr>
        <p:spPr>
          <a:xfrm>
            <a:off x="8321040" y="768096"/>
            <a:ext cx="50292" cy="50292"/>
          </a:xfrm>
          <a:prstGeom prst="ellipse">
            <a:avLst/>
          </a:prstGeom>
          <a:solidFill>
            <a:srgbClr val="D9F201"/>
          </a:solidFill>
          <a:ln w="12700">
            <a:solidFill>
              <a:srgbClr val="D9F201"/>
            </a:solidFill>
            <a:prstDash val="solid"/>
          </a:ln>
        </p:spPr>
        <p:txBody>
          <a:bodyPr/>
          <a:lstStyle/>
          <a:p>
            <a:endParaRPr/>
          </a:p>
        </p:txBody>
      </p:sp>
      <p:sp>
        <p:nvSpPr>
          <p:cNvPr id="27" name="Shape 24"/>
          <p:cNvSpPr/>
          <p:nvPr/>
        </p:nvSpPr>
        <p:spPr>
          <a:xfrm>
            <a:off x="8453628" y="768096"/>
            <a:ext cx="50292" cy="50292"/>
          </a:xfrm>
          <a:prstGeom prst="ellipse">
            <a:avLst/>
          </a:prstGeom>
          <a:solidFill>
            <a:srgbClr val="D9F201"/>
          </a:solidFill>
          <a:ln w="12700">
            <a:solidFill>
              <a:srgbClr val="D9F201"/>
            </a:solidFill>
            <a:prstDash val="solid"/>
          </a:ln>
        </p:spPr>
        <p:txBody>
          <a:bodyPr/>
          <a:lstStyle/>
          <a:p>
            <a:endParaRPr/>
          </a:p>
        </p:txBody>
      </p:sp>
      <p:sp>
        <p:nvSpPr>
          <p:cNvPr id="28" name="Shape 25"/>
          <p:cNvSpPr/>
          <p:nvPr/>
        </p:nvSpPr>
        <p:spPr>
          <a:xfrm>
            <a:off x="8586216" y="768096"/>
            <a:ext cx="50292" cy="50292"/>
          </a:xfrm>
          <a:prstGeom prst="ellipse">
            <a:avLst/>
          </a:prstGeom>
          <a:solidFill>
            <a:srgbClr val="D9F201"/>
          </a:solidFill>
          <a:ln w="12700">
            <a:solidFill>
              <a:srgbClr val="D9F201"/>
            </a:solidFill>
            <a:prstDash val="solid"/>
          </a:ln>
        </p:spPr>
        <p:txBody>
          <a:bodyPr/>
          <a:lstStyle/>
          <a:p>
            <a:endParaRPr/>
          </a:p>
        </p:txBody>
      </p:sp>
      <p:sp>
        <p:nvSpPr>
          <p:cNvPr id="29" name="Shape 26"/>
          <p:cNvSpPr/>
          <p:nvPr/>
        </p:nvSpPr>
        <p:spPr>
          <a:xfrm>
            <a:off x="8321040" y="900684"/>
            <a:ext cx="50292" cy="50292"/>
          </a:xfrm>
          <a:prstGeom prst="ellipse">
            <a:avLst/>
          </a:prstGeom>
          <a:solidFill>
            <a:srgbClr val="D9F201"/>
          </a:solidFill>
          <a:ln w="12700">
            <a:solidFill>
              <a:srgbClr val="D9F201"/>
            </a:solidFill>
            <a:prstDash val="solid"/>
          </a:ln>
        </p:spPr>
        <p:txBody>
          <a:bodyPr/>
          <a:lstStyle/>
          <a:p>
            <a:endParaRPr/>
          </a:p>
        </p:txBody>
      </p:sp>
      <p:sp>
        <p:nvSpPr>
          <p:cNvPr id="30" name="Shape 27"/>
          <p:cNvSpPr/>
          <p:nvPr/>
        </p:nvSpPr>
        <p:spPr>
          <a:xfrm>
            <a:off x="8453628" y="900684"/>
            <a:ext cx="50292" cy="50292"/>
          </a:xfrm>
          <a:prstGeom prst="ellipse">
            <a:avLst/>
          </a:prstGeom>
          <a:solidFill>
            <a:srgbClr val="D9F201"/>
          </a:solidFill>
          <a:ln w="12700">
            <a:solidFill>
              <a:srgbClr val="D9F201"/>
            </a:solidFill>
            <a:prstDash val="solid"/>
          </a:ln>
        </p:spPr>
        <p:txBody>
          <a:bodyPr/>
          <a:lstStyle/>
          <a:p>
            <a:endParaRPr/>
          </a:p>
        </p:txBody>
      </p:sp>
      <p:sp>
        <p:nvSpPr>
          <p:cNvPr id="31" name="Shape 28"/>
          <p:cNvSpPr/>
          <p:nvPr/>
        </p:nvSpPr>
        <p:spPr>
          <a:xfrm>
            <a:off x="8586216" y="900684"/>
            <a:ext cx="50292" cy="50292"/>
          </a:xfrm>
          <a:prstGeom prst="ellipse">
            <a:avLst/>
          </a:prstGeom>
          <a:solidFill>
            <a:srgbClr val="D9F201"/>
          </a:solidFill>
          <a:ln w="12700">
            <a:solidFill>
              <a:srgbClr val="D9F201"/>
            </a:solidFill>
            <a:prstDash val="solid"/>
          </a:ln>
        </p:spPr>
        <p:txBody>
          <a:bodyPr/>
          <a:lstStyle/>
          <a:p>
            <a:endParaRPr/>
          </a:p>
        </p:txBody>
      </p:sp>
      <p:sp>
        <p:nvSpPr>
          <p:cNvPr id="32" name="Shape 29"/>
          <p:cNvSpPr/>
          <p:nvPr/>
        </p:nvSpPr>
        <p:spPr>
          <a:xfrm rot="10800000">
            <a:off x="8275320" y="4297680"/>
            <a:ext cx="365760" cy="365760"/>
          </a:xfrm>
          <a:prstGeom prst="triangle">
            <a:avLst/>
          </a:prstGeom>
          <a:solidFill>
            <a:srgbClr val="D9F201"/>
          </a:solidFill>
          <a:ln w="12700">
            <a:solidFill>
              <a:srgbClr val="D9F201"/>
            </a:solidFill>
            <a:prstDash val="solid"/>
          </a:ln>
        </p:spPr>
        <p:txBody>
          <a:bodyPr/>
          <a:lstStyle/>
          <a:p>
            <a:endParaRPr/>
          </a:p>
        </p:txBody>
      </p:sp>
      <p:sp>
        <p:nvSpPr>
          <p:cNvPr id="33" name="Text 30"/>
          <p:cNvSpPr txBox="1"/>
          <p:nvPr/>
        </p:nvSpPr>
        <p:spPr>
          <a:xfrm>
            <a:off x="0" y="1874520"/>
            <a:ext cx="9144000"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Arial" pitchFamily="34" charset="0"/>
                <a:ea typeface="Arial" pitchFamily="34" charset="-122"/>
                <a:cs typeface="Arial" pitchFamily="34" charset="-120"/>
              </a:rPr>
              <a:t>Thank you for your attention</a:t>
            </a:r>
            <a:endParaRPr lang="en-US" sz="4600" dirty="0"/>
          </a:p>
        </p:txBody>
      </p:sp>
      <p:sp>
        <p:nvSpPr>
          <p:cNvPr id="34" name="Text 31"/>
          <p:cNvSpPr txBox="1"/>
          <p:nvPr/>
        </p:nvSpPr>
        <p:spPr>
          <a:xfrm>
            <a:off x="0" y="2816352"/>
            <a:ext cx="9144000" cy="320040"/>
          </a:xfrm>
          <a:prstGeom prst="rect">
            <a:avLst/>
          </a:prstGeom>
          <a:noFill/>
          <a:ln/>
        </p:spPr>
        <p:txBody>
          <a:bodyPr wrap="square" lIns="0" tIns="0" rIns="0" bIns="0" rtlCol="0" anchor="ctr"/>
          <a:lstStyle/>
          <a:p>
            <a:pPr marL="0" indent="0" algn="ctr">
              <a:buNone/>
            </a:pPr>
            <a:r>
              <a:rPr lang="en-US" sz="1700" dirty="0">
                <a:solidFill>
                  <a:srgbClr val="D9F201"/>
                </a:solidFill>
                <a:latin typeface="Arial" pitchFamily="34" charset="0"/>
                <a:ea typeface="Arial" pitchFamily="34" charset="-122"/>
                <a:cs typeface="Arial" pitchFamily="34" charset="-120"/>
              </a:rPr>
              <a:t>Questions?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3111</TotalTime>
  <Words>3221</Words>
  <Application>Microsoft Macintosh PowerPoint</Application>
  <PresentationFormat>On-screen Show (16:9)</PresentationFormat>
  <Paragraphs>406</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Shared state, races and locks</dc:title>
  <dc:subject>PptxGenJS Presentation</dc:subject>
  <dc:creator>UTM — Network Programming</dc:creator>
  <cp:lastModifiedBy>Ernest Bitca</cp:lastModifiedBy>
  <cp:revision>21</cp:revision>
  <dcterms:created xsi:type="dcterms:W3CDTF">2026-09-15T12:39:55Z</dcterms:created>
  <dcterms:modified xsi:type="dcterms:W3CDTF">2026-10-06T08:12:13Z</dcterms:modified>
</cp:coreProperties>
</file>