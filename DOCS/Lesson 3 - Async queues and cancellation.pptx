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18"/>
    <p:sldId id="276" r:id="rId19"/>
    <p:sldId id="279" r:id="rId20"/>
    <p:sldId id="28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08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3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6992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3 of 3 on concurrency. Lecture 1 was about speed, lecture 2 about correctness. This one is about waiting: how to wait without wasting threads, how to stop, and what happens when things fail.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Stephen Cleary, 'There Is No Thread', 2013. Read it, then say: by the end of block 01 you will know exactly what he means. While a network request travels, no thread of yours is waiting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lecture 2 in one minute. The rule 'never block a pool thread' is the bridge: today we learn how to wait without blocking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blocks. 01 is the core idea, 02 connects to Lab 1c, 03 is what every real program needs: stopping, timeouts and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central idea of the lecture. Everything else builds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lane: what they know from lecture 2 - the thread is held while nothing happens. Bottom: at await the method pauses and thread 1 goes back to the pool and does other work. While the data travels, the OS and the network card wait - no thread of ours. When the data arrives, any free pool thread (here thread 5) runs the rest of the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Module 3, Ex01. Run it twice: the number after await can change between runs, the one after Sleep never does. A console app has no SynchronizationContext, so the continuation runs on a pool thread. In a UI app it would come back to the UI thread - mention only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compiler rewrites an async method into a state machine: every await is a place where the method can stop and later continue. If the awaited task is already finished, await does not pause at all - it just continues. Key sentence: async does not create threads.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3, Ex02. Calling an async method starts it; await only waits for the result. So: start everything you need, then await. This is the most common async speed-up in real code - three independent requests to three servers.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3, Ex03. 1000 operations that each wait 1 second - think of 1000 clients of a server. Both finish in about a second, because the waits overlap. The difference is the cost: 1000 threads each need a stack and the OS must create and schedule them; 1000 awaits are 1000 small objects on the heap. Numbers from one run on .NET 10 - yours will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question students always ask: so should everything be async? No. await helps only when the program WAITS. CPU work still needs a core for its whole duration; Task.Run moves it off the current thread (for example, so a UI or a server loop stays responsive), but it does not make the work itself faster. Link to lecture 1: I/O-bound vs CPU-bound.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1: sync-over-async. .Result blocks a thread until the task finishes - exactly the 'never block a pool thread' rule from lecture 2. In apps with a UI thread it can deadlock: the task needs the UI thread to finish, and the UI thread is blocked waiting for the task. Rule 2: async void exists only for event handlers. Rule 3: the mirror image of the previous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Callback to Module 2, Ex13a: a List&lt;T&gt; shared by 4 tasks lost items or threw. Today: collections built for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Module 3, Ex04: 4 tasks add 10 numbers each to one ConcurrentBag, with no lock of ours - all 40 arrive. Then TryTake takes them out one by one, in no particular order: a bag, not a queue. The locking (or lock-free code) is inside the collection. The last row comes back in the producer-consumer picture and in Lab 1c.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Only the idea here; the methods are in the code (Module 3, Ex05: TryAdd, TryGetValue, TryUpdate, TryRemove). Each of the three bugs is two calls with a gap between them, and another task can run in that gap - lecture 2's race, inside a collection that is itself thread-safe. The dictionary is never corrupted; our sequence of calls is wrong. The fix is always the same: one call that checks and acts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picture for Lab 1c (next slide). Name the three rules: queue full - the producer waits; queue empty - the consumers wait; Complete - consumers finish what is left and stop. The capacity limit is what keeps memory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things every real program needs, and that the happy-path examples so far ignored.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ways for a thread to wait for something that happens after 2 seconds. Busy wait burns a core. Sleep in a loop is cheaper but always late. A blocking wait costs no CPU but holds a thread. await holds neither. The runtime itself spins for a few microseconds inside Wait() before it parks the thread - that is the only place spinning belongs.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second 'does' point is the real use of volatile: publishing data with a flag. Writer: data = 42; then ready = true. Reader: if (ready) use(data). With volatile, a reader that sees ready == true also sees data == 42. volatile is not a lock: counter++ on a volatile field is still read, add, write - lecture 2's lost update. In application code volatile is rare: CancellationToken already reads a volatile field inside, and locks, Interlocked and events do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 rot="2700000">
            <a:off x="-13716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2700000">
            <a:off x="-6858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rot="2700000">
            <a:off x="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rot="2700000">
            <a:off x="6858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rot="2700000">
            <a:off x="13716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rot="2700000">
            <a:off x="20574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2700000">
            <a:off x="27432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rot="2700000">
            <a:off x="34290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2700000">
            <a:off x="41148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2700000">
            <a:off x="48006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2700000">
            <a:off x="54864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2700000">
            <a:off x="61722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2700000">
            <a:off x="68580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rot="5400000">
            <a:off x="1051560" y="256032"/>
            <a:ext cx="182880" cy="182880"/>
          </a:xfrm>
          <a:prstGeom prst="triangl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5400000">
            <a:off x="1316736" y="256032"/>
            <a:ext cx="182880" cy="182880"/>
          </a:xfrm>
          <a:prstGeom prst="triangl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rot="5400000">
            <a:off x="1581912" y="256032"/>
            <a:ext cx="182880" cy="182880"/>
          </a:xfrm>
          <a:prstGeom prst="triangl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-1325880" y="2971800"/>
            <a:ext cx="2926080" cy="292608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-960120" y="3337560"/>
            <a:ext cx="2194560" cy="219456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-594360" y="3703320"/>
            <a:ext cx="1463040" cy="146304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-228600" y="4069080"/>
            <a:ext cx="731520" cy="73152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66760" y="54864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499348" y="54864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631936" y="54864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366760" y="68122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499348" y="68122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631936" y="68122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366760" y="81381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499348" y="81381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631936" y="81381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366760" y="946404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499348" y="946404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631936" y="946404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366760" y="1078992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499348" y="1078992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631936" y="1078992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 rot="10800000">
            <a:off x="8275320" y="4297680"/>
            <a:ext cx="365760" cy="365760"/>
          </a:xfrm>
          <a:prstGeom prst="triangl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66928" y="14813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PROGRAMMING · UTM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566928" y="182880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Async, queues</a:t>
            </a:r>
            <a:endParaRPr lang="en-US" sz="44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cancellation</a:t>
            </a:r>
            <a:endParaRPr lang="en-US" sz="4400" dirty="0"/>
          </a:p>
        </p:txBody>
      </p:sp>
      <p:sp>
        <p:nvSpPr>
          <p:cNvPr id="41" name="Shape 38"/>
          <p:cNvSpPr/>
          <p:nvPr/>
        </p:nvSpPr>
        <p:spPr>
          <a:xfrm>
            <a:off x="566928" y="3310128"/>
            <a:ext cx="1005840" cy="25603"/>
          </a:xfrm>
          <a:prstGeom prst="rect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66928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#3  ·  Ernest Bîtca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 rot="5400000">
            <a:off x="8412480" y="457200"/>
            <a:ext cx="384048" cy="384048"/>
          </a:xfrm>
          <a:prstGeom prst="triangl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-1353312" y="3218688"/>
            <a:ext cx="3072384" cy="3072384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-969264" y="3602736"/>
            <a:ext cx="2304288" cy="2304288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-585216" y="3986784"/>
            <a:ext cx="1536192" cy="1536192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-201168" y="4370832"/>
            <a:ext cx="768096" cy="768096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321040" y="4114800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53628" y="4114800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86216" y="4114800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321040" y="4247388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453628" y="4247388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586216" y="4247388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321040" y="4379976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453628" y="4379976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586216" y="4379976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32588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3800"/>
              </a:lnSpc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code was </a:t>
            </a:r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synchronous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once. Then it blocked on everything, including my career.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366760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499348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31936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366760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99348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31936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66760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99348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31936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" y="47594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Programming · Lecture 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45720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72237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left off</a:t>
            </a:r>
            <a:endParaRPr lang="en-US" sz="3200" dirty="0"/>
          </a:p>
        </p:txBody>
      </p:sp>
      <p:sp>
        <p:nvSpPr>
          <p:cNvPr id="15" name="Shape 12"/>
          <p:cNvSpPr/>
          <p:nvPr/>
        </p:nvSpPr>
        <p:spPr>
          <a:xfrm>
            <a:off x="566928" y="1463040"/>
            <a:ext cx="3931920" cy="2606040"/>
          </a:xfrm>
          <a:prstGeom prst="roundRect">
            <a:avLst>
              <a:gd name="adj" fmla="val 1754"/>
            </a:avLst>
          </a:prstGeom>
          <a:solidFill>
            <a:srgbClr val="141613"/>
          </a:solidFill>
          <a:ln w="12700">
            <a:solidFill>
              <a:srgbClr val="1F231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16642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 RECAP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2011680"/>
            <a:ext cx="34198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3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thread pool runs our work on a few shared threads.</a:t>
            </a:r>
            <a:endParaRPr lang="en-US" sz="1400" dirty="0"/>
          </a:p>
          <a:p>
            <a:pPr marL="342900" indent="-342900">
              <a:lnSpc>
                <a:spcPts val="203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block a pool thread: while it waits, it serves nobody.</a:t>
            </a:r>
            <a:endParaRPr lang="en-US" sz="1400" dirty="0"/>
          </a:p>
          <a:p>
            <a:pPr marL="342900" indent="-342900">
              <a:lnSpc>
                <a:spcPts val="203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Locks, semaphores and barriers all make threads wait.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663440" y="1463040"/>
            <a:ext cx="3913632" cy="2606040"/>
          </a:xfrm>
          <a:prstGeom prst="roundRect">
            <a:avLst>
              <a:gd name="adj" fmla="val 1754"/>
            </a:avLst>
          </a:prstGeom>
          <a:solidFill>
            <a:srgbClr val="141613"/>
          </a:solidFill>
          <a:ln w="19050">
            <a:solidFill>
              <a:srgbClr val="D9F20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919472" y="1463040"/>
            <a:ext cx="340156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server spends almost all its time waiting for the network. 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4370832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1 was about speed, lecture 2 about correctness. This one is about waiting.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366760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499348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31936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366760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99348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31936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66760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99348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31936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366760" y="900684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499348" y="900684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31936" y="900684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66928" y="47594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Programming · Lecture 3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45720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566928" y="72237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19" name="Shape 16"/>
          <p:cNvSpPr/>
          <p:nvPr/>
        </p:nvSpPr>
        <p:spPr>
          <a:xfrm>
            <a:off x="566928" y="2322576"/>
            <a:ext cx="2377440" cy="18288"/>
          </a:xfrm>
          <a:prstGeom prst="rect">
            <a:avLst/>
          </a:prstGeom>
          <a:solidFill>
            <a:srgbClr val="1F231B"/>
          </a:solidFill>
          <a:ln w="12700">
            <a:solidFill>
              <a:srgbClr val="1F231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66928" y="245059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/ await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66928" y="2926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A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await does with the thread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264408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23" name="Shape 20"/>
          <p:cNvSpPr/>
          <p:nvPr/>
        </p:nvSpPr>
        <p:spPr>
          <a:xfrm>
            <a:off x="3264408" y="2322576"/>
            <a:ext cx="2377440" cy="18288"/>
          </a:xfrm>
          <a:prstGeom prst="rect">
            <a:avLst/>
          </a:prstGeom>
          <a:solidFill>
            <a:srgbClr val="1F231B"/>
          </a:solidFill>
          <a:ln w="12700">
            <a:solidFill>
              <a:srgbClr val="1F231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264408" y="245059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Thread-safe collections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3264408" y="2926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A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producer–consumer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961888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27" name="Shape 24"/>
          <p:cNvSpPr/>
          <p:nvPr/>
        </p:nvSpPr>
        <p:spPr>
          <a:xfrm>
            <a:off x="5961888" y="2322576"/>
            <a:ext cx="2377440" cy="18288"/>
          </a:xfrm>
          <a:prstGeom prst="rect">
            <a:avLst/>
          </a:prstGeom>
          <a:solidFill>
            <a:srgbClr val="1F231B"/>
          </a:solidFill>
          <a:ln w="12700">
            <a:solidFill>
              <a:srgbClr val="1F231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61888" y="245059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Waiting, stopping, failing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5961888" y="2926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A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busy wait, volatile, cancellation, timeouts, exceptions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 rot="2700000">
            <a:off x="-13716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2700000">
            <a:off x="-6858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rot="2700000">
            <a:off x="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rot="2700000">
            <a:off x="6858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rot="2700000">
            <a:off x="13716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rot="2700000">
            <a:off x="20574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2700000">
            <a:off x="27432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rot="2700000">
            <a:off x="34290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2700000">
            <a:off x="41148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2700000">
            <a:off x="48006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2700000">
            <a:off x="54864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2700000">
            <a:off x="61722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2700000">
            <a:off x="68580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-1463040" y="3200400"/>
            <a:ext cx="3291840" cy="329184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-1051560" y="3611880"/>
            <a:ext cx="2468880" cy="246888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-640080" y="4023360"/>
            <a:ext cx="1645920" cy="164592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-228600" y="4434840"/>
            <a:ext cx="822960" cy="82296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rot="5400000">
            <a:off x="8321040" y="457200"/>
            <a:ext cx="411480" cy="411480"/>
          </a:xfrm>
          <a:prstGeom prst="triangl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38160" y="4206240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70748" y="4206240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403336" y="4206240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535924" y="4206240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138160" y="4338828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70748" y="4338828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403336" y="4338828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535924" y="4338828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138160" y="4471416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270748" y="4471416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403336" y="4471416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535924" y="4471416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66928" y="16002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600" dirty="0"/>
          </a:p>
        </p:txBody>
      </p:sp>
      <p:sp>
        <p:nvSpPr>
          <p:cNvPr id="34" name="Text 31"/>
          <p:cNvSpPr txBox="1"/>
          <p:nvPr/>
        </p:nvSpPr>
        <p:spPr>
          <a:xfrm>
            <a:off x="2514600" y="187452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/ await</a:t>
            </a:r>
            <a:endParaRPr lang="en-US" sz="3400" dirty="0"/>
          </a:p>
        </p:txBody>
      </p:sp>
      <p:sp>
        <p:nvSpPr>
          <p:cNvPr id="35" name="Text 32"/>
          <p:cNvSpPr txBox="1"/>
          <p:nvPr/>
        </p:nvSpPr>
        <p:spPr>
          <a:xfrm>
            <a:off x="2542032" y="257860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await really does with the thread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02920" y="233172"/>
            <a:ext cx="7772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BLOCKING VS AWAIT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567842"/>
            <a:ext cx="7772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8" dirty="0">
                <a:solidFill>
                  <a:srgbClr val="9AA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wait for the network, two ways</a:t>
            </a:r>
            <a:endParaRPr lang="en-US" sz="1008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1066008"/>
            <a:ext cx="5486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Thread.Sleep / .Result</a:t>
            </a:r>
            <a:endParaRPr lang="en-US" sz="1008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423721"/>
            <a:ext cx="914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1</a:t>
            </a:r>
            <a:endParaRPr lang="en-US" sz="936" dirty="0"/>
          </a:p>
        </p:txBody>
      </p:sp>
      <p:sp>
        <p:nvSpPr>
          <p:cNvPr id="7" name="Shape 4"/>
          <p:cNvSpPr/>
          <p:nvPr/>
        </p:nvSpPr>
        <p:spPr>
          <a:xfrm>
            <a:off x="1508760" y="1325880"/>
            <a:ext cx="1024128" cy="347472"/>
          </a:xfrm>
          <a:prstGeom prst="roundRect">
            <a:avLst>
              <a:gd name="adj" fmla="val 13158"/>
            </a:avLst>
          </a:prstGeom>
          <a:solidFill>
            <a:srgbClr val="35E0C8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600200" y="1424635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</a:t>
            </a:r>
            <a:endParaRPr lang="en-US" sz="864" dirty="0"/>
          </a:p>
        </p:txBody>
      </p:sp>
      <p:sp>
        <p:nvSpPr>
          <p:cNvPr id="9" name="hatchR"/>
          <p:cNvSpPr/>
          <p:nvPr/>
        </p:nvSpPr>
        <p:spPr>
          <a:xfrm>
            <a:off x="2560320" y="1325880"/>
            <a:ext cx="3081528" cy="347472"/>
          </a:xfrm>
          <a:prstGeom prst="roundRect">
            <a:avLst>
              <a:gd name="adj" fmla="val 13158"/>
            </a:avLst>
          </a:prstGeom>
          <a:pattFill prst="wdUpDiag">
            <a:fgClr>
              <a:srgbClr val="6B2A27"/>
            </a:fgClr>
            <a:bgClr>
              <a:srgbClr val="1A0E0D"/>
            </a:bgClr>
          </a:pattFill>
          <a:ln w="9144">
            <a:solidFill>
              <a:srgbClr val="FF5A5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51760" y="142463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blocked: waits, does nothing</a:t>
            </a:r>
            <a:endParaRPr lang="en-US" sz="864" dirty="0"/>
          </a:p>
        </p:txBody>
      </p:sp>
      <p:sp>
        <p:nvSpPr>
          <p:cNvPr id="11" name="Shape 8"/>
          <p:cNvSpPr/>
          <p:nvPr/>
        </p:nvSpPr>
        <p:spPr>
          <a:xfrm>
            <a:off x="5669280" y="132588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35E0C8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760720" y="1424635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</a:t>
            </a:r>
            <a:endParaRPr lang="en-US" sz="864" dirty="0"/>
          </a:p>
        </p:txBody>
      </p:sp>
      <p:sp>
        <p:nvSpPr>
          <p:cNvPr id="13" name="Text 10"/>
          <p:cNvSpPr txBox="1"/>
          <p:nvPr/>
        </p:nvSpPr>
        <p:spPr>
          <a:xfrm>
            <a:off x="6995160" y="1424635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F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thread is held</a:t>
            </a:r>
            <a:endParaRPr lang="en-US" sz="864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2016984"/>
            <a:ext cx="5486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endParaRPr lang="en-US" sz="1008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2383841"/>
            <a:ext cx="914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1</a:t>
            </a:r>
            <a:endParaRPr lang="en-US" sz="936" dirty="0"/>
          </a:p>
        </p:txBody>
      </p:sp>
      <p:sp>
        <p:nvSpPr>
          <p:cNvPr id="16" name="Shape 13"/>
          <p:cNvSpPr/>
          <p:nvPr/>
        </p:nvSpPr>
        <p:spPr>
          <a:xfrm>
            <a:off x="1508760" y="2286000"/>
            <a:ext cx="1024128" cy="347472"/>
          </a:xfrm>
          <a:prstGeom prst="roundRect">
            <a:avLst>
              <a:gd name="adj" fmla="val 13158"/>
            </a:avLst>
          </a:prstGeom>
          <a:solidFill>
            <a:srgbClr val="35E0C8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600200" y="2384755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</a:t>
            </a:r>
            <a:endParaRPr lang="en-US" sz="864" dirty="0"/>
          </a:p>
        </p:txBody>
      </p:sp>
      <p:sp>
        <p:nvSpPr>
          <p:cNvPr id="18" name="Shape 15"/>
          <p:cNvSpPr/>
          <p:nvPr/>
        </p:nvSpPr>
        <p:spPr>
          <a:xfrm>
            <a:off x="2743200" y="2350008"/>
            <a:ext cx="777240" cy="219456"/>
          </a:xfrm>
          <a:prstGeom prst="roundRect">
            <a:avLst>
              <a:gd name="adj" fmla="val 16667"/>
            </a:avLst>
          </a:prstGeom>
          <a:solidFill>
            <a:srgbClr val="15180F"/>
          </a:solidFill>
          <a:ln w="6858">
            <a:solidFill>
              <a:srgbClr val="3A3E3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743200" y="23957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9AA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work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3657600" y="2350008"/>
            <a:ext cx="777240" cy="219456"/>
          </a:xfrm>
          <a:prstGeom prst="roundRect">
            <a:avLst>
              <a:gd name="adj" fmla="val 16667"/>
            </a:avLst>
          </a:prstGeom>
          <a:solidFill>
            <a:srgbClr val="15180F"/>
          </a:solidFill>
          <a:ln w="6858">
            <a:solidFill>
              <a:srgbClr val="3A3E3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657600" y="23957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9AA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work</a:t>
            </a:r>
            <a:endParaRPr lang="en-US" sz="720" dirty="0"/>
          </a:p>
        </p:txBody>
      </p:sp>
      <p:sp>
        <p:nvSpPr>
          <p:cNvPr id="22" name="Shape 19"/>
          <p:cNvSpPr/>
          <p:nvPr/>
        </p:nvSpPr>
        <p:spPr>
          <a:xfrm>
            <a:off x="4572000" y="2350008"/>
            <a:ext cx="777240" cy="219456"/>
          </a:xfrm>
          <a:prstGeom prst="roundRect">
            <a:avLst>
              <a:gd name="adj" fmla="val 16667"/>
            </a:avLst>
          </a:prstGeom>
          <a:solidFill>
            <a:srgbClr val="15180F"/>
          </a:solidFill>
          <a:ln w="6858">
            <a:solidFill>
              <a:srgbClr val="3A3E3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0" y="23957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9AA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work</a:t>
            </a:r>
            <a:endParaRPr lang="en-US" sz="720" dirty="0"/>
          </a:p>
        </p:txBody>
      </p:sp>
      <p:sp>
        <p:nvSpPr>
          <p:cNvPr id="24" name="Text 21"/>
          <p:cNvSpPr txBox="1"/>
          <p:nvPr/>
        </p:nvSpPr>
        <p:spPr>
          <a:xfrm>
            <a:off x="502920" y="2886761"/>
            <a:ext cx="914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5</a:t>
            </a:r>
            <a:endParaRPr lang="en-US" sz="936" dirty="0"/>
          </a:p>
        </p:txBody>
      </p:sp>
      <p:sp>
        <p:nvSpPr>
          <p:cNvPr id="25" name="Shape 22"/>
          <p:cNvSpPr/>
          <p:nvPr/>
        </p:nvSpPr>
        <p:spPr>
          <a:xfrm>
            <a:off x="5669280" y="278892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35E0C8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760720" y="2887675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rest</a:t>
            </a:r>
            <a:endParaRPr lang="en-US" sz="864" dirty="0"/>
          </a:p>
        </p:txBody>
      </p:sp>
      <p:sp>
        <p:nvSpPr>
          <p:cNvPr id="27" name="Text 24"/>
          <p:cNvSpPr txBox="1"/>
          <p:nvPr/>
        </p:nvSpPr>
        <p:spPr>
          <a:xfrm>
            <a:off x="502920" y="3325673"/>
            <a:ext cx="914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36" b="1" dirty="0">
                <a:solidFill>
                  <a:srgbClr val="9AA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936" dirty="0"/>
          </a:p>
        </p:txBody>
      </p:sp>
      <p:sp>
        <p:nvSpPr>
          <p:cNvPr id="28" name="Shape 25"/>
          <p:cNvSpPr/>
          <p:nvPr/>
        </p:nvSpPr>
        <p:spPr>
          <a:xfrm>
            <a:off x="2560320" y="3291840"/>
            <a:ext cx="3081528" cy="256032"/>
          </a:xfrm>
          <a:prstGeom prst="roundRect">
            <a:avLst>
              <a:gd name="adj" fmla="val 17857"/>
            </a:avLst>
          </a:prstGeom>
          <a:solidFill>
            <a:srgbClr val="000000">
              <a:alpha val="0"/>
            </a:srgbClr>
          </a:solidFill>
          <a:ln w="9144">
            <a:solidFill>
              <a:srgbClr val="3A3E33"/>
            </a:solidFill>
            <a:prstDash val="dash"/>
          </a:ln>
        </p:spPr>
      </p:sp>
      <p:sp>
        <p:nvSpPr>
          <p:cNvPr id="29" name="Text 26"/>
          <p:cNvSpPr txBox="1"/>
          <p:nvPr/>
        </p:nvSpPr>
        <p:spPr>
          <a:xfrm>
            <a:off x="2606040" y="3350362"/>
            <a:ext cx="30175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2" dirty="0">
                <a:solidFill>
                  <a:srgbClr val="C9C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OS and the network card wait - no thread</a:t>
            </a:r>
            <a:endParaRPr lang="en-US" sz="792" dirty="0"/>
          </a:p>
        </p:txBody>
      </p:sp>
      <p:sp>
        <p:nvSpPr>
          <p:cNvPr id="30" name="Shape 27"/>
          <p:cNvSpPr/>
          <p:nvPr/>
        </p:nvSpPr>
        <p:spPr>
          <a:xfrm>
            <a:off x="2546604" y="2212848"/>
            <a:ext cx="0" cy="1399032"/>
          </a:xfrm>
          <a:prstGeom prst="line">
            <a:avLst/>
          </a:prstGeom>
          <a:noFill/>
          <a:ln w="13716">
            <a:solidFill>
              <a:srgbClr val="D9F201"/>
            </a:solidFill>
            <a:prstDash val="dash"/>
          </a:ln>
        </p:spPr>
      </p:sp>
      <p:sp>
        <p:nvSpPr>
          <p:cNvPr id="31" name="Shape 28"/>
          <p:cNvSpPr/>
          <p:nvPr/>
        </p:nvSpPr>
        <p:spPr>
          <a:xfrm>
            <a:off x="5655564" y="2212848"/>
            <a:ext cx="0" cy="1399032"/>
          </a:xfrm>
          <a:prstGeom prst="line">
            <a:avLst/>
          </a:prstGeom>
          <a:noFill/>
          <a:ln w="13716">
            <a:solidFill>
              <a:srgbClr val="D9F201"/>
            </a:solidFill>
            <a:prstDash val="dash"/>
          </a:ln>
        </p:spPr>
      </p:sp>
      <p:sp>
        <p:nvSpPr>
          <p:cNvPr id="32" name="Text 29"/>
          <p:cNvSpPr txBox="1"/>
          <p:nvPr/>
        </p:nvSpPr>
        <p:spPr>
          <a:xfrm>
            <a:off x="1540764" y="3684118"/>
            <a:ext cx="2011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2" b="1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await: the method pauses,</a:t>
            </a:r>
            <a:endParaRPr lang="en-US" sz="792" dirty="0"/>
          </a:p>
        </p:txBody>
      </p:sp>
      <p:sp>
        <p:nvSpPr>
          <p:cNvPr id="33" name="Text 30"/>
          <p:cNvSpPr txBox="1"/>
          <p:nvPr/>
        </p:nvSpPr>
        <p:spPr>
          <a:xfrm>
            <a:off x="1540764" y="3821278"/>
            <a:ext cx="2011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2" b="1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thread goes back</a:t>
            </a:r>
            <a:endParaRPr lang="en-US" sz="792" dirty="0"/>
          </a:p>
        </p:txBody>
      </p:sp>
      <p:sp>
        <p:nvSpPr>
          <p:cNvPr id="34" name="Text 31"/>
          <p:cNvSpPr txBox="1"/>
          <p:nvPr/>
        </p:nvSpPr>
        <p:spPr>
          <a:xfrm>
            <a:off x="4649724" y="3684118"/>
            <a:ext cx="2011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2" b="1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arrives: the method</a:t>
            </a:r>
            <a:endParaRPr lang="en-US" sz="792" dirty="0"/>
          </a:p>
        </p:txBody>
      </p:sp>
      <p:sp>
        <p:nvSpPr>
          <p:cNvPr id="35" name="Text 32"/>
          <p:cNvSpPr txBox="1"/>
          <p:nvPr/>
        </p:nvSpPr>
        <p:spPr>
          <a:xfrm>
            <a:off x="4649724" y="3821278"/>
            <a:ext cx="2011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2" b="1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continues, maybe elsewhere</a:t>
            </a:r>
            <a:endParaRPr lang="en-US" sz="792" dirty="0"/>
          </a:p>
        </p:txBody>
      </p:sp>
      <p:sp>
        <p:nvSpPr>
          <p:cNvPr id="36" name="Shape 33"/>
          <p:cNvSpPr/>
          <p:nvPr/>
        </p:nvSpPr>
        <p:spPr>
          <a:xfrm>
            <a:off x="1508760" y="4251960"/>
            <a:ext cx="5623560" cy="0"/>
          </a:xfrm>
          <a:prstGeom prst="line">
            <a:avLst/>
          </a:prstGeom>
          <a:noFill/>
          <a:ln w="18288">
            <a:solidFill>
              <a:srgbClr val="9AA095"/>
            </a:solidFill>
            <a:prstDash val="solid"/>
            <a:tailEnd type="triangle" w="lg" len="lg"/>
          </a:ln>
        </p:spPr>
      </p:sp>
      <p:sp>
        <p:nvSpPr>
          <p:cNvPr id="37" name="Text 34"/>
          <p:cNvSpPr txBox="1"/>
          <p:nvPr/>
        </p:nvSpPr>
        <p:spPr>
          <a:xfrm>
            <a:off x="6217920" y="4314139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9AA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864" dirty="0"/>
          </a:p>
        </p:txBody>
      </p:sp>
      <p:sp>
        <p:nvSpPr>
          <p:cNvPr id="38" name="Text 35"/>
          <p:cNvSpPr txBox="1"/>
          <p:nvPr/>
        </p:nvSpPr>
        <p:spPr>
          <a:xfrm>
            <a:off x="502920" y="4700473"/>
            <a:ext cx="8229600" cy="198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Blocking holds a thread while nothing happens. await gives it back until there is something to do.</a:t>
            </a:r>
            <a:endParaRPr lang="en-US" sz="104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366760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499348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31936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366760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99348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31936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66760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99348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31936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" y="47594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Programming · Lecture 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45720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— RUN IT LIVE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72237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wait, different thread</a:t>
            </a:r>
            <a:endParaRPr lang="en-US" sz="3200" dirty="0"/>
          </a:p>
        </p:txBody>
      </p:sp>
      <p:sp>
        <p:nvSpPr>
          <p:cNvPr id="15" name="Shape 12"/>
          <p:cNvSpPr/>
          <p:nvPr/>
        </p:nvSpPr>
        <p:spPr>
          <a:xfrm>
            <a:off x="566928" y="1444752"/>
            <a:ext cx="8010144" cy="2506472"/>
          </a:xfrm>
          <a:prstGeom prst="roundRect">
            <a:avLst>
              <a:gd name="adj" fmla="val 1824"/>
            </a:avLst>
          </a:prstGeom>
          <a:solidFill>
            <a:srgbClr val="141613"/>
          </a:solidFill>
          <a:ln w="12700">
            <a:solidFill>
              <a:srgbClr val="1F231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1627632"/>
            <a:ext cx="7498080" cy="218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WriteLine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$"before Sleep : thread {Environment.CurrentManagedThreadId}"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               </a:t>
            </a:r>
            <a:r>
              <a:rPr lang="en-US" sz="1200" dirty="0">
                <a:solidFill>
                  <a:srgbClr val="5E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this thread is blocked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WriteLine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$"after Sleep  : thread {Environment.CurrentManagedThreadId}"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WriteLine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$"before await : thread {Environment.CurrentManagedThreadId}"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D9F2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           </a:t>
            </a:r>
            <a:r>
              <a:rPr lang="en-US" sz="1200" dirty="0">
                <a:solidFill>
                  <a:srgbClr val="5E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thread waits here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WriteLine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$"after await  : thread {Environment.CurrentManagedThreadId}"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D9F2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before Sleep : thread 1        before await : thread 1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D9F2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after Sleep  : thread 1        after await  : thread 5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66928" y="4115816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await, the method continued on whichever pool thread was free.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366760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499348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31936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366760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99348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31936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66760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99348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31936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" y="47594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Programming · Lecture 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45720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72237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await does</a:t>
            </a:r>
            <a:endParaRPr lang="en-US" sz="3200" dirty="0"/>
          </a:p>
        </p:txBody>
      </p:sp>
      <p:sp>
        <p:nvSpPr>
          <p:cNvPr id="15" name="Shape 12"/>
          <p:cNvSpPr/>
          <p:nvPr/>
        </p:nvSpPr>
        <p:spPr>
          <a:xfrm>
            <a:off x="566928" y="1481328"/>
            <a:ext cx="2542032" cy="2487168"/>
          </a:xfrm>
          <a:prstGeom prst="roundRect">
            <a:avLst>
              <a:gd name="adj" fmla="val 1838"/>
            </a:avLst>
          </a:prstGeom>
          <a:solidFill>
            <a:srgbClr val="141613"/>
          </a:solidFill>
          <a:ln w="12700">
            <a:solidFill>
              <a:srgbClr val="1F231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86384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86384" y="2139696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as usual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86384" y="2514600"/>
            <a:ext cx="2130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Until the first await, an async method runs like any other method, on the caller's thread.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300984" y="1481328"/>
            <a:ext cx="2542032" cy="2487168"/>
          </a:xfrm>
          <a:prstGeom prst="roundRect">
            <a:avLst>
              <a:gd name="adj" fmla="val 1838"/>
            </a:avLst>
          </a:prstGeom>
          <a:solidFill>
            <a:srgbClr val="141613"/>
          </a:solidFill>
          <a:ln w="19050">
            <a:solidFill>
              <a:srgbClr val="D9F20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52044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3520440" y="2139696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Pauses and returns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3520440" y="2514600"/>
            <a:ext cx="2130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awaited task is not finished, the method remembers where it stopped and returns. The thread is free.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035040" y="1481328"/>
            <a:ext cx="2542032" cy="2487168"/>
          </a:xfrm>
          <a:prstGeom prst="roundRect">
            <a:avLst>
              <a:gd name="adj" fmla="val 1838"/>
            </a:avLst>
          </a:prstGeom>
          <a:solidFill>
            <a:srgbClr val="141613"/>
          </a:solidFill>
          <a:ln w="12700">
            <a:solidFill>
              <a:srgbClr val="1F231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254496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6254496" y="2139696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Continues later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6254496" y="2514600"/>
            <a:ext cx="2130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task finishes, the rest of the method runs on a pool thread, from where it stopped.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66928" y="4370832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does not start a thread. It lets a method wait without holding one.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366760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499348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31936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366760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99348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31936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66760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99348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31936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" y="47594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Programming · Lecture 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45720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TASK.WHENALL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72237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first, await later</a:t>
            </a:r>
            <a:endParaRPr lang="en-US" sz="3200" dirty="0"/>
          </a:p>
        </p:txBody>
      </p:sp>
      <p:sp>
        <p:nvSpPr>
          <p:cNvPr id="15" name="Shape 12"/>
          <p:cNvSpPr/>
          <p:nvPr/>
        </p:nvSpPr>
        <p:spPr>
          <a:xfrm>
            <a:off x="566928" y="1444752"/>
            <a:ext cx="8010144" cy="2633472"/>
          </a:xfrm>
          <a:prstGeom prst="roundRect">
            <a:avLst>
              <a:gd name="adj" fmla="val 1736"/>
            </a:avLst>
          </a:prstGeom>
          <a:solidFill>
            <a:srgbClr val="141613"/>
          </a:solidFill>
          <a:ln w="12700">
            <a:solidFill>
              <a:srgbClr val="1F231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1627632"/>
            <a:ext cx="7498080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E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one after another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D9F2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= </a:t>
            </a:r>
            <a:r>
              <a:rPr lang="en-US" sz="1350" dirty="0">
                <a:solidFill>
                  <a:srgbClr val="D9F2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DownloadAsync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D9F2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= </a:t>
            </a:r>
            <a:r>
              <a:rPr lang="en-US" sz="1350" dirty="0">
                <a:solidFill>
                  <a:srgbClr val="D9F2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DownloadAsync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D9F2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 = </a:t>
            </a:r>
            <a:r>
              <a:rPr lang="en-US" sz="1350" dirty="0">
                <a:solidFill>
                  <a:srgbClr val="D9F2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DownloadAsync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"c"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       </a:t>
            </a:r>
            <a:r>
              <a:rPr lang="en-US" sz="1350" dirty="0">
                <a:solidFill>
                  <a:srgbClr val="FF5A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3 011 ms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E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start all three, then wait for all of them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50" dirty="0">
                <a:solidFill>
                  <a:srgbClr val="D9F2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ta = </a:t>
            </a:r>
            <a:r>
              <a:rPr lang="en-US" sz="135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DownloadAsync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50" dirty="0">
                <a:solidFill>
                  <a:srgbClr val="D9F2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tb = </a:t>
            </a:r>
            <a:r>
              <a:rPr lang="en-US" sz="135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DownloadAsync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50" dirty="0">
                <a:solidFill>
                  <a:srgbClr val="D9F2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tc = </a:t>
            </a:r>
            <a:r>
              <a:rPr lang="en-US" sz="135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DownloadAsync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"c"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D9F2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all = </a:t>
            </a:r>
            <a:r>
              <a:rPr lang="en-US" sz="1350" dirty="0">
                <a:solidFill>
                  <a:srgbClr val="D9F2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WhenAll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(ta, tb, tc);     </a:t>
            </a:r>
            <a:r>
              <a:rPr lang="en-US" sz="1350" dirty="0">
                <a:solidFill>
                  <a:srgbClr val="D9F2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1 000 ms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566928" y="4242816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DownloadAsync only awaits Task.Delay(1000). Waits that overlap take as long as the longest one.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366760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499348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31936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366760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99348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31936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66760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99348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31936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" y="47594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Programming · Lecture 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45720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SERVERS CARE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72237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clients waiting 1 second</a:t>
            </a:r>
            <a:endParaRPr lang="en-US" sz="3200" dirty="0"/>
          </a:p>
        </p:txBody>
      </p:sp>
      <p:sp>
        <p:nvSpPr>
          <p:cNvPr id="15" name="Shape 12"/>
          <p:cNvSpPr/>
          <p:nvPr/>
        </p:nvSpPr>
        <p:spPr>
          <a:xfrm>
            <a:off x="566928" y="1463040"/>
            <a:ext cx="3931920" cy="2578608"/>
          </a:xfrm>
          <a:prstGeom prst="roundRect">
            <a:avLst>
              <a:gd name="adj" fmla="val 1773"/>
            </a:avLst>
          </a:prstGeom>
          <a:solidFill>
            <a:srgbClr val="141613"/>
          </a:solidFill>
          <a:ln w="19050">
            <a:solidFill>
              <a:srgbClr val="FF5A5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16642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THREADS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19202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Thread.Sleep(1000)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23317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1 123 ms</a:t>
            </a:r>
            <a:endParaRPr lang="en-US" sz="36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28529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time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31272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1 009</a:t>
            </a:r>
            <a:endParaRPr lang="en-US" sz="36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364845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threads in the process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663440" y="1463040"/>
            <a:ext cx="3913632" cy="2578608"/>
          </a:xfrm>
          <a:prstGeom prst="roundRect">
            <a:avLst>
              <a:gd name="adj" fmla="val 1773"/>
            </a:avLst>
          </a:prstGeom>
          <a:solidFill>
            <a:srgbClr val="141613"/>
          </a:solidFill>
          <a:ln w="19050">
            <a:solidFill>
              <a:srgbClr val="D9F20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919472" y="16642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AWAITS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919472" y="19202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Task.Delay(1000)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4919472" y="23317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1 006 ms</a:t>
            </a:r>
            <a:endParaRPr lang="en-US" sz="3600" dirty="0"/>
          </a:p>
        </p:txBody>
      </p:sp>
      <p:sp>
        <p:nvSpPr>
          <p:cNvPr id="26" name="Text 23"/>
          <p:cNvSpPr txBox="1"/>
          <p:nvPr/>
        </p:nvSpPr>
        <p:spPr>
          <a:xfrm>
            <a:off x="4919472" y="28529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time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919472" y="31272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3600" dirty="0"/>
          </a:p>
        </p:txBody>
      </p:sp>
      <p:sp>
        <p:nvSpPr>
          <p:cNvPr id="28" name="Text 25"/>
          <p:cNvSpPr txBox="1"/>
          <p:nvPr/>
        </p:nvSpPr>
        <p:spPr>
          <a:xfrm>
            <a:off x="4919472" y="364845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threads in the process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4370832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time, a hundred times fewer threads. This is how one server keeps thousands of connections.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366760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499348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31936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366760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99348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31936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66760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99348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31936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" y="47594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Programming · Lecture 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45720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I/O-BOUND VS CPU-BOUND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72237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vs computing</a:t>
            </a:r>
            <a:endParaRPr lang="en-US" sz="3200" dirty="0"/>
          </a:p>
        </p:txBody>
      </p:sp>
      <p:sp>
        <p:nvSpPr>
          <p:cNvPr id="15" name="Shape 12"/>
          <p:cNvSpPr/>
          <p:nvPr/>
        </p:nvSpPr>
        <p:spPr>
          <a:xfrm>
            <a:off x="566928" y="1463040"/>
            <a:ext cx="3931920" cy="2697480"/>
          </a:xfrm>
          <a:prstGeom prst="roundRect">
            <a:avLst>
              <a:gd name="adj" fmla="val 1695"/>
            </a:avLst>
          </a:prstGeom>
          <a:solidFill>
            <a:srgbClr val="141613"/>
          </a:solidFill>
          <a:ln w="19050">
            <a:solidFill>
              <a:srgbClr val="D9F20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16642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I/O-BOUND: WAITING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2011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9F2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text = </a:t>
            </a:r>
            <a:r>
              <a:rPr lang="en-US" sz="1200" dirty="0">
                <a:solidFill>
                  <a:srgbClr val="D9F2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 err="1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</a:t>
            </a:r>
            <a:r>
              <a:rPr lang="en-US" sz="120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 err="1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ReadAllTextAsync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(path);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2724912"/>
            <a:ext cx="34198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85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Network, disk, timers.</a:t>
            </a:r>
            <a:endParaRPr lang="en-US" sz="1300" dirty="0"/>
          </a:p>
          <a:p>
            <a:pPr marL="342900" indent="-342900">
              <a:lnSpc>
                <a:spcPts val="1885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thread is held while the data travels.</a:t>
            </a:r>
            <a:endParaRPr lang="en-US" sz="1300" dirty="0"/>
          </a:p>
          <a:p>
            <a:pPr marL="342900" indent="-342900">
              <a:lnSpc>
                <a:spcPts val="1885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waits cost almost nothing.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663440" y="1463040"/>
            <a:ext cx="3913632" cy="2697480"/>
          </a:xfrm>
          <a:prstGeom prst="roundRect">
            <a:avLst>
              <a:gd name="adj" fmla="val 1695"/>
            </a:avLst>
          </a:prstGeom>
          <a:solidFill>
            <a:srgbClr val="141613"/>
          </a:solidFill>
          <a:ln w="12700">
            <a:solidFill>
              <a:srgbClr val="1F231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919472" y="16642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CPU-BOUND: COMPUTING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919472" y="2011680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9F2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primes = </a:t>
            </a:r>
            <a:r>
              <a:rPr lang="en-US" sz="1200" dirty="0">
                <a:solidFill>
                  <a:srgbClr val="D9F2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() =&gt; </a:t>
            </a:r>
            <a:r>
              <a:rPr lang="en-US" sz="120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CountPrimes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(max));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919472" y="2724912"/>
            <a:ext cx="34015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85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Parsing, sorting, counting.</a:t>
            </a:r>
            <a:endParaRPr lang="en-US" sz="1300" dirty="0"/>
          </a:p>
          <a:p>
            <a:pPr marL="342900" indent="-342900">
              <a:lnSpc>
                <a:spcPts val="1885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 core for the whole time.</a:t>
            </a:r>
            <a:endParaRPr lang="en-US" sz="1300" dirty="0"/>
          </a:p>
          <a:p>
            <a:pPr marL="342900" indent="-342900">
              <a:lnSpc>
                <a:spcPts val="1885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Task.Run moves it to a pool thread; await waits for the result.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4370832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 does not make work faster. It makes waiting cheap.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366760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499348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31936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366760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99348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31936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66760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99348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31936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" y="47594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Programming · Lecture 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45720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72237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rules for await</a:t>
            </a:r>
            <a:endParaRPr lang="en-US" sz="3200" dirty="0"/>
          </a:p>
        </p:txBody>
      </p:sp>
      <p:sp>
        <p:nvSpPr>
          <p:cNvPr id="15" name="Shape 12"/>
          <p:cNvSpPr/>
          <p:nvPr/>
        </p:nvSpPr>
        <p:spPr>
          <a:xfrm>
            <a:off x="566928" y="1517904"/>
            <a:ext cx="45720" cy="548640"/>
          </a:xfrm>
          <a:prstGeom prst="rect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8096" y="15179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Async all the way.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68096" y="1783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block on a task with .Result or .Wait(): the thread is held, and in UI apps it can deadlock.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66928" y="2304288"/>
            <a:ext cx="45720" cy="548640"/>
          </a:xfrm>
          <a:prstGeom prst="rect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68096" y="23042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Never write async void.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68096" y="25694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can await it, and an exception inside it crashes the process. Return Task.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66928" y="3090672"/>
            <a:ext cx="45720" cy="548640"/>
          </a:xfrm>
          <a:prstGeom prst="rect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68096" y="30906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Task.Run for computing, await for I/O.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68096" y="33558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I/O needs no thread of its own. Wrapping it in Task.Run just wastes one.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4370832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1 is lecture 2's rule again: never block a pool thread.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 rot="2700000">
            <a:off x="-13716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2700000">
            <a:off x="-6858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rot="2700000">
            <a:off x="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rot="2700000">
            <a:off x="6858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rot="2700000">
            <a:off x="13716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rot="2700000">
            <a:off x="20574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2700000">
            <a:off x="27432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rot="2700000">
            <a:off x="34290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2700000">
            <a:off x="41148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2700000">
            <a:off x="48006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2700000">
            <a:off x="54864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2700000">
            <a:off x="61722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2700000">
            <a:off x="68580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-1463040" y="3200400"/>
            <a:ext cx="3291840" cy="329184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-1051560" y="3611880"/>
            <a:ext cx="2468880" cy="246888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-640080" y="4023360"/>
            <a:ext cx="1645920" cy="164592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-228600" y="4434840"/>
            <a:ext cx="822960" cy="82296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rot="5400000">
            <a:off x="8321040" y="457200"/>
            <a:ext cx="411480" cy="411480"/>
          </a:xfrm>
          <a:prstGeom prst="triangl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38160" y="4206240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70748" y="4206240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403336" y="4206240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535924" y="4206240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138160" y="4338828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70748" y="4338828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403336" y="4338828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535924" y="4338828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138160" y="4471416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270748" y="4471416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403336" y="4471416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535924" y="4471416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66928" y="16002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600" dirty="0"/>
          </a:p>
        </p:txBody>
      </p:sp>
      <p:sp>
        <p:nvSpPr>
          <p:cNvPr id="34" name="Text 31"/>
          <p:cNvSpPr txBox="1"/>
          <p:nvPr/>
        </p:nvSpPr>
        <p:spPr>
          <a:xfrm>
            <a:off x="2514600" y="187452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Thread-safe collections</a:t>
            </a:r>
            <a:endParaRPr lang="en-US" sz="3400" dirty="0"/>
          </a:p>
        </p:txBody>
      </p:sp>
      <p:sp>
        <p:nvSpPr>
          <p:cNvPr id="35" name="Text 32"/>
          <p:cNvSpPr txBox="1"/>
          <p:nvPr/>
        </p:nvSpPr>
        <p:spPr>
          <a:xfrm>
            <a:off x="2542032" y="257860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producer–consumer: the design behind Lab 1c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366760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499348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31936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366760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99348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31936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66760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99348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31936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" y="47594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Programming · Lecture 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45720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THREAD-SAFE COLLECTIONS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72237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 built for many threads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151790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ConcurrentQueue&lt;T&gt;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270248" y="151790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in, first out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66928" y="1920240"/>
            <a:ext cx="8010144" cy="10973"/>
          </a:xfrm>
          <a:prstGeom prst="rect">
            <a:avLst/>
          </a:prstGeom>
          <a:solidFill>
            <a:srgbClr val="1F231B"/>
          </a:solidFill>
          <a:ln w="12700">
            <a:solidFill>
              <a:srgbClr val="1F231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66928" y="202996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ConcurrentStack&lt;T&gt;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270248" y="202996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in, first out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66928" y="2432304"/>
            <a:ext cx="8010144" cy="10973"/>
          </a:xfrm>
          <a:prstGeom prst="rect">
            <a:avLst/>
          </a:prstGeom>
          <a:solidFill>
            <a:srgbClr val="1F231B"/>
          </a:solidFill>
          <a:ln w="12700">
            <a:solidFill>
              <a:srgbClr val="1F231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66928" y="254203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ConcurrentBag&lt;T&gt;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270248" y="254203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order at all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66928" y="2944368"/>
            <a:ext cx="8010144" cy="10973"/>
          </a:xfrm>
          <a:prstGeom prst="rect">
            <a:avLst/>
          </a:prstGeom>
          <a:solidFill>
            <a:srgbClr val="1F231B"/>
          </a:solidFill>
          <a:ln w="12700">
            <a:solidFill>
              <a:srgbClr val="1F231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66928" y="305409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ConcurrentDictionary&lt;K, V&gt;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4270248" y="305409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→ value; every single call is atomic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66928" y="3456432"/>
            <a:ext cx="8010144" cy="10973"/>
          </a:xfrm>
          <a:prstGeom prst="rect">
            <a:avLst/>
          </a:prstGeom>
          <a:solidFill>
            <a:srgbClr val="1F231B"/>
          </a:solidFill>
          <a:ln w="12700">
            <a:solidFill>
              <a:srgbClr val="1F231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66928" y="4370832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lost items from a List&lt;T&gt;. Ex04 fills a ConcurrentBag from 4 tasks, no lock: nothing is lost.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366760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499348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31936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366760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99348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31936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66760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99348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31936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" y="47594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Programming · Lecture 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45720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CONCURRENTDICTIONARY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72237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call, not two</a:t>
            </a:r>
            <a:endParaRPr lang="en-US" sz="3200" dirty="0"/>
          </a:p>
        </p:txBody>
      </p:sp>
      <p:sp>
        <p:nvSpPr>
          <p:cNvPr id="15" name="Shape 12"/>
          <p:cNvSpPr/>
          <p:nvPr/>
        </p:nvSpPr>
        <p:spPr>
          <a:xfrm>
            <a:off x="566928" y="1463040"/>
            <a:ext cx="45720" cy="768096"/>
          </a:xfrm>
          <a:prstGeom prst="rect">
            <a:avLst/>
          </a:prstGeom>
          <a:solidFill>
            <a:srgbClr val="FF5A54"/>
          </a:solidFill>
          <a:ln w="12700">
            <a:solidFill>
              <a:srgbClr val="FF5A5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8096" y="14538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new value depends on the old one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68096" y="174650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d[k] = d[k] + </a:t>
            </a:r>
            <a:r>
              <a:rPr lang="en-US" sz="130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68096" y="199339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 task can write between the read and the write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66928" y="2395728"/>
            <a:ext cx="45720" cy="768096"/>
          </a:xfrm>
          <a:prstGeom prst="rect">
            <a:avLst/>
          </a:prstGeom>
          <a:solidFill>
            <a:srgbClr val="FF5A54"/>
          </a:solidFill>
          <a:ln w="12700">
            <a:solidFill>
              <a:srgbClr val="FF5A5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68096" y="23865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Check, then read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68096" y="267919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F2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(d.</a:t>
            </a:r>
            <a:r>
              <a:rPr lang="en-US" sz="130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ContainsKey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(k)) v = d[k];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68096" y="29260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can be removed between the check and the read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66928" y="3328416"/>
            <a:ext cx="45720" cy="768096"/>
          </a:xfrm>
          <a:prstGeom prst="rect">
            <a:avLst/>
          </a:prstGeom>
          <a:solidFill>
            <a:srgbClr val="FF5A54"/>
          </a:solidFill>
          <a:ln w="12700">
            <a:solidFill>
              <a:srgbClr val="FF5A5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68096" y="33192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Check, then write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68096" y="36118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F2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(!d.</a:t>
            </a:r>
            <a:r>
              <a:rPr lang="en-US" sz="130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ContainsKey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(k)) d[k] = v;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68096" y="38587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tasks can both see "missing", and both write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66928" y="4370832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single call is atomic; two calls in a row are not. Do the whole step in one call.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02920" y="233172"/>
            <a:ext cx="7772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- CONSUMER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258672" y="1960474"/>
            <a:ext cx="225857" cy="225857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6" name="figLine"/>
          <p:cNvSpPr/>
          <p:nvPr/>
        </p:nvSpPr>
        <p:spPr>
          <a:xfrm>
            <a:off x="1371600" y="2203704"/>
            <a:ext cx="0" cy="277978"/>
          </a:xfrm>
          <a:prstGeom prst="line">
            <a:avLst/>
          </a:prstGeom>
          <a:noFill/>
          <a:ln w="65151" cap="rnd">
            <a:solidFill>
              <a:srgbClr val="D9F201"/>
            </a:solidFill>
            <a:prstDash val="solid"/>
          </a:ln>
        </p:spPr>
      </p:sp>
      <p:sp>
        <p:nvSpPr>
          <p:cNvPr id="7" name="figLine"/>
          <p:cNvSpPr/>
          <p:nvPr/>
        </p:nvSpPr>
        <p:spPr>
          <a:xfrm flipH="1">
            <a:off x="1163117" y="2255825"/>
            <a:ext cx="208483" cy="156362"/>
          </a:xfrm>
          <a:prstGeom prst="line">
            <a:avLst/>
          </a:prstGeom>
          <a:noFill/>
          <a:ln w="65151" cap="rnd">
            <a:solidFill>
              <a:srgbClr val="D9F201"/>
            </a:solidFill>
            <a:prstDash val="solid"/>
          </a:ln>
        </p:spPr>
      </p:sp>
      <p:sp>
        <p:nvSpPr>
          <p:cNvPr id="8" name="figLine"/>
          <p:cNvSpPr/>
          <p:nvPr/>
        </p:nvSpPr>
        <p:spPr>
          <a:xfrm>
            <a:off x="1371600" y="2255825"/>
            <a:ext cx="208483" cy="156362"/>
          </a:xfrm>
          <a:prstGeom prst="line">
            <a:avLst/>
          </a:prstGeom>
          <a:noFill/>
          <a:ln w="65151" cap="rnd">
            <a:solidFill>
              <a:srgbClr val="D9F201"/>
            </a:solidFill>
            <a:prstDash val="solid"/>
          </a:ln>
        </p:spPr>
      </p:sp>
      <p:sp>
        <p:nvSpPr>
          <p:cNvPr id="9" name="figLine"/>
          <p:cNvSpPr/>
          <p:nvPr/>
        </p:nvSpPr>
        <p:spPr>
          <a:xfrm flipH="1">
            <a:off x="1197864" y="2481682"/>
            <a:ext cx="173736" cy="277978"/>
          </a:xfrm>
          <a:prstGeom prst="line">
            <a:avLst/>
          </a:prstGeom>
          <a:noFill/>
          <a:ln w="65151" cap="rnd">
            <a:solidFill>
              <a:srgbClr val="D9F201"/>
            </a:solidFill>
            <a:prstDash val="solid"/>
          </a:ln>
        </p:spPr>
      </p:sp>
      <p:sp>
        <p:nvSpPr>
          <p:cNvPr id="10" name="figLine"/>
          <p:cNvSpPr/>
          <p:nvPr/>
        </p:nvSpPr>
        <p:spPr>
          <a:xfrm>
            <a:off x="1371600" y="2481682"/>
            <a:ext cx="173736" cy="277978"/>
          </a:xfrm>
          <a:prstGeom prst="line">
            <a:avLst/>
          </a:prstGeom>
          <a:noFill/>
          <a:ln w="65151" cap="rnd">
            <a:solidFill>
              <a:srgbClr val="D9F20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968142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</a:t>
            </a:r>
            <a:endParaRPr lang="en-US" sz="1008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169950"/>
            <a:ext cx="16459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2" dirty="0">
                <a:solidFill>
                  <a:srgbClr val="9AA0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endParaRPr lang="en-US" sz="792" dirty="0"/>
          </a:p>
        </p:txBody>
      </p:sp>
      <p:sp>
        <p:nvSpPr>
          <p:cNvPr id="13" name="Text 10"/>
          <p:cNvSpPr txBox="1"/>
          <p:nvPr/>
        </p:nvSpPr>
        <p:spPr>
          <a:xfrm>
            <a:off x="2834640" y="1809598"/>
            <a:ext cx="3200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2" b="1" kern="0" spc="72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</a:t>
            </a:r>
            <a:endParaRPr lang="en-US" sz="792" dirty="0"/>
          </a:p>
        </p:txBody>
      </p:sp>
      <p:sp>
        <p:nvSpPr>
          <p:cNvPr id="14" name="Shape 11"/>
          <p:cNvSpPr/>
          <p:nvPr/>
        </p:nvSpPr>
        <p:spPr>
          <a:xfrm>
            <a:off x="2761488" y="1984248"/>
            <a:ext cx="3072384" cy="786384"/>
          </a:xfrm>
          <a:prstGeom prst="roundRect">
            <a:avLst>
              <a:gd name="adj" fmla="val 9302"/>
            </a:avLst>
          </a:prstGeom>
          <a:solidFill>
            <a:srgbClr val="0E100C"/>
          </a:solidFill>
          <a:ln w="11430">
            <a:solidFill>
              <a:srgbClr val="D9F20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34640" y="2057400"/>
            <a:ext cx="530352" cy="640080"/>
          </a:xfrm>
          <a:prstGeom prst="roundRect">
            <a:avLst>
              <a:gd name="adj" fmla="val 8621"/>
            </a:avLst>
          </a:prstGeom>
          <a:solidFill>
            <a:srgbClr val="000000">
              <a:alpha val="0"/>
            </a:srgbClr>
          </a:solidFill>
          <a:ln w="9144">
            <a:solidFill>
              <a:srgbClr val="3A3E33"/>
            </a:solidFill>
            <a:prstDash val="dash"/>
          </a:ln>
        </p:spPr>
      </p:sp>
      <p:sp>
        <p:nvSpPr>
          <p:cNvPr id="16" name="Text 13"/>
          <p:cNvSpPr txBox="1"/>
          <p:nvPr/>
        </p:nvSpPr>
        <p:spPr>
          <a:xfrm>
            <a:off x="2834640" y="2312518"/>
            <a:ext cx="53035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2" dirty="0">
                <a:solidFill>
                  <a:srgbClr val="9AA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792" dirty="0"/>
          </a:p>
        </p:txBody>
      </p:sp>
      <p:sp>
        <p:nvSpPr>
          <p:cNvPr id="17" name="Shape 14"/>
          <p:cNvSpPr/>
          <p:nvPr/>
        </p:nvSpPr>
        <p:spPr>
          <a:xfrm>
            <a:off x="3429000" y="2057400"/>
            <a:ext cx="530352" cy="640080"/>
          </a:xfrm>
          <a:prstGeom prst="roundRect">
            <a:avLst>
              <a:gd name="adj" fmla="val 8621"/>
            </a:avLst>
          </a:prstGeom>
          <a:solidFill>
            <a:srgbClr val="000000">
              <a:alpha val="0"/>
            </a:srgbClr>
          </a:solidFill>
          <a:ln w="9144">
            <a:solidFill>
              <a:srgbClr val="3A3E33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3429000" y="2312518"/>
            <a:ext cx="53035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2" dirty="0">
                <a:solidFill>
                  <a:srgbClr val="9AA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792" dirty="0"/>
          </a:p>
        </p:txBody>
      </p:sp>
      <p:sp>
        <p:nvSpPr>
          <p:cNvPr id="19" name="Shape 16"/>
          <p:cNvSpPr/>
          <p:nvPr/>
        </p:nvSpPr>
        <p:spPr>
          <a:xfrm>
            <a:off x="4023360" y="2057400"/>
            <a:ext cx="530352" cy="640080"/>
          </a:xfrm>
          <a:prstGeom prst="roundRect">
            <a:avLst>
              <a:gd name="adj" fmla="val 8621"/>
            </a:avLst>
          </a:prstGeom>
          <a:solidFill>
            <a:srgbClr val="35E0C8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023360" y="2302459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3</a:t>
            </a:r>
            <a:endParaRPr lang="en-US" sz="864" dirty="0"/>
          </a:p>
        </p:txBody>
      </p:sp>
      <p:sp>
        <p:nvSpPr>
          <p:cNvPr id="21" name="Shape 18"/>
          <p:cNvSpPr/>
          <p:nvPr/>
        </p:nvSpPr>
        <p:spPr>
          <a:xfrm>
            <a:off x="4617720" y="2057400"/>
            <a:ext cx="530352" cy="640080"/>
          </a:xfrm>
          <a:prstGeom prst="roundRect">
            <a:avLst>
              <a:gd name="adj" fmla="val 8621"/>
            </a:avLst>
          </a:prstGeom>
          <a:solidFill>
            <a:srgbClr val="35E0C8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617720" y="2302459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2</a:t>
            </a:r>
            <a:endParaRPr lang="en-US" sz="864" dirty="0"/>
          </a:p>
        </p:txBody>
      </p:sp>
      <p:sp>
        <p:nvSpPr>
          <p:cNvPr id="23" name="Shape 20"/>
          <p:cNvSpPr/>
          <p:nvPr/>
        </p:nvSpPr>
        <p:spPr>
          <a:xfrm>
            <a:off x="5212080" y="2057400"/>
            <a:ext cx="530352" cy="640080"/>
          </a:xfrm>
          <a:prstGeom prst="roundRect">
            <a:avLst>
              <a:gd name="adj" fmla="val 8621"/>
            </a:avLst>
          </a:prstGeom>
          <a:solidFill>
            <a:srgbClr val="35E0C8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212080" y="2302459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1</a:t>
            </a:r>
            <a:endParaRPr lang="en-US" sz="864" dirty="0"/>
          </a:p>
        </p:txBody>
      </p:sp>
      <p:sp>
        <p:nvSpPr>
          <p:cNvPr id="25" name="Shape 22"/>
          <p:cNvSpPr/>
          <p:nvPr/>
        </p:nvSpPr>
        <p:spPr>
          <a:xfrm>
            <a:off x="1920240" y="2377440"/>
            <a:ext cx="777240" cy="0"/>
          </a:xfrm>
          <a:prstGeom prst="line">
            <a:avLst/>
          </a:prstGeom>
          <a:noFill/>
          <a:ln w="27432">
            <a:solidFill>
              <a:srgbClr val="D9F201"/>
            </a:solidFill>
            <a:prstDash val="solid"/>
            <a:tailEnd type="triangle" w="lg" len="lg"/>
          </a:ln>
        </p:spPr>
      </p:sp>
      <p:sp>
        <p:nvSpPr>
          <p:cNvPr id="26" name="Shape 23"/>
          <p:cNvSpPr/>
          <p:nvPr/>
        </p:nvSpPr>
        <p:spPr>
          <a:xfrm>
            <a:off x="5852160" y="2377440"/>
            <a:ext cx="731520" cy="0"/>
          </a:xfrm>
          <a:prstGeom prst="line">
            <a:avLst/>
          </a:prstGeom>
          <a:noFill/>
          <a:ln w="27432">
            <a:solidFill>
              <a:srgbClr val="9AA095"/>
            </a:solidFill>
            <a:prstDash val="solid"/>
            <a:tailEnd type="triangle" w="lg" len="lg"/>
          </a:ln>
        </p:spPr>
      </p:sp>
      <p:sp>
        <p:nvSpPr>
          <p:cNvPr id="27" name="Shape 24"/>
          <p:cNvSpPr/>
          <p:nvPr/>
        </p:nvSpPr>
        <p:spPr>
          <a:xfrm>
            <a:off x="7055053" y="1360627"/>
            <a:ext cx="154534" cy="1545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figLine"/>
          <p:cNvSpPr/>
          <p:nvPr/>
        </p:nvSpPr>
        <p:spPr>
          <a:xfrm>
            <a:off x="7132320" y="1527048"/>
            <a:ext cx="0" cy="190195"/>
          </a:xfrm>
          <a:prstGeom prst="line">
            <a:avLst/>
          </a:prstGeom>
          <a:noFill/>
          <a:ln w="44577" cap="rnd">
            <a:solidFill>
              <a:srgbClr val="FFFFFF"/>
            </a:solidFill>
            <a:prstDash val="solid"/>
          </a:ln>
        </p:spPr>
      </p:sp>
      <p:sp>
        <p:nvSpPr>
          <p:cNvPr id="29" name="figLine"/>
          <p:cNvSpPr/>
          <p:nvPr/>
        </p:nvSpPr>
        <p:spPr>
          <a:xfrm flipH="1">
            <a:off x="6989674" y="1562710"/>
            <a:ext cx="142646" cy="106985"/>
          </a:xfrm>
          <a:prstGeom prst="line">
            <a:avLst/>
          </a:prstGeom>
          <a:noFill/>
          <a:ln w="44577" cap="rnd">
            <a:solidFill>
              <a:srgbClr val="FFFFFF"/>
            </a:solidFill>
            <a:prstDash val="solid"/>
          </a:ln>
        </p:spPr>
      </p:sp>
      <p:sp>
        <p:nvSpPr>
          <p:cNvPr id="30" name="figLine"/>
          <p:cNvSpPr/>
          <p:nvPr/>
        </p:nvSpPr>
        <p:spPr>
          <a:xfrm>
            <a:off x="7132320" y="1562710"/>
            <a:ext cx="142646" cy="106985"/>
          </a:xfrm>
          <a:prstGeom prst="line">
            <a:avLst/>
          </a:prstGeom>
          <a:noFill/>
          <a:ln w="44577" cap="rnd">
            <a:solidFill>
              <a:srgbClr val="FFFFFF"/>
            </a:solidFill>
            <a:prstDash val="solid"/>
          </a:ln>
        </p:spPr>
      </p:sp>
      <p:sp>
        <p:nvSpPr>
          <p:cNvPr id="31" name="figLine"/>
          <p:cNvSpPr/>
          <p:nvPr/>
        </p:nvSpPr>
        <p:spPr>
          <a:xfrm flipH="1">
            <a:off x="7013448" y="1717243"/>
            <a:ext cx="118872" cy="190195"/>
          </a:xfrm>
          <a:prstGeom prst="line">
            <a:avLst/>
          </a:prstGeom>
          <a:noFill/>
          <a:ln w="44577" cap="rnd">
            <a:solidFill>
              <a:srgbClr val="FFFFFF"/>
            </a:solidFill>
            <a:prstDash val="solid"/>
          </a:ln>
        </p:spPr>
      </p:sp>
      <p:sp>
        <p:nvSpPr>
          <p:cNvPr id="32" name="figLine"/>
          <p:cNvSpPr/>
          <p:nvPr/>
        </p:nvSpPr>
        <p:spPr>
          <a:xfrm>
            <a:off x="7132320" y="1717243"/>
            <a:ext cx="118872" cy="190195"/>
          </a:xfrm>
          <a:prstGeom prst="line">
            <a:avLst/>
          </a:prstGeom>
          <a:noFill/>
          <a:ln w="44577" cap="rnd">
            <a:solidFill>
              <a:srgbClr val="FFFF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055053" y="2092147"/>
            <a:ext cx="154534" cy="1545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figLine"/>
          <p:cNvSpPr/>
          <p:nvPr/>
        </p:nvSpPr>
        <p:spPr>
          <a:xfrm>
            <a:off x="7132320" y="2258568"/>
            <a:ext cx="0" cy="190195"/>
          </a:xfrm>
          <a:prstGeom prst="line">
            <a:avLst/>
          </a:prstGeom>
          <a:noFill/>
          <a:ln w="44577" cap="rnd">
            <a:solidFill>
              <a:srgbClr val="FFFFFF"/>
            </a:solidFill>
            <a:prstDash val="solid"/>
          </a:ln>
        </p:spPr>
      </p:sp>
      <p:sp>
        <p:nvSpPr>
          <p:cNvPr id="35" name="figLine"/>
          <p:cNvSpPr/>
          <p:nvPr/>
        </p:nvSpPr>
        <p:spPr>
          <a:xfrm flipH="1">
            <a:off x="6989674" y="2294230"/>
            <a:ext cx="142646" cy="106985"/>
          </a:xfrm>
          <a:prstGeom prst="line">
            <a:avLst/>
          </a:prstGeom>
          <a:noFill/>
          <a:ln w="44577" cap="rnd">
            <a:solidFill>
              <a:srgbClr val="FFFFFF"/>
            </a:solidFill>
            <a:prstDash val="solid"/>
          </a:ln>
        </p:spPr>
      </p:sp>
      <p:sp>
        <p:nvSpPr>
          <p:cNvPr id="36" name="figLine"/>
          <p:cNvSpPr/>
          <p:nvPr/>
        </p:nvSpPr>
        <p:spPr>
          <a:xfrm>
            <a:off x="7132320" y="2294230"/>
            <a:ext cx="142646" cy="106985"/>
          </a:xfrm>
          <a:prstGeom prst="line">
            <a:avLst/>
          </a:prstGeom>
          <a:noFill/>
          <a:ln w="44577" cap="rnd">
            <a:solidFill>
              <a:srgbClr val="FFFFFF"/>
            </a:solidFill>
            <a:prstDash val="solid"/>
          </a:ln>
        </p:spPr>
      </p:sp>
      <p:sp>
        <p:nvSpPr>
          <p:cNvPr id="37" name="figLine"/>
          <p:cNvSpPr/>
          <p:nvPr/>
        </p:nvSpPr>
        <p:spPr>
          <a:xfrm flipH="1">
            <a:off x="7013448" y="2448763"/>
            <a:ext cx="118872" cy="190195"/>
          </a:xfrm>
          <a:prstGeom prst="line">
            <a:avLst/>
          </a:prstGeom>
          <a:noFill/>
          <a:ln w="44577" cap="rnd">
            <a:solidFill>
              <a:srgbClr val="FFFFFF"/>
            </a:solidFill>
            <a:prstDash val="solid"/>
          </a:ln>
        </p:spPr>
      </p:sp>
      <p:sp>
        <p:nvSpPr>
          <p:cNvPr id="38" name="figLine"/>
          <p:cNvSpPr/>
          <p:nvPr/>
        </p:nvSpPr>
        <p:spPr>
          <a:xfrm>
            <a:off x="7132320" y="2448763"/>
            <a:ext cx="118872" cy="190195"/>
          </a:xfrm>
          <a:prstGeom prst="line">
            <a:avLst/>
          </a:prstGeom>
          <a:noFill/>
          <a:ln w="44577" cap="rnd">
            <a:solidFill>
              <a:srgbClr val="FFFFF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055053" y="2823667"/>
            <a:ext cx="154534" cy="1545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figLine"/>
          <p:cNvSpPr/>
          <p:nvPr/>
        </p:nvSpPr>
        <p:spPr>
          <a:xfrm>
            <a:off x="7132320" y="2990088"/>
            <a:ext cx="0" cy="190195"/>
          </a:xfrm>
          <a:prstGeom prst="line">
            <a:avLst/>
          </a:prstGeom>
          <a:noFill/>
          <a:ln w="44577" cap="rnd">
            <a:solidFill>
              <a:srgbClr val="FFFFFF"/>
            </a:solidFill>
            <a:prstDash val="solid"/>
          </a:ln>
        </p:spPr>
      </p:sp>
      <p:sp>
        <p:nvSpPr>
          <p:cNvPr id="41" name="figLine"/>
          <p:cNvSpPr/>
          <p:nvPr/>
        </p:nvSpPr>
        <p:spPr>
          <a:xfrm flipH="1">
            <a:off x="6989674" y="3025750"/>
            <a:ext cx="142646" cy="106985"/>
          </a:xfrm>
          <a:prstGeom prst="line">
            <a:avLst/>
          </a:prstGeom>
          <a:noFill/>
          <a:ln w="44577" cap="rnd">
            <a:solidFill>
              <a:srgbClr val="FFFFFF"/>
            </a:solidFill>
            <a:prstDash val="solid"/>
          </a:ln>
        </p:spPr>
      </p:sp>
      <p:sp>
        <p:nvSpPr>
          <p:cNvPr id="42" name="figLine"/>
          <p:cNvSpPr/>
          <p:nvPr/>
        </p:nvSpPr>
        <p:spPr>
          <a:xfrm>
            <a:off x="7132320" y="3025750"/>
            <a:ext cx="142646" cy="106985"/>
          </a:xfrm>
          <a:prstGeom prst="line">
            <a:avLst/>
          </a:prstGeom>
          <a:noFill/>
          <a:ln w="44577" cap="rnd">
            <a:solidFill>
              <a:srgbClr val="FFFFFF"/>
            </a:solidFill>
            <a:prstDash val="solid"/>
          </a:ln>
        </p:spPr>
      </p:sp>
      <p:sp>
        <p:nvSpPr>
          <p:cNvPr id="43" name="figLine"/>
          <p:cNvSpPr/>
          <p:nvPr/>
        </p:nvSpPr>
        <p:spPr>
          <a:xfrm flipH="1">
            <a:off x="7013448" y="3180283"/>
            <a:ext cx="118872" cy="190195"/>
          </a:xfrm>
          <a:prstGeom prst="line">
            <a:avLst/>
          </a:prstGeom>
          <a:noFill/>
          <a:ln w="44577" cap="rnd">
            <a:solidFill>
              <a:srgbClr val="FFFFFF"/>
            </a:solidFill>
            <a:prstDash val="solid"/>
          </a:ln>
        </p:spPr>
      </p:sp>
      <p:sp>
        <p:nvSpPr>
          <p:cNvPr id="44" name="figLine"/>
          <p:cNvSpPr/>
          <p:nvPr/>
        </p:nvSpPr>
        <p:spPr>
          <a:xfrm>
            <a:off x="7132320" y="3180283"/>
            <a:ext cx="118872" cy="190195"/>
          </a:xfrm>
          <a:prstGeom prst="line">
            <a:avLst/>
          </a:prstGeom>
          <a:noFill/>
          <a:ln w="44577" cap="rnd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726680" y="2264054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</a:t>
            </a:r>
            <a:endParaRPr lang="en-US" sz="1008" dirty="0"/>
          </a:p>
        </p:txBody>
      </p:sp>
      <p:sp>
        <p:nvSpPr>
          <p:cNvPr id="46" name="Text 43"/>
          <p:cNvSpPr txBox="1"/>
          <p:nvPr/>
        </p:nvSpPr>
        <p:spPr>
          <a:xfrm>
            <a:off x="7726680" y="2465862"/>
            <a:ext cx="1371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2" dirty="0">
                <a:solidFill>
                  <a:srgbClr val="9AA0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</a:t>
            </a:r>
            <a:endParaRPr lang="en-US" sz="792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 rot="2700000">
            <a:off x="-13716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2700000">
            <a:off x="-6858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rot="2700000">
            <a:off x="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rot="2700000">
            <a:off x="6858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rot="2700000">
            <a:off x="13716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rot="2700000">
            <a:off x="20574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2700000">
            <a:off x="27432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rot="2700000">
            <a:off x="34290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2700000">
            <a:off x="41148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2700000">
            <a:off x="48006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2700000">
            <a:off x="54864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2700000">
            <a:off x="61722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2700000">
            <a:off x="68580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-1463040" y="3200400"/>
            <a:ext cx="3291840" cy="329184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-1051560" y="3611880"/>
            <a:ext cx="2468880" cy="246888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-640080" y="4023360"/>
            <a:ext cx="1645920" cy="164592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-228600" y="4434840"/>
            <a:ext cx="822960" cy="82296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rot="5400000">
            <a:off x="8321040" y="457200"/>
            <a:ext cx="411480" cy="411480"/>
          </a:xfrm>
          <a:prstGeom prst="triangl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38160" y="4206240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70748" y="4206240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403336" y="4206240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535924" y="4206240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138160" y="4338828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70748" y="4338828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403336" y="4338828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535924" y="4338828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138160" y="4471416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270748" y="4471416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403336" y="4471416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535924" y="4471416"/>
            <a:ext cx="50292" cy="50292"/>
          </a:xfrm>
          <a:prstGeom prst="ellipse">
            <a:avLst/>
          </a:prstGeom>
          <a:solidFill>
            <a:srgbClr val="5E6357"/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66928" y="16002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600" dirty="0"/>
          </a:p>
        </p:txBody>
      </p:sp>
      <p:sp>
        <p:nvSpPr>
          <p:cNvPr id="34" name="Text 31"/>
          <p:cNvSpPr txBox="1"/>
          <p:nvPr/>
        </p:nvSpPr>
        <p:spPr>
          <a:xfrm>
            <a:off x="2514600" y="187452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Waiting, stopping, failing</a:t>
            </a:r>
            <a:endParaRPr lang="en-US" sz="3400" dirty="0"/>
          </a:p>
        </p:txBody>
      </p:sp>
      <p:sp>
        <p:nvSpPr>
          <p:cNvPr id="35" name="Text 32"/>
          <p:cNvSpPr txBox="1"/>
          <p:nvPr/>
        </p:nvSpPr>
        <p:spPr>
          <a:xfrm>
            <a:off x="2542032" y="257860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Busy wait, volatile, cancellation, timeouts and exceptions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02920" y="233172"/>
            <a:ext cx="7772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WAIT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567842"/>
            <a:ext cx="7772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8" dirty="0">
                <a:solidFill>
                  <a:srgbClr val="9AA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thread waits for something that happens after 2 seconds</a:t>
            </a:r>
            <a:endParaRPr lang="en-US" sz="1008" dirty="0"/>
          </a:p>
        </p:txBody>
      </p:sp>
      <p:sp>
        <p:nvSpPr>
          <p:cNvPr id="5" name="Text 2"/>
          <p:cNvSpPr txBox="1"/>
          <p:nvPr/>
        </p:nvSpPr>
        <p:spPr>
          <a:xfrm>
            <a:off x="3474720" y="1087222"/>
            <a:ext cx="18288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2" b="1" kern="0" spc="36" dirty="0">
                <a:solidFill>
                  <a:srgbClr val="9AA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waiting</a:t>
            </a:r>
            <a:endParaRPr lang="en-US" sz="792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1087222"/>
            <a:ext cx="7315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2" b="1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792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389888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busy wait</a:t>
            </a:r>
            <a:endParaRPr lang="en-US" sz="108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1606235"/>
            <a:ext cx="2834640" cy="157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8" dirty="0">
                <a:solidFill>
                  <a:srgbClr val="9AA0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(!ready) { }</a:t>
            </a:r>
            <a:endParaRPr lang="en-US" sz="828" dirty="0"/>
          </a:p>
        </p:txBody>
      </p:sp>
      <p:sp>
        <p:nvSpPr>
          <p:cNvPr id="9" name="hatchR"/>
          <p:cNvSpPr/>
          <p:nvPr/>
        </p:nvSpPr>
        <p:spPr>
          <a:xfrm>
            <a:off x="3474720" y="1408176"/>
            <a:ext cx="3072384" cy="347472"/>
          </a:xfrm>
          <a:prstGeom prst="roundRect">
            <a:avLst>
              <a:gd name="adj" fmla="val 13158"/>
            </a:avLst>
          </a:prstGeom>
          <a:pattFill prst="wdUpDiag">
            <a:fgClr>
              <a:srgbClr val="6B2A27"/>
            </a:fgClr>
            <a:bgClr>
              <a:srgbClr val="1A0E0D"/>
            </a:bgClr>
          </a:pattFill>
          <a:ln w="9144">
            <a:solidFill>
              <a:srgbClr val="FF5A5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93008" y="1507846"/>
            <a:ext cx="307238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check, check, check ... 100% of a core</a:t>
            </a:r>
            <a:endParaRPr lang="en-US" sz="792" dirty="0"/>
          </a:p>
        </p:txBody>
      </p:sp>
      <p:sp>
        <p:nvSpPr>
          <p:cNvPr id="11" name="Text 8"/>
          <p:cNvSpPr txBox="1"/>
          <p:nvPr/>
        </p:nvSpPr>
        <p:spPr>
          <a:xfrm>
            <a:off x="6949440" y="1497787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F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core busy</a:t>
            </a:r>
            <a:endParaRPr lang="en-US" sz="864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2075688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in a loop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2291944"/>
            <a:ext cx="2834640" cy="157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8" dirty="0">
                <a:solidFill>
                  <a:srgbClr val="9AA0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(!ready) Sleep(50);</a:t>
            </a:r>
            <a:endParaRPr lang="en-US" sz="828" dirty="0"/>
          </a:p>
        </p:txBody>
      </p:sp>
      <p:sp>
        <p:nvSpPr>
          <p:cNvPr id="14" name="Shape 11"/>
          <p:cNvSpPr/>
          <p:nvPr/>
        </p:nvSpPr>
        <p:spPr>
          <a:xfrm>
            <a:off x="3474720" y="2093976"/>
            <a:ext cx="3072384" cy="347472"/>
          </a:xfrm>
          <a:prstGeom prst="roundRect">
            <a:avLst>
              <a:gd name="adj" fmla="val 13158"/>
            </a:avLst>
          </a:prstGeom>
          <a:solidFill>
            <a:srgbClr val="000000">
              <a:alpha val="0"/>
            </a:srgbClr>
          </a:solidFill>
          <a:ln w="9144">
            <a:solidFill>
              <a:srgbClr val="3A3E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66160" y="2148840"/>
            <a:ext cx="27432" cy="237744"/>
          </a:xfrm>
          <a:prstGeom prst="rect">
            <a:avLst/>
          </a:prstGeom>
          <a:solidFill>
            <a:srgbClr val="C9CFC0"/>
          </a:solidFill>
          <a:ln w="12700">
            <a:solidFill>
              <a:srgbClr val="C9CFC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794760" y="2148840"/>
            <a:ext cx="27432" cy="237744"/>
          </a:xfrm>
          <a:prstGeom prst="rect">
            <a:avLst/>
          </a:prstGeom>
          <a:solidFill>
            <a:srgbClr val="C9CFC0"/>
          </a:solidFill>
          <a:ln w="12700">
            <a:solidFill>
              <a:srgbClr val="C9CFC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23360" y="2148840"/>
            <a:ext cx="27432" cy="237744"/>
          </a:xfrm>
          <a:prstGeom prst="rect">
            <a:avLst/>
          </a:prstGeom>
          <a:solidFill>
            <a:srgbClr val="C9CFC0"/>
          </a:solidFill>
          <a:ln w="12700">
            <a:solidFill>
              <a:srgbClr val="C9CFC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51960" y="2148840"/>
            <a:ext cx="27432" cy="237744"/>
          </a:xfrm>
          <a:prstGeom prst="rect">
            <a:avLst/>
          </a:prstGeom>
          <a:solidFill>
            <a:srgbClr val="C9CFC0"/>
          </a:solidFill>
          <a:ln w="12700">
            <a:solidFill>
              <a:srgbClr val="C9CFC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480560" y="2148840"/>
            <a:ext cx="27432" cy="237744"/>
          </a:xfrm>
          <a:prstGeom prst="rect">
            <a:avLst/>
          </a:prstGeom>
          <a:solidFill>
            <a:srgbClr val="C9CFC0"/>
          </a:solidFill>
          <a:ln w="12700">
            <a:solidFill>
              <a:srgbClr val="C9CFC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09160" y="2148840"/>
            <a:ext cx="27432" cy="237744"/>
          </a:xfrm>
          <a:prstGeom prst="rect">
            <a:avLst/>
          </a:prstGeom>
          <a:solidFill>
            <a:srgbClr val="C9CFC0"/>
          </a:solidFill>
          <a:ln w="12700">
            <a:solidFill>
              <a:srgbClr val="C9CFC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937760" y="2148840"/>
            <a:ext cx="27432" cy="237744"/>
          </a:xfrm>
          <a:prstGeom prst="rect">
            <a:avLst/>
          </a:prstGeom>
          <a:solidFill>
            <a:srgbClr val="C9CFC0"/>
          </a:solidFill>
          <a:ln w="12700">
            <a:solidFill>
              <a:srgbClr val="C9CFC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166360" y="2148840"/>
            <a:ext cx="27432" cy="237744"/>
          </a:xfrm>
          <a:prstGeom prst="rect">
            <a:avLst/>
          </a:prstGeom>
          <a:solidFill>
            <a:srgbClr val="C9CFC0"/>
          </a:solidFill>
          <a:ln w="12700">
            <a:solidFill>
              <a:srgbClr val="C9CFC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394960" y="2148840"/>
            <a:ext cx="27432" cy="237744"/>
          </a:xfrm>
          <a:prstGeom prst="rect">
            <a:avLst/>
          </a:prstGeom>
          <a:solidFill>
            <a:srgbClr val="C9CFC0"/>
          </a:solidFill>
          <a:ln w="12700">
            <a:solidFill>
              <a:srgbClr val="C9CFC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623560" y="2148840"/>
            <a:ext cx="27432" cy="237744"/>
          </a:xfrm>
          <a:prstGeom prst="rect">
            <a:avLst/>
          </a:prstGeom>
          <a:solidFill>
            <a:srgbClr val="C9CFC0"/>
          </a:solidFill>
          <a:ln w="12700">
            <a:solidFill>
              <a:srgbClr val="C9CFC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852160" y="2148840"/>
            <a:ext cx="27432" cy="237744"/>
          </a:xfrm>
          <a:prstGeom prst="rect">
            <a:avLst/>
          </a:prstGeom>
          <a:solidFill>
            <a:srgbClr val="C9CFC0"/>
          </a:solidFill>
          <a:ln w="12700">
            <a:solidFill>
              <a:srgbClr val="C9CFC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80760" y="2148840"/>
            <a:ext cx="27432" cy="237744"/>
          </a:xfrm>
          <a:prstGeom prst="rect">
            <a:avLst/>
          </a:prstGeom>
          <a:solidFill>
            <a:srgbClr val="C9CFC0"/>
          </a:solidFill>
          <a:ln w="12700">
            <a:solidFill>
              <a:srgbClr val="C9CFC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09360" y="2148840"/>
            <a:ext cx="27432" cy="237744"/>
          </a:xfrm>
          <a:prstGeom prst="rect">
            <a:avLst/>
          </a:prstGeom>
          <a:solidFill>
            <a:srgbClr val="C9CFC0"/>
          </a:solidFill>
          <a:ln w="12700">
            <a:solidFill>
              <a:srgbClr val="C9CFC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949440" y="2183587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C9C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wakes up to 50 ms late</a:t>
            </a:r>
            <a:endParaRPr lang="en-US" sz="864" dirty="0"/>
          </a:p>
        </p:txBody>
      </p:sp>
      <p:sp>
        <p:nvSpPr>
          <p:cNvPr id="29" name="Text 26"/>
          <p:cNvSpPr txBox="1"/>
          <p:nvPr/>
        </p:nvSpPr>
        <p:spPr>
          <a:xfrm>
            <a:off x="502920" y="2761488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blocking wait</a:t>
            </a:r>
            <a:endParaRPr lang="en-US" sz="1080" dirty="0"/>
          </a:p>
        </p:txBody>
      </p:sp>
      <p:sp>
        <p:nvSpPr>
          <p:cNvPr id="30" name="Text 27"/>
          <p:cNvSpPr txBox="1"/>
          <p:nvPr/>
        </p:nvSpPr>
        <p:spPr>
          <a:xfrm>
            <a:off x="502920" y="2977744"/>
            <a:ext cx="2834640" cy="157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8" dirty="0">
                <a:solidFill>
                  <a:srgbClr val="9AA0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ready.Wait();</a:t>
            </a:r>
            <a:endParaRPr lang="en-US" sz="828" dirty="0"/>
          </a:p>
        </p:txBody>
      </p:sp>
      <p:sp>
        <p:nvSpPr>
          <p:cNvPr id="31" name="Shape 28"/>
          <p:cNvSpPr/>
          <p:nvPr/>
        </p:nvSpPr>
        <p:spPr>
          <a:xfrm>
            <a:off x="3474720" y="2779776"/>
            <a:ext cx="3072384" cy="347472"/>
          </a:xfrm>
          <a:prstGeom prst="roundRect">
            <a:avLst>
              <a:gd name="adj" fmla="val 13158"/>
            </a:avLst>
          </a:prstGeom>
          <a:solidFill>
            <a:srgbClr val="000000">
              <a:alpha val="0"/>
            </a:srgbClr>
          </a:solidFill>
          <a:ln w="9144">
            <a:solidFill>
              <a:srgbClr val="35E0C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493008" y="2879446"/>
            <a:ext cx="307238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2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asleep - the thread is held</a:t>
            </a:r>
            <a:endParaRPr lang="en-US" sz="792" dirty="0"/>
          </a:p>
        </p:txBody>
      </p:sp>
      <p:sp>
        <p:nvSpPr>
          <p:cNvPr id="33" name="Text 30"/>
          <p:cNvSpPr txBox="1"/>
          <p:nvPr/>
        </p:nvSpPr>
        <p:spPr>
          <a:xfrm>
            <a:off x="6949440" y="2869387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CPU - but holds a thread</a:t>
            </a:r>
            <a:endParaRPr lang="en-US" sz="864" dirty="0"/>
          </a:p>
        </p:txBody>
      </p:sp>
      <p:sp>
        <p:nvSpPr>
          <p:cNvPr id="39" name="Shape 36"/>
          <p:cNvSpPr/>
          <p:nvPr/>
        </p:nvSpPr>
        <p:spPr>
          <a:xfrm>
            <a:off x="6583680" y="1280161"/>
            <a:ext cx="0" cy="1855318"/>
          </a:xfrm>
          <a:prstGeom prst="line">
            <a:avLst/>
          </a:prstGeom>
          <a:noFill/>
          <a:ln w="18288">
            <a:solidFill>
              <a:srgbClr val="D9F201"/>
            </a:solidFill>
            <a:prstDash val="dash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366760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499348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31936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366760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99348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31936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66760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99348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31936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" y="47594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Programming · Lecture 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45720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VOLATILE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72237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volatile does, and does not</a:t>
            </a:r>
            <a:endParaRPr lang="en-US" sz="3200" dirty="0"/>
          </a:p>
        </p:txBody>
      </p:sp>
      <p:sp>
        <p:nvSpPr>
          <p:cNvPr id="15" name="Shape 12"/>
          <p:cNvSpPr/>
          <p:nvPr/>
        </p:nvSpPr>
        <p:spPr>
          <a:xfrm>
            <a:off x="566928" y="1463040"/>
            <a:ext cx="3931920" cy="2377440"/>
          </a:xfrm>
          <a:prstGeom prst="roundRect">
            <a:avLst>
              <a:gd name="adj" fmla="val 1923"/>
            </a:avLst>
          </a:prstGeom>
          <a:solidFill>
            <a:srgbClr val="141613"/>
          </a:solidFill>
          <a:ln w="19050">
            <a:solidFill>
              <a:srgbClr val="D9F20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16642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2011680"/>
            <a:ext cx="341985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85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every read really read the field, no caching.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663440" y="1463040"/>
            <a:ext cx="3913632" cy="2377440"/>
          </a:xfrm>
          <a:prstGeom prst="roundRect">
            <a:avLst>
              <a:gd name="adj" fmla="val 1923"/>
            </a:avLst>
          </a:prstGeom>
          <a:solidFill>
            <a:srgbClr val="141613"/>
          </a:solidFill>
          <a:ln w="19050">
            <a:solidFill>
              <a:srgbClr val="FF5A5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919472" y="16642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NOT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919472" y="2011680"/>
            <a:ext cx="340156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85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counter++ atomic: read, add, write are still three steps. Make waiting cheap: a busy wait on a volatile flag still burns a core.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 rot="2700000">
            <a:off x="-13716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2700000">
            <a:off x="-6858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rot="2700000">
            <a:off x="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rot="2700000">
            <a:off x="6858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rot="2700000">
            <a:off x="13716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rot="2700000">
            <a:off x="20574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2700000">
            <a:off x="27432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rot="2700000">
            <a:off x="34290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2700000">
            <a:off x="41148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2700000">
            <a:off x="48006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2700000">
            <a:off x="54864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2700000">
            <a:off x="61722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2700000">
            <a:off x="685800" y="-91440"/>
            <a:ext cx="2377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-1463040" y="3200400"/>
            <a:ext cx="3291840" cy="329184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-1051560" y="3611880"/>
            <a:ext cx="2468880" cy="246888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-640080" y="4023360"/>
            <a:ext cx="1645920" cy="164592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5E635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-228600" y="4434840"/>
            <a:ext cx="822960" cy="82296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21040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453628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586216" y="502920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453628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586216" y="635508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321040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453628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586216" y="768096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321040" y="900684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453628" y="900684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586216" y="900684"/>
            <a:ext cx="50292" cy="50292"/>
          </a:xfrm>
          <a:prstGeom prst="ellips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rot="10800000">
            <a:off x="8275320" y="4297680"/>
            <a:ext cx="365760" cy="365760"/>
          </a:xfrm>
          <a:prstGeom prst="triangle">
            <a:avLst/>
          </a:prstGeom>
          <a:solidFill>
            <a:srgbClr val="D9F201"/>
          </a:solidFill>
          <a:ln w="12700">
            <a:solidFill>
              <a:srgbClr val="D9F20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0" y="18745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your attention</a:t>
            </a:r>
            <a:endParaRPr lang="en-US" sz="4600" dirty="0"/>
          </a:p>
        </p:txBody>
      </p:sp>
      <p:sp>
        <p:nvSpPr>
          <p:cNvPr id="34" name="Text 31"/>
          <p:cNvSpPr txBox="1"/>
          <p:nvPr/>
        </p:nvSpPr>
        <p:spPr>
          <a:xfrm>
            <a:off x="0" y="281635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D9F2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2379</Words>
  <Application>Microsoft Macintosh PowerPoint</Application>
  <PresentationFormat>On-screen Show (16:9)</PresentationFormat>
  <Paragraphs>242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Async, queues and cancellation</dc:title>
  <dc:subject>PptxGenJS Presentation</dc:subject>
  <dc:creator>UTM — Network Programming</dc:creator>
  <cp:lastModifiedBy>Ernest Bitca</cp:lastModifiedBy>
  <cp:revision>12</cp:revision>
  <dcterms:created xsi:type="dcterms:W3CDTF">2026-09-30T10:39:36Z</dcterms:created>
  <dcterms:modified xsi:type="dcterms:W3CDTF">2026-10-13T15:01:29Z</dcterms:modified>
</cp:coreProperties>
</file>